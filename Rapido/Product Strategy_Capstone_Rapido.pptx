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6858000" cx="12192000"/>
  <p:notesSz cx="6858000" cy="9144000"/>
  <p:embeddedFontLst>
    <p:embeddedFont>
      <p:font typeface="Geo"/>
      <p:regular r:id="rId54"/>
      <p:italic r:id="rId55"/>
    </p:embeddedFont>
    <p:embeddedFont>
      <p:font typeface="ADLaM Display"/>
      <p:regular r:id="rId56"/>
    </p:embeddedFont>
    <p:embeddedFont>
      <p:font typeface="Inter"/>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jP7WJYs7r8PSR7wOEk28143WHJ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3E3090-88B2-4E8C-A6E2-E0969ED46B26}">
  <a:tblStyle styleId="{E73E3090-88B2-4E8C-A6E2-E0969ED46B26}" styleName="Table_0">
    <a:wholeTbl>
      <a:tcTxStyle b="off" i="off">
        <a:font>
          <a:latin typeface="Georgia Pro Light"/>
          <a:ea typeface="Georgia Pro Light"/>
          <a:cs typeface="Georgia Pro Light"/>
        </a:font>
        <a:schemeClr val="dk1"/>
      </a:tcTxStyle>
      <a:tcStyle>
        <a:tcBdr>
          <a:left>
            <a:ln cap="flat" cmpd="sng" w="9525">
              <a:solidFill>
                <a:schemeClr val="dk1"/>
              </a:solidFill>
              <a:prstDash val="solid"/>
              <a:round/>
              <a:headEnd len="sm" w="sm" type="none"/>
              <a:tailEnd len="sm" w="sm" type="none"/>
            </a:ln>
          </a:left>
          <a:right>
            <a:ln cap="flat" cmpd="sng" w="9525">
              <a:solidFill>
                <a:schemeClr val="dk1"/>
              </a:solidFill>
              <a:prstDash val="solid"/>
              <a:round/>
              <a:headEnd len="sm" w="sm" type="none"/>
              <a:tailEnd len="sm" w="sm" type="none"/>
            </a:ln>
          </a:right>
          <a:top>
            <a:ln cap="flat" cmpd="sng" w="9525">
              <a:solidFill>
                <a:schemeClr val="dk1"/>
              </a:solidFill>
              <a:prstDash val="solid"/>
              <a:round/>
              <a:headEnd len="sm" w="sm" type="none"/>
              <a:tailEnd len="sm" w="sm" type="none"/>
            </a:ln>
          </a:top>
          <a:bottom>
            <a:ln cap="flat" cmpd="sng" w="9525">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dk1"/>
              </a:solidFill>
              <a:prstDash val="solid"/>
              <a:round/>
              <a:headEnd len="sm" w="sm" type="none"/>
              <a:tailEnd len="sm" w="sm" type="none"/>
            </a:ln>
          </a:top>
          <a:bottom>
            <a:ln cap="flat" cmpd="sng" w="9525">
              <a:solidFill>
                <a:schemeClr val="dk1"/>
              </a:solidFill>
              <a:prstDash val="solid"/>
              <a:round/>
              <a:headEnd len="sm" w="sm" type="none"/>
              <a:tailEnd len="sm" w="sm" type="none"/>
            </a:ln>
          </a:bottom>
        </a:tcBdr>
      </a:tcStyle>
    </a:band1H>
    <a:band2H>
      <a:tcTxStyle/>
    </a:band2H>
    <a:band1V>
      <a:tcTxStyle/>
      <a:tcStyle>
        <a:tcBdr>
          <a:left>
            <a:ln cap="flat" cmpd="sng" w="9525">
              <a:solidFill>
                <a:schemeClr val="dk1"/>
              </a:solidFill>
              <a:prstDash val="solid"/>
              <a:round/>
              <a:headEnd len="sm" w="sm" type="none"/>
              <a:tailEnd len="sm" w="sm" type="none"/>
            </a:ln>
          </a:left>
          <a:right>
            <a:ln cap="flat" cmpd="sng" w="9525">
              <a:solidFill>
                <a:schemeClr val="dk1"/>
              </a:solidFill>
              <a:prstDash val="solid"/>
              <a:round/>
              <a:headEnd len="sm" w="sm" type="none"/>
              <a:tailEnd len="sm" w="sm" type="none"/>
            </a:ln>
          </a:right>
        </a:tcBdr>
      </a:tcStyle>
    </a:band1V>
    <a:band2V>
      <a:tcTxStyle/>
      <a:tcStyle>
        <a:tcBdr>
          <a:left>
            <a:ln cap="flat" cmpd="sng" w="9525">
              <a:solidFill>
                <a:schemeClr val="dk1"/>
              </a:solidFill>
              <a:prstDash val="solid"/>
              <a:round/>
              <a:headEnd len="sm" w="sm" type="none"/>
              <a:tailEnd len="sm" w="sm" type="none"/>
            </a:ln>
          </a:left>
          <a:right>
            <a:ln cap="flat" cmpd="sng" w="9525">
              <a:solidFill>
                <a:schemeClr val="dk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tcStyle>
    </a:lastRow>
    <a:seCell>
      <a:tcTxStyle/>
    </a:seCell>
    <a:swCell>
      <a:tcTxStyle/>
    </a:swCell>
    <a:firstRow>
      <a:tcTxStyle b="on" i="off">
        <a:font>
          <a:latin typeface="Georgia Pro Light"/>
          <a:ea typeface="Georgia Pro Light"/>
          <a:cs typeface="Georgia Pro Light"/>
        </a:font>
        <a:schemeClr val="lt1"/>
      </a:tcTxStyle>
      <a:tcStyle>
        <a:fill>
          <a:solidFill>
            <a:schemeClr val="dk1"/>
          </a:solidFill>
        </a:fill>
      </a:tcStyle>
    </a:firstRow>
    <a:neCell>
      <a:tcTxStyle/>
    </a:neCell>
    <a:nwCell>
      <a:tcTxStyle/>
    </a:nwCell>
  </a:tblStyle>
  <a:tblStyle styleId="{D13937C5-D8A4-43A5-8F7F-F006483B437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Inter-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Geo-italic.fntdata"/><Relationship Id="rId10" Type="http://schemas.openxmlformats.org/officeDocument/2006/relationships/slide" Target="slides/slide4.xml"/><Relationship Id="rId54" Type="http://schemas.openxmlformats.org/officeDocument/2006/relationships/font" Target="fonts/Geo-regular.fntdata"/><Relationship Id="rId13" Type="http://schemas.openxmlformats.org/officeDocument/2006/relationships/slide" Target="slides/slide7.xml"/><Relationship Id="rId57" Type="http://schemas.openxmlformats.org/officeDocument/2006/relationships/font" Target="fonts/Inter-regular.fntdata"/><Relationship Id="rId12" Type="http://schemas.openxmlformats.org/officeDocument/2006/relationships/slide" Target="slides/slide6.xml"/><Relationship Id="rId56" Type="http://schemas.openxmlformats.org/officeDocument/2006/relationships/font" Target="fonts/ADLaMDisplay-regular.fntdata"/><Relationship Id="rId15" Type="http://schemas.openxmlformats.org/officeDocument/2006/relationships/slide" Target="slides/slide9.xml"/><Relationship Id="rId59" Type="http://schemas.openxmlformats.org/officeDocument/2006/relationships/font" Target="fonts/Inter-italic.fntdata"/><Relationship Id="rId14" Type="http://schemas.openxmlformats.org/officeDocument/2006/relationships/slide" Target="slides/slide8.xml"/><Relationship Id="rId58" Type="http://schemas.openxmlformats.org/officeDocument/2006/relationships/font" Target="fonts/Inter-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Copyright </a:t>
            </a:r>
            <a:r>
              <a:rPr b="1" lang="en-US"/>
              <a:t>PresentationGO.com</a:t>
            </a:r>
            <a:r>
              <a:rPr lang="en-US"/>
              <a:t> – The free PowerPoint and Google Slides template library</a:t>
            </a:r>
            <a:endParaRPr/>
          </a:p>
        </p:txBody>
      </p:sp>
      <p:sp>
        <p:nvSpPr>
          <p:cNvPr id="303" name="Google Shape;30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DLaM Dis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DLaM Dis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9" name="Google Shape;39;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DLaM Dis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DLaM Dis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9"/>
          <p:cNvSpPr/>
          <p:nvPr>
            <p:ph idx="2" type="pic"/>
          </p:nvPr>
        </p:nvSpPr>
        <p:spPr>
          <a:xfrm>
            <a:off x="5183188" y="987425"/>
            <a:ext cx="6172200" cy="4873625"/>
          </a:xfrm>
          <a:prstGeom prst="rect">
            <a:avLst/>
          </a:prstGeom>
          <a:noFill/>
          <a:ln>
            <a:noFill/>
          </a:ln>
        </p:spPr>
      </p:sp>
      <p:sp>
        <p:nvSpPr>
          <p:cNvPr id="68" name="Google Shape;68;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DLaM Display"/>
              <a:buNone/>
              <a:defRPr b="0" i="0" sz="4400" u="none" cap="none" strike="noStrike">
                <a:solidFill>
                  <a:schemeClr val="dk1"/>
                </a:solidFill>
                <a:latin typeface="ADLaM Display"/>
                <a:ea typeface="ADLaM Display"/>
                <a:cs typeface="ADLaM Display"/>
                <a:sym typeface="ADLaM Dis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Geo"/>
                <a:ea typeface="Geo"/>
                <a:cs typeface="Geo"/>
                <a:sym typeface="Ge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Geo"/>
                <a:ea typeface="Geo"/>
                <a:cs typeface="Geo"/>
                <a:sym typeface="Ge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Geo"/>
                <a:ea typeface="Geo"/>
                <a:cs typeface="Geo"/>
                <a:sym typeface="Ge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
                <a:ea typeface="Geo"/>
                <a:cs typeface="Geo"/>
                <a:sym typeface="Ge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
                <a:ea typeface="Geo"/>
                <a:cs typeface="Geo"/>
                <a:sym typeface="Ge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
                <a:ea typeface="Geo"/>
                <a:cs typeface="Geo"/>
                <a:sym typeface="Geo"/>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
                <a:ea typeface="Geo"/>
                <a:cs typeface="Geo"/>
                <a:sym typeface="Geo"/>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
                <a:ea typeface="Geo"/>
                <a:cs typeface="Geo"/>
                <a:sym typeface="Geo"/>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
                <a:ea typeface="Geo"/>
                <a:cs typeface="Geo"/>
                <a:sym typeface="Geo"/>
              </a:defRPr>
            </a:lvl9pPr>
          </a:lstStyle>
          <a:p/>
        </p:txBody>
      </p:sp>
      <p:sp>
        <p:nvSpPr>
          <p:cNvPr id="12" name="Google Shape;12;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Geo"/>
                <a:ea typeface="Geo"/>
                <a:cs typeface="Geo"/>
                <a:sym typeface="Geo"/>
              </a:defRPr>
            </a:lvl1pPr>
            <a:lvl2pPr lvl="1" marR="0" rtl="0" algn="l">
              <a:spcBef>
                <a:spcPts val="0"/>
              </a:spcBef>
              <a:spcAft>
                <a:spcPts val="0"/>
              </a:spcAft>
              <a:buSzPts val="1400"/>
              <a:buNone/>
              <a:defRPr b="0" i="0" sz="1800" u="none" cap="none" strike="noStrike">
                <a:solidFill>
                  <a:schemeClr val="dk1"/>
                </a:solidFill>
                <a:latin typeface="Geo"/>
                <a:ea typeface="Geo"/>
                <a:cs typeface="Geo"/>
                <a:sym typeface="Geo"/>
              </a:defRPr>
            </a:lvl2pPr>
            <a:lvl3pPr lvl="2" marR="0" rtl="0" algn="l">
              <a:spcBef>
                <a:spcPts val="0"/>
              </a:spcBef>
              <a:spcAft>
                <a:spcPts val="0"/>
              </a:spcAft>
              <a:buSzPts val="1400"/>
              <a:buNone/>
              <a:defRPr b="0" i="0" sz="1800" u="none" cap="none" strike="noStrike">
                <a:solidFill>
                  <a:schemeClr val="dk1"/>
                </a:solidFill>
                <a:latin typeface="Geo"/>
                <a:ea typeface="Geo"/>
                <a:cs typeface="Geo"/>
                <a:sym typeface="Geo"/>
              </a:defRPr>
            </a:lvl3pPr>
            <a:lvl4pPr lvl="3" marR="0" rtl="0" algn="l">
              <a:spcBef>
                <a:spcPts val="0"/>
              </a:spcBef>
              <a:spcAft>
                <a:spcPts val="0"/>
              </a:spcAft>
              <a:buSzPts val="1400"/>
              <a:buNone/>
              <a:defRPr b="0" i="0" sz="1800" u="none" cap="none" strike="noStrike">
                <a:solidFill>
                  <a:schemeClr val="dk1"/>
                </a:solidFill>
                <a:latin typeface="Geo"/>
                <a:ea typeface="Geo"/>
                <a:cs typeface="Geo"/>
                <a:sym typeface="Geo"/>
              </a:defRPr>
            </a:lvl4pPr>
            <a:lvl5pPr lvl="4" marR="0" rtl="0" algn="l">
              <a:spcBef>
                <a:spcPts val="0"/>
              </a:spcBef>
              <a:spcAft>
                <a:spcPts val="0"/>
              </a:spcAft>
              <a:buSzPts val="1400"/>
              <a:buNone/>
              <a:defRPr b="0" i="0" sz="1800" u="none" cap="none" strike="noStrike">
                <a:solidFill>
                  <a:schemeClr val="dk1"/>
                </a:solidFill>
                <a:latin typeface="Geo"/>
                <a:ea typeface="Geo"/>
                <a:cs typeface="Geo"/>
                <a:sym typeface="Geo"/>
              </a:defRPr>
            </a:lvl5pPr>
            <a:lvl6pPr lvl="5" marR="0" rtl="0" algn="l">
              <a:spcBef>
                <a:spcPts val="0"/>
              </a:spcBef>
              <a:spcAft>
                <a:spcPts val="0"/>
              </a:spcAft>
              <a:buSzPts val="1400"/>
              <a:buNone/>
              <a:defRPr b="0" i="0" sz="1800" u="none" cap="none" strike="noStrike">
                <a:solidFill>
                  <a:schemeClr val="dk1"/>
                </a:solidFill>
                <a:latin typeface="Geo"/>
                <a:ea typeface="Geo"/>
                <a:cs typeface="Geo"/>
                <a:sym typeface="Geo"/>
              </a:defRPr>
            </a:lvl6pPr>
            <a:lvl7pPr lvl="6" marR="0" rtl="0" algn="l">
              <a:spcBef>
                <a:spcPts val="0"/>
              </a:spcBef>
              <a:spcAft>
                <a:spcPts val="0"/>
              </a:spcAft>
              <a:buSzPts val="1400"/>
              <a:buNone/>
              <a:defRPr b="0" i="0" sz="1800" u="none" cap="none" strike="noStrike">
                <a:solidFill>
                  <a:schemeClr val="dk1"/>
                </a:solidFill>
                <a:latin typeface="Geo"/>
                <a:ea typeface="Geo"/>
                <a:cs typeface="Geo"/>
                <a:sym typeface="Geo"/>
              </a:defRPr>
            </a:lvl7pPr>
            <a:lvl8pPr lvl="7" marR="0" rtl="0" algn="l">
              <a:spcBef>
                <a:spcPts val="0"/>
              </a:spcBef>
              <a:spcAft>
                <a:spcPts val="0"/>
              </a:spcAft>
              <a:buSzPts val="1400"/>
              <a:buNone/>
              <a:defRPr b="0" i="0" sz="1800" u="none" cap="none" strike="noStrike">
                <a:solidFill>
                  <a:schemeClr val="dk1"/>
                </a:solidFill>
                <a:latin typeface="Geo"/>
                <a:ea typeface="Geo"/>
                <a:cs typeface="Geo"/>
                <a:sym typeface="Geo"/>
              </a:defRPr>
            </a:lvl8pPr>
            <a:lvl9pPr lvl="8" marR="0" rtl="0" algn="l">
              <a:spcBef>
                <a:spcPts val="0"/>
              </a:spcBef>
              <a:spcAft>
                <a:spcPts val="0"/>
              </a:spcAft>
              <a:buSzPts val="1400"/>
              <a:buNone/>
              <a:defRPr b="0" i="0" sz="1800" u="none" cap="none" strike="noStrike">
                <a:solidFill>
                  <a:schemeClr val="dk1"/>
                </a:solidFill>
                <a:latin typeface="Geo"/>
                <a:ea typeface="Geo"/>
                <a:cs typeface="Geo"/>
                <a:sym typeface="Geo"/>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Geo"/>
                <a:ea typeface="Geo"/>
                <a:cs typeface="Geo"/>
                <a:sym typeface="Geo"/>
              </a:defRPr>
            </a:lvl1pPr>
            <a:lvl2pPr lvl="1" marR="0" rtl="0" algn="l">
              <a:spcBef>
                <a:spcPts val="0"/>
              </a:spcBef>
              <a:spcAft>
                <a:spcPts val="0"/>
              </a:spcAft>
              <a:buSzPts val="1400"/>
              <a:buNone/>
              <a:defRPr b="0" i="0" sz="1800" u="none" cap="none" strike="noStrike">
                <a:solidFill>
                  <a:schemeClr val="dk1"/>
                </a:solidFill>
                <a:latin typeface="Geo"/>
                <a:ea typeface="Geo"/>
                <a:cs typeface="Geo"/>
                <a:sym typeface="Geo"/>
              </a:defRPr>
            </a:lvl2pPr>
            <a:lvl3pPr lvl="2" marR="0" rtl="0" algn="l">
              <a:spcBef>
                <a:spcPts val="0"/>
              </a:spcBef>
              <a:spcAft>
                <a:spcPts val="0"/>
              </a:spcAft>
              <a:buSzPts val="1400"/>
              <a:buNone/>
              <a:defRPr b="0" i="0" sz="1800" u="none" cap="none" strike="noStrike">
                <a:solidFill>
                  <a:schemeClr val="dk1"/>
                </a:solidFill>
                <a:latin typeface="Geo"/>
                <a:ea typeface="Geo"/>
                <a:cs typeface="Geo"/>
                <a:sym typeface="Geo"/>
              </a:defRPr>
            </a:lvl3pPr>
            <a:lvl4pPr lvl="3" marR="0" rtl="0" algn="l">
              <a:spcBef>
                <a:spcPts val="0"/>
              </a:spcBef>
              <a:spcAft>
                <a:spcPts val="0"/>
              </a:spcAft>
              <a:buSzPts val="1400"/>
              <a:buNone/>
              <a:defRPr b="0" i="0" sz="1800" u="none" cap="none" strike="noStrike">
                <a:solidFill>
                  <a:schemeClr val="dk1"/>
                </a:solidFill>
                <a:latin typeface="Geo"/>
                <a:ea typeface="Geo"/>
                <a:cs typeface="Geo"/>
                <a:sym typeface="Geo"/>
              </a:defRPr>
            </a:lvl4pPr>
            <a:lvl5pPr lvl="4" marR="0" rtl="0" algn="l">
              <a:spcBef>
                <a:spcPts val="0"/>
              </a:spcBef>
              <a:spcAft>
                <a:spcPts val="0"/>
              </a:spcAft>
              <a:buSzPts val="1400"/>
              <a:buNone/>
              <a:defRPr b="0" i="0" sz="1800" u="none" cap="none" strike="noStrike">
                <a:solidFill>
                  <a:schemeClr val="dk1"/>
                </a:solidFill>
                <a:latin typeface="Geo"/>
                <a:ea typeface="Geo"/>
                <a:cs typeface="Geo"/>
                <a:sym typeface="Geo"/>
              </a:defRPr>
            </a:lvl5pPr>
            <a:lvl6pPr lvl="5" marR="0" rtl="0" algn="l">
              <a:spcBef>
                <a:spcPts val="0"/>
              </a:spcBef>
              <a:spcAft>
                <a:spcPts val="0"/>
              </a:spcAft>
              <a:buSzPts val="1400"/>
              <a:buNone/>
              <a:defRPr b="0" i="0" sz="1800" u="none" cap="none" strike="noStrike">
                <a:solidFill>
                  <a:schemeClr val="dk1"/>
                </a:solidFill>
                <a:latin typeface="Geo"/>
                <a:ea typeface="Geo"/>
                <a:cs typeface="Geo"/>
                <a:sym typeface="Geo"/>
              </a:defRPr>
            </a:lvl6pPr>
            <a:lvl7pPr lvl="6" marR="0" rtl="0" algn="l">
              <a:spcBef>
                <a:spcPts val="0"/>
              </a:spcBef>
              <a:spcAft>
                <a:spcPts val="0"/>
              </a:spcAft>
              <a:buSzPts val="1400"/>
              <a:buNone/>
              <a:defRPr b="0" i="0" sz="1800" u="none" cap="none" strike="noStrike">
                <a:solidFill>
                  <a:schemeClr val="dk1"/>
                </a:solidFill>
                <a:latin typeface="Geo"/>
                <a:ea typeface="Geo"/>
                <a:cs typeface="Geo"/>
                <a:sym typeface="Geo"/>
              </a:defRPr>
            </a:lvl7pPr>
            <a:lvl8pPr lvl="7" marR="0" rtl="0" algn="l">
              <a:spcBef>
                <a:spcPts val="0"/>
              </a:spcBef>
              <a:spcAft>
                <a:spcPts val="0"/>
              </a:spcAft>
              <a:buSzPts val="1400"/>
              <a:buNone/>
              <a:defRPr b="0" i="0" sz="1800" u="none" cap="none" strike="noStrike">
                <a:solidFill>
                  <a:schemeClr val="dk1"/>
                </a:solidFill>
                <a:latin typeface="Geo"/>
                <a:ea typeface="Geo"/>
                <a:cs typeface="Geo"/>
                <a:sym typeface="Geo"/>
              </a:defRPr>
            </a:lvl8pPr>
            <a:lvl9pPr lvl="8" marR="0" rtl="0" algn="l">
              <a:spcBef>
                <a:spcPts val="0"/>
              </a:spcBef>
              <a:spcAft>
                <a:spcPts val="0"/>
              </a:spcAft>
              <a:buSzPts val="1400"/>
              <a:buNone/>
              <a:defRPr b="0" i="0" sz="1800" u="none" cap="none" strike="noStrike">
                <a:solidFill>
                  <a:schemeClr val="dk1"/>
                </a:solidFill>
                <a:latin typeface="Geo"/>
                <a:ea typeface="Geo"/>
                <a:cs typeface="Geo"/>
                <a:sym typeface="Geo"/>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Geo"/>
                <a:ea typeface="Geo"/>
                <a:cs typeface="Geo"/>
                <a:sym typeface="Geo"/>
              </a:defRPr>
            </a:lvl1pPr>
            <a:lvl2pPr indent="0" lvl="1" marL="0" marR="0" rtl="0" algn="r">
              <a:spcBef>
                <a:spcPts val="0"/>
              </a:spcBef>
              <a:buNone/>
              <a:defRPr b="0" i="0" sz="1200" u="none" cap="none" strike="noStrike">
                <a:solidFill>
                  <a:srgbClr val="757575"/>
                </a:solidFill>
                <a:latin typeface="Geo"/>
                <a:ea typeface="Geo"/>
                <a:cs typeface="Geo"/>
                <a:sym typeface="Geo"/>
              </a:defRPr>
            </a:lvl2pPr>
            <a:lvl3pPr indent="0" lvl="2" marL="0" marR="0" rtl="0" algn="r">
              <a:spcBef>
                <a:spcPts val="0"/>
              </a:spcBef>
              <a:buNone/>
              <a:defRPr b="0" i="0" sz="1200" u="none" cap="none" strike="noStrike">
                <a:solidFill>
                  <a:srgbClr val="757575"/>
                </a:solidFill>
                <a:latin typeface="Geo"/>
                <a:ea typeface="Geo"/>
                <a:cs typeface="Geo"/>
                <a:sym typeface="Geo"/>
              </a:defRPr>
            </a:lvl3pPr>
            <a:lvl4pPr indent="0" lvl="3" marL="0" marR="0" rtl="0" algn="r">
              <a:spcBef>
                <a:spcPts val="0"/>
              </a:spcBef>
              <a:buNone/>
              <a:defRPr b="0" i="0" sz="1200" u="none" cap="none" strike="noStrike">
                <a:solidFill>
                  <a:srgbClr val="757575"/>
                </a:solidFill>
                <a:latin typeface="Geo"/>
                <a:ea typeface="Geo"/>
                <a:cs typeface="Geo"/>
                <a:sym typeface="Geo"/>
              </a:defRPr>
            </a:lvl4pPr>
            <a:lvl5pPr indent="0" lvl="4" marL="0" marR="0" rtl="0" algn="r">
              <a:spcBef>
                <a:spcPts val="0"/>
              </a:spcBef>
              <a:buNone/>
              <a:defRPr b="0" i="0" sz="1200" u="none" cap="none" strike="noStrike">
                <a:solidFill>
                  <a:srgbClr val="757575"/>
                </a:solidFill>
                <a:latin typeface="Geo"/>
                <a:ea typeface="Geo"/>
                <a:cs typeface="Geo"/>
                <a:sym typeface="Geo"/>
              </a:defRPr>
            </a:lvl5pPr>
            <a:lvl6pPr indent="0" lvl="5" marL="0" marR="0" rtl="0" algn="r">
              <a:spcBef>
                <a:spcPts val="0"/>
              </a:spcBef>
              <a:buNone/>
              <a:defRPr b="0" i="0" sz="1200" u="none" cap="none" strike="noStrike">
                <a:solidFill>
                  <a:srgbClr val="757575"/>
                </a:solidFill>
                <a:latin typeface="Geo"/>
                <a:ea typeface="Geo"/>
                <a:cs typeface="Geo"/>
                <a:sym typeface="Geo"/>
              </a:defRPr>
            </a:lvl6pPr>
            <a:lvl7pPr indent="0" lvl="6" marL="0" marR="0" rtl="0" algn="r">
              <a:spcBef>
                <a:spcPts val="0"/>
              </a:spcBef>
              <a:buNone/>
              <a:defRPr b="0" i="0" sz="1200" u="none" cap="none" strike="noStrike">
                <a:solidFill>
                  <a:srgbClr val="757575"/>
                </a:solidFill>
                <a:latin typeface="Geo"/>
                <a:ea typeface="Geo"/>
                <a:cs typeface="Geo"/>
                <a:sym typeface="Geo"/>
              </a:defRPr>
            </a:lvl7pPr>
            <a:lvl8pPr indent="0" lvl="7" marL="0" marR="0" rtl="0" algn="r">
              <a:spcBef>
                <a:spcPts val="0"/>
              </a:spcBef>
              <a:buNone/>
              <a:defRPr b="0" i="0" sz="1200" u="none" cap="none" strike="noStrike">
                <a:solidFill>
                  <a:srgbClr val="757575"/>
                </a:solidFill>
                <a:latin typeface="Geo"/>
                <a:ea typeface="Geo"/>
                <a:cs typeface="Geo"/>
                <a:sym typeface="Geo"/>
              </a:defRPr>
            </a:lvl8pPr>
            <a:lvl9pPr indent="0" lvl="8" marL="0" marR="0" rtl="0" algn="r">
              <a:spcBef>
                <a:spcPts val="0"/>
              </a:spcBef>
              <a:buNone/>
              <a:defRPr b="0" i="0" sz="1200" u="none" cap="none" strike="noStrike">
                <a:solidFill>
                  <a:srgbClr val="757575"/>
                </a:solidFill>
                <a:latin typeface="Geo"/>
                <a:ea typeface="Geo"/>
                <a:cs typeface="Geo"/>
                <a:sym typeface="Ge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ADLaM Display"/>
              <a:buNone/>
              <a:defRPr b="0" i="0" sz="4400" u="none" cap="none" strike="noStrike">
                <a:solidFill>
                  <a:schemeClr val="lt1"/>
                </a:solidFill>
                <a:latin typeface="ADLaM Display"/>
                <a:ea typeface="ADLaM Display"/>
                <a:cs typeface="ADLaM Display"/>
                <a:sym typeface="ADLaM Dis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Geo"/>
                <a:ea typeface="Geo"/>
                <a:cs typeface="Geo"/>
                <a:sym typeface="Geo"/>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Geo"/>
                <a:ea typeface="Geo"/>
                <a:cs typeface="Geo"/>
                <a:sym typeface="Geo"/>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Geo"/>
                <a:ea typeface="Geo"/>
                <a:cs typeface="Geo"/>
                <a:sym typeface="Geo"/>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eo"/>
                <a:ea typeface="Geo"/>
                <a:cs typeface="Geo"/>
                <a:sym typeface="Geo"/>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eo"/>
                <a:ea typeface="Geo"/>
                <a:cs typeface="Geo"/>
                <a:sym typeface="Geo"/>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eo"/>
                <a:ea typeface="Geo"/>
                <a:cs typeface="Geo"/>
                <a:sym typeface="Geo"/>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eo"/>
                <a:ea typeface="Geo"/>
                <a:cs typeface="Geo"/>
                <a:sym typeface="Geo"/>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eo"/>
                <a:ea typeface="Geo"/>
                <a:cs typeface="Geo"/>
                <a:sym typeface="Geo"/>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eo"/>
                <a:ea typeface="Geo"/>
                <a:cs typeface="Geo"/>
                <a:sym typeface="Geo"/>
              </a:defRPr>
            </a:lvl9pPr>
          </a:lstStyle>
          <a:p/>
        </p:txBody>
      </p:sp>
      <p:sp>
        <p:nvSpPr>
          <p:cNvPr id="87" name="Google Shape;87;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Geo"/>
                <a:ea typeface="Geo"/>
                <a:cs typeface="Geo"/>
                <a:sym typeface="Geo"/>
              </a:defRPr>
            </a:lvl1pPr>
            <a:lvl2pPr lvl="1" marR="0" rtl="0" algn="l">
              <a:spcBef>
                <a:spcPts val="0"/>
              </a:spcBef>
              <a:spcAft>
                <a:spcPts val="0"/>
              </a:spcAft>
              <a:buSzPts val="1400"/>
              <a:buNone/>
              <a:defRPr b="0" i="0" sz="1800" u="none" cap="none" strike="noStrike">
                <a:solidFill>
                  <a:schemeClr val="lt1"/>
                </a:solidFill>
                <a:latin typeface="Geo"/>
                <a:ea typeface="Geo"/>
                <a:cs typeface="Geo"/>
                <a:sym typeface="Geo"/>
              </a:defRPr>
            </a:lvl2pPr>
            <a:lvl3pPr lvl="2" marR="0" rtl="0" algn="l">
              <a:spcBef>
                <a:spcPts val="0"/>
              </a:spcBef>
              <a:spcAft>
                <a:spcPts val="0"/>
              </a:spcAft>
              <a:buSzPts val="1400"/>
              <a:buNone/>
              <a:defRPr b="0" i="0" sz="1800" u="none" cap="none" strike="noStrike">
                <a:solidFill>
                  <a:schemeClr val="lt1"/>
                </a:solidFill>
                <a:latin typeface="Geo"/>
                <a:ea typeface="Geo"/>
                <a:cs typeface="Geo"/>
                <a:sym typeface="Geo"/>
              </a:defRPr>
            </a:lvl3pPr>
            <a:lvl4pPr lvl="3" marR="0" rtl="0" algn="l">
              <a:spcBef>
                <a:spcPts val="0"/>
              </a:spcBef>
              <a:spcAft>
                <a:spcPts val="0"/>
              </a:spcAft>
              <a:buSzPts val="1400"/>
              <a:buNone/>
              <a:defRPr b="0" i="0" sz="1800" u="none" cap="none" strike="noStrike">
                <a:solidFill>
                  <a:schemeClr val="lt1"/>
                </a:solidFill>
                <a:latin typeface="Geo"/>
                <a:ea typeface="Geo"/>
                <a:cs typeface="Geo"/>
                <a:sym typeface="Geo"/>
              </a:defRPr>
            </a:lvl4pPr>
            <a:lvl5pPr lvl="4" marR="0" rtl="0" algn="l">
              <a:spcBef>
                <a:spcPts val="0"/>
              </a:spcBef>
              <a:spcAft>
                <a:spcPts val="0"/>
              </a:spcAft>
              <a:buSzPts val="1400"/>
              <a:buNone/>
              <a:defRPr b="0" i="0" sz="1800" u="none" cap="none" strike="noStrike">
                <a:solidFill>
                  <a:schemeClr val="lt1"/>
                </a:solidFill>
                <a:latin typeface="Geo"/>
                <a:ea typeface="Geo"/>
                <a:cs typeface="Geo"/>
                <a:sym typeface="Geo"/>
              </a:defRPr>
            </a:lvl5pPr>
            <a:lvl6pPr lvl="5" marR="0" rtl="0" algn="l">
              <a:spcBef>
                <a:spcPts val="0"/>
              </a:spcBef>
              <a:spcAft>
                <a:spcPts val="0"/>
              </a:spcAft>
              <a:buSzPts val="1400"/>
              <a:buNone/>
              <a:defRPr b="0" i="0" sz="1800" u="none" cap="none" strike="noStrike">
                <a:solidFill>
                  <a:schemeClr val="lt1"/>
                </a:solidFill>
                <a:latin typeface="Geo"/>
                <a:ea typeface="Geo"/>
                <a:cs typeface="Geo"/>
                <a:sym typeface="Geo"/>
              </a:defRPr>
            </a:lvl6pPr>
            <a:lvl7pPr lvl="6" marR="0" rtl="0" algn="l">
              <a:spcBef>
                <a:spcPts val="0"/>
              </a:spcBef>
              <a:spcAft>
                <a:spcPts val="0"/>
              </a:spcAft>
              <a:buSzPts val="1400"/>
              <a:buNone/>
              <a:defRPr b="0" i="0" sz="1800" u="none" cap="none" strike="noStrike">
                <a:solidFill>
                  <a:schemeClr val="lt1"/>
                </a:solidFill>
                <a:latin typeface="Geo"/>
                <a:ea typeface="Geo"/>
                <a:cs typeface="Geo"/>
                <a:sym typeface="Geo"/>
              </a:defRPr>
            </a:lvl7pPr>
            <a:lvl8pPr lvl="7" marR="0" rtl="0" algn="l">
              <a:spcBef>
                <a:spcPts val="0"/>
              </a:spcBef>
              <a:spcAft>
                <a:spcPts val="0"/>
              </a:spcAft>
              <a:buSzPts val="1400"/>
              <a:buNone/>
              <a:defRPr b="0" i="0" sz="1800" u="none" cap="none" strike="noStrike">
                <a:solidFill>
                  <a:schemeClr val="lt1"/>
                </a:solidFill>
                <a:latin typeface="Geo"/>
                <a:ea typeface="Geo"/>
                <a:cs typeface="Geo"/>
                <a:sym typeface="Geo"/>
              </a:defRPr>
            </a:lvl8pPr>
            <a:lvl9pPr lvl="8" marR="0" rtl="0" algn="l">
              <a:spcBef>
                <a:spcPts val="0"/>
              </a:spcBef>
              <a:spcAft>
                <a:spcPts val="0"/>
              </a:spcAft>
              <a:buSzPts val="1400"/>
              <a:buNone/>
              <a:defRPr b="0" i="0" sz="1800" u="none" cap="none" strike="noStrike">
                <a:solidFill>
                  <a:schemeClr val="lt1"/>
                </a:solidFill>
                <a:latin typeface="Geo"/>
                <a:ea typeface="Geo"/>
                <a:cs typeface="Geo"/>
                <a:sym typeface="Geo"/>
              </a:defRPr>
            </a:lvl9pPr>
          </a:lstStyle>
          <a:p/>
        </p:txBody>
      </p:sp>
      <p:sp>
        <p:nvSpPr>
          <p:cNvPr id="88" name="Google Shape;88;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Geo"/>
                <a:ea typeface="Geo"/>
                <a:cs typeface="Geo"/>
                <a:sym typeface="Geo"/>
              </a:defRPr>
            </a:lvl1pPr>
            <a:lvl2pPr lvl="1" marR="0" rtl="0" algn="l">
              <a:spcBef>
                <a:spcPts val="0"/>
              </a:spcBef>
              <a:spcAft>
                <a:spcPts val="0"/>
              </a:spcAft>
              <a:buSzPts val="1400"/>
              <a:buNone/>
              <a:defRPr b="0" i="0" sz="1800" u="none" cap="none" strike="noStrike">
                <a:solidFill>
                  <a:schemeClr val="lt1"/>
                </a:solidFill>
                <a:latin typeface="Geo"/>
                <a:ea typeface="Geo"/>
                <a:cs typeface="Geo"/>
                <a:sym typeface="Geo"/>
              </a:defRPr>
            </a:lvl2pPr>
            <a:lvl3pPr lvl="2" marR="0" rtl="0" algn="l">
              <a:spcBef>
                <a:spcPts val="0"/>
              </a:spcBef>
              <a:spcAft>
                <a:spcPts val="0"/>
              </a:spcAft>
              <a:buSzPts val="1400"/>
              <a:buNone/>
              <a:defRPr b="0" i="0" sz="1800" u="none" cap="none" strike="noStrike">
                <a:solidFill>
                  <a:schemeClr val="lt1"/>
                </a:solidFill>
                <a:latin typeface="Geo"/>
                <a:ea typeface="Geo"/>
                <a:cs typeface="Geo"/>
                <a:sym typeface="Geo"/>
              </a:defRPr>
            </a:lvl3pPr>
            <a:lvl4pPr lvl="3" marR="0" rtl="0" algn="l">
              <a:spcBef>
                <a:spcPts val="0"/>
              </a:spcBef>
              <a:spcAft>
                <a:spcPts val="0"/>
              </a:spcAft>
              <a:buSzPts val="1400"/>
              <a:buNone/>
              <a:defRPr b="0" i="0" sz="1800" u="none" cap="none" strike="noStrike">
                <a:solidFill>
                  <a:schemeClr val="lt1"/>
                </a:solidFill>
                <a:latin typeface="Geo"/>
                <a:ea typeface="Geo"/>
                <a:cs typeface="Geo"/>
                <a:sym typeface="Geo"/>
              </a:defRPr>
            </a:lvl4pPr>
            <a:lvl5pPr lvl="4" marR="0" rtl="0" algn="l">
              <a:spcBef>
                <a:spcPts val="0"/>
              </a:spcBef>
              <a:spcAft>
                <a:spcPts val="0"/>
              </a:spcAft>
              <a:buSzPts val="1400"/>
              <a:buNone/>
              <a:defRPr b="0" i="0" sz="1800" u="none" cap="none" strike="noStrike">
                <a:solidFill>
                  <a:schemeClr val="lt1"/>
                </a:solidFill>
                <a:latin typeface="Geo"/>
                <a:ea typeface="Geo"/>
                <a:cs typeface="Geo"/>
                <a:sym typeface="Geo"/>
              </a:defRPr>
            </a:lvl5pPr>
            <a:lvl6pPr lvl="5" marR="0" rtl="0" algn="l">
              <a:spcBef>
                <a:spcPts val="0"/>
              </a:spcBef>
              <a:spcAft>
                <a:spcPts val="0"/>
              </a:spcAft>
              <a:buSzPts val="1400"/>
              <a:buNone/>
              <a:defRPr b="0" i="0" sz="1800" u="none" cap="none" strike="noStrike">
                <a:solidFill>
                  <a:schemeClr val="lt1"/>
                </a:solidFill>
                <a:latin typeface="Geo"/>
                <a:ea typeface="Geo"/>
                <a:cs typeface="Geo"/>
                <a:sym typeface="Geo"/>
              </a:defRPr>
            </a:lvl6pPr>
            <a:lvl7pPr lvl="6" marR="0" rtl="0" algn="l">
              <a:spcBef>
                <a:spcPts val="0"/>
              </a:spcBef>
              <a:spcAft>
                <a:spcPts val="0"/>
              </a:spcAft>
              <a:buSzPts val="1400"/>
              <a:buNone/>
              <a:defRPr b="0" i="0" sz="1800" u="none" cap="none" strike="noStrike">
                <a:solidFill>
                  <a:schemeClr val="lt1"/>
                </a:solidFill>
                <a:latin typeface="Geo"/>
                <a:ea typeface="Geo"/>
                <a:cs typeface="Geo"/>
                <a:sym typeface="Geo"/>
              </a:defRPr>
            </a:lvl7pPr>
            <a:lvl8pPr lvl="7" marR="0" rtl="0" algn="l">
              <a:spcBef>
                <a:spcPts val="0"/>
              </a:spcBef>
              <a:spcAft>
                <a:spcPts val="0"/>
              </a:spcAft>
              <a:buSzPts val="1400"/>
              <a:buNone/>
              <a:defRPr b="0" i="0" sz="1800" u="none" cap="none" strike="noStrike">
                <a:solidFill>
                  <a:schemeClr val="lt1"/>
                </a:solidFill>
                <a:latin typeface="Geo"/>
                <a:ea typeface="Geo"/>
                <a:cs typeface="Geo"/>
                <a:sym typeface="Geo"/>
              </a:defRPr>
            </a:lvl8pPr>
            <a:lvl9pPr lvl="8" marR="0" rtl="0" algn="l">
              <a:spcBef>
                <a:spcPts val="0"/>
              </a:spcBef>
              <a:spcAft>
                <a:spcPts val="0"/>
              </a:spcAft>
              <a:buSzPts val="1400"/>
              <a:buNone/>
              <a:defRPr b="0" i="0" sz="1800" u="none" cap="none" strike="noStrike">
                <a:solidFill>
                  <a:schemeClr val="lt1"/>
                </a:solidFill>
                <a:latin typeface="Geo"/>
                <a:ea typeface="Geo"/>
                <a:cs typeface="Geo"/>
                <a:sym typeface="Geo"/>
              </a:defRPr>
            </a:lvl9pPr>
          </a:lstStyle>
          <a:p/>
        </p:txBody>
      </p:sp>
      <p:sp>
        <p:nvSpPr>
          <p:cNvPr id="89" name="Google Shape;89;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Geo"/>
                <a:ea typeface="Geo"/>
                <a:cs typeface="Geo"/>
                <a:sym typeface="Geo"/>
              </a:defRPr>
            </a:lvl1pPr>
            <a:lvl2pPr indent="0" lvl="1" marL="0" marR="0" rtl="0" algn="r">
              <a:spcBef>
                <a:spcPts val="0"/>
              </a:spcBef>
              <a:buNone/>
              <a:defRPr b="0" i="0" sz="1200" u="none" cap="none" strike="noStrike">
                <a:solidFill>
                  <a:schemeClr val="lt1"/>
                </a:solidFill>
                <a:latin typeface="Geo"/>
                <a:ea typeface="Geo"/>
                <a:cs typeface="Geo"/>
                <a:sym typeface="Geo"/>
              </a:defRPr>
            </a:lvl2pPr>
            <a:lvl3pPr indent="0" lvl="2" marL="0" marR="0" rtl="0" algn="r">
              <a:spcBef>
                <a:spcPts val="0"/>
              </a:spcBef>
              <a:buNone/>
              <a:defRPr b="0" i="0" sz="1200" u="none" cap="none" strike="noStrike">
                <a:solidFill>
                  <a:schemeClr val="lt1"/>
                </a:solidFill>
                <a:latin typeface="Geo"/>
                <a:ea typeface="Geo"/>
                <a:cs typeface="Geo"/>
                <a:sym typeface="Geo"/>
              </a:defRPr>
            </a:lvl3pPr>
            <a:lvl4pPr indent="0" lvl="3" marL="0" marR="0" rtl="0" algn="r">
              <a:spcBef>
                <a:spcPts val="0"/>
              </a:spcBef>
              <a:buNone/>
              <a:defRPr b="0" i="0" sz="1200" u="none" cap="none" strike="noStrike">
                <a:solidFill>
                  <a:schemeClr val="lt1"/>
                </a:solidFill>
                <a:latin typeface="Geo"/>
                <a:ea typeface="Geo"/>
                <a:cs typeface="Geo"/>
                <a:sym typeface="Geo"/>
              </a:defRPr>
            </a:lvl4pPr>
            <a:lvl5pPr indent="0" lvl="4" marL="0" marR="0" rtl="0" algn="r">
              <a:spcBef>
                <a:spcPts val="0"/>
              </a:spcBef>
              <a:buNone/>
              <a:defRPr b="0" i="0" sz="1200" u="none" cap="none" strike="noStrike">
                <a:solidFill>
                  <a:schemeClr val="lt1"/>
                </a:solidFill>
                <a:latin typeface="Geo"/>
                <a:ea typeface="Geo"/>
                <a:cs typeface="Geo"/>
                <a:sym typeface="Geo"/>
              </a:defRPr>
            </a:lvl5pPr>
            <a:lvl6pPr indent="0" lvl="5" marL="0" marR="0" rtl="0" algn="r">
              <a:spcBef>
                <a:spcPts val="0"/>
              </a:spcBef>
              <a:buNone/>
              <a:defRPr b="0" i="0" sz="1200" u="none" cap="none" strike="noStrike">
                <a:solidFill>
                  <a:schemeClr val="lt1"/>
                </a:solidFill>
                <a:latin typeface="Geo"/>
                <a:ea typeface="Geo"/>
                <a:cs typeface="Geo"/>
                <a:sym typeface="Geo"/>
              </a:defRPr>
            </a:lvl6pPr>
            <a:lvl7pPr indent="0" lvl="6" marL="0" marR="0" rtl="0" algn="r">
              <a:spcBef>
                <a:spcPts val="0"/>
              </a:spcBef>
              <a:buNone/>
              <a:defRPr b="0" i="0" sz="1200" u="none" cap="none" strike="noStrike">
                <a:solidFill>
                  <a:schemeClr val="lt1"/>
                </a:solidFill>
                <a:latin typeface="Geo"/>
                <a:ea typeface="Geo"/>
                <a:cs typeface="Geo"/>
                <a:sym typeface="Geo"/>
              </a:defRPr>
            </a:lvl7pPr>
            <a:lvl8pPr indent="0" lvl="7" marL="0" marR="0" rtl="0" algn="r">
              <a:spcBef>
                <a:spcPts val="0"/>
              </a:spcBef>
              <a:buNone/>
              <a:defRPr b="0" i="0" sz="1200" u="none" cap="none" strike="noStrike">
                <a:solidFill>
                  <a:schemeClr val="lt1"/>
                </a:solidFill>
                <a:latin typeface="Geo"/>
                <a:ea typeface="Geo"/>
                <a:cs typeface="Geo"/>
                <a:sym typeface="Geo"/>
              </a:defRPr>
            </a:lvl8pPr>
            <a:lvl9pPr indent="0" lvl="8" marL="0" marR="0" rtl="0" algn="r">
              <a:spcBef>
                <a:spcPts val="0"/>
              </a:spcBef>
              <a:buNone/>
              <a:defRPr b="0" i="0" sz="1200" u="none" cap="none" strike="noStrike">
                <a:solidFill>
                  <a:schemeClr val="lt1"/>
                </a:solidFill>
                <a:latin typeface="Geo"/>
                <a:ea typeface="Geo"/>
                <a:cs typeface="Geo"/>
                <a:sym typeface="Ge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rapido.bike/" TargetMode="External"/><Relationship Id="rId4" Type="http://schemas.openxmlformats.org/officeDocument/2006/relationships/hyperlink" Target="https://en.wikipedia.org/wiki/Auto_rickshaw" TargetMode="External"/><Relationship Id="rId10" Type="http://schemas.openxmlformats.org/officeDocument/2006/relationships/hyperlink" Target="https://www.cartoq.com/bike-news/unauthorized-rapido-bike-taxis-seized-bangalore-impact-legal-issues/" TargetMode="External"/><Relationship Id="rId9" Type="http://schemas.openxmlformats.org/officeDocument/2006/relationships/hyperlink" Target="https://techcrunch.com/2023/10/26/rapido-cabs-india/" TargetMode="External"/><Relationship Id="rId5" Type="http://schemas.openxmlformats.org/officeDocument/2006/relationships/hyperlink" Target="https://en.wikipedia.org/wiki/Taxicab" TargetMode="External"/><Relationship Id="rId6" Type="http://schemas.openxmlformats.org/officeDocument/2006/relationships/hyperlink" Target="https://en.wikipedia.org/wiki/Parcel_delivery" TargetMode="External"/><Relationship Id="rId7" Type="http://schemas.openxmlformats.org/officeDocument/2006/relationships/hyperlink" Target="https://en.wikipedia.org/wiki/Third-party_logistics" TargetMode="External"/><Relationship Id="rId8" Type="http://schemas.openxmlformats.org/officeDocument/2006/relationships/hyperlink" Target="https://en.wikipedia.org/wiki/Rapido_(compan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forms.gle/nCLkLioQ2LpmJ34VA" TargetMode="Externa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entrepreneurstoday.in/pavan-guntupallis-plan-to-expand-rapido-in-indias-ride-hailing-landscape/" TargetMode="External"/><Relationship Id="rId4" Type="http://schemas.openxmlformats.org/officeDocument/2006/relationships/hyperlink" Target="https://ajuniorvc.com/rapido-case-study-startup-story-ola-uber-competition-economics/" TargetMode="External"/><Relationship Id="rId10" Type="http://schemas.openxmlformats.org/officeDocument/2006/relationships/hyperlink" Target="https://evstory.in/rapido-launches-bike-pink-service-in-chennai-to-empower-women-bike-captains-riders/" TargetMode="External"/><Relationship Id="rId9" Type="http://schemas.openxmlformats.org/officeDocument/2006/relationships/hyperlink" Target="https://www.businesstoday.in/magazine/deep-dive/story/rapidos-rapid-rise-how-the-start-up-is-looking-to-challenge-duopoly-of-ola-and-uber-412162-2024-01-07" TargetMode="External"/><Relationship Id="rId5" Type="http://schemas.openxmlformats.org/officeDocument/2006/relationships/hyperlink" Target="https://entrepreneurstoday.in/pavan-guntupallis-plan-to-expand-rapido-in-indias-ride-hailing-landscape/#google_vignette" TargetMode="External"/><Relationship Id="rId6" Type="http://schemas.openxmlformats.org/officeDocument/2006/relationships/hyperlink" Target="https://ajuniorvc.com/rapido-case-study-startup-story-ola-uber-competition-economics/" TargetMode="External"/><Relationship Id="rId7" Type="http://schemas.openxmlformats.org/officeDocument/2006/relationships/hyperlink" Target="https://ajuniorvc.com/rapido-case-study-startup-story-ola-uber-competition-economics/" TargetMode="External"/><Relationship Id="rId8" Type="http://schemas.openxmlformats.org/officeDocument/2006/relationships/hyperlink" Target="https://www.businessinsider.in/advertising/brands/article/rapido-bike-rent-company-shifts-focus-to-logistics/articleshow/78203738.cm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play.google.com/store/apps/details?id=com.rapido.passenger&amp;hl=en_US" TargetMode="Externa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0.png"/><Relationship Id="rId11" Type="http://schemas.openxmlformats.org/officeDocument/2006/relationships/image" Target="../media/image26.png"/><Relationship Id="rId10" Type="http://schemas.openxmlformats.org/officeDocument/2006/relationships/image" Target="../media/image17.png"/><Relationship Id="rId9" Type="http://schemas.openxmlformats.org/officeDocument/2006/relationships/image" Target="../media/image14.png"/><Relationship Id="rId5" Type="http://schemas.openxmlformats.org/officeDocument/2006/relationships/image" Target="../media/image24.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
              <a:ea typeface="Geo"/>
              <a:cs typeface="Geo"/>
              <a:sym typeface="Geo"/>
            </a:endParaRPr>
          </a:p>
        </p:txBody>
      </p:sp>
      <p:sp>
        <p:nvSpPr>
          <p:cNvPr id="100" name="Google Shape;100;p1"/>
          <p:cNvSpPr txBox="1"/>
          <p:nvPr>
            <p:ph type="ctrTitle"/>
          </p:nvPr>
        </p:nvSpPr>
        <p:spPr>
          <a:xfrm>
            <a:off x="6094476" y="104932"/>
            <a:ext cx="6291454" cy="406233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DLaM Display"/>
              <a:buNone/>
            </a:pPr>
            <a:br>
              <a:rPr b="1" lang="en-US" sz="4400"/>
            </a:br>
            <a:r>
              <a:rPr b="1" lang="en-US"/>
              <a:t>Crafting a Winning </a:t>
            </a:r>
            <a:br>
              <a:rPr b="1" lang="en-US"/>
            </a:br>
            <a:r>
              <a:rPr b="1" lang="en-US"/>
              <a:t>Product Strategy for </a:t>
            </a:r>
            <a:br>
              <a:rPr b="1" lang="en-US"/>
            </a:br>
            <a:r>
              <a:rPr b="1" lang="en-US"/>
              <a:t>Rapido</a:t>
            </a:r>
            <a:br>
              <a:rPr lang="en-US" sz="4400"/>
            </a:br>
            <a:endParaRPr sz="4400"/>
          </a:p>
        </p:txBody>
      </p:sp>
      <p:sp>
        <p:nvSpPr>
          <p:cNvPr id="101" name="Google Shape;101;p1"/>
          <p:cNvSpPr txBox="1"/>
          <p:nvPr>
            <p:ph idx="1" type="subTitle"/>
          </p:nvPr>
        </p:nvSpPr>
        <p:spPr>
          <a:xfrm>
            <a:off x="6094475" y="5202250"/>
            <a:ext cx="6291600" cy="1255500"/>
          </a:xfrm>
          <a:prstGeom prst="rect">
            <a:avLst/>
          </a:prstGeom>
          <a:noFill/>
          <a:ln>
            <a:noFill/>
          </a:ln>
        </p:spPr>
        <p:txBody>
          <a:bodyPr anchorCtr="0" anchor="t" bIns="45700" lIns="91425" spcFirstLastPara="1" rIns="91425" wrap="square" tIns="45700">
            <a:normAutofit/>
          </a:bodyPr>
          <a:lstStyle/>
          <a:p>
            <a:pPr indent="127000" lvl="0" marL="0" rtl="0" algn="l">
              <a:lnSpc>
                <a:spcPct val="90000"/>
              </a:lnSpc>
              <a:spcBef>
                <a:spcPts val="0"/>
              </a:spcBef>
              <a:spcAft>
                <a:spcPts val="0"/>
              </a:spcAft>
              <a:buClr>
                <a:schemeClr val="dk1"/>
              </a:buClr>
              <a:buSzPts val="2000"/>
              <a:buFont typeface="Arial"/>
              <a:buNone/>
            </a:pPr>
            <a:r>
              <a:t/>
            </a:r>
            <a:endParaRPr b="1" sz="2000"/>
          </a:p>
          <a:p>
            <a:pPr indent="0" lvl="0" marL="0" rtl="0" algn="l">
              <a:lnSpc>
                <a:spcPct val="90000"/>
              </a:lnSpc>
              <a:spcBef>
                <a:spcPts val="1000"/>
              </a:spcBef>
              <a:spcAft>
                <a:spcPts val="0"/>
              </a:spcAft>
              <a:buClr>
                <a:srgbClr val="FFC000"/>
              </a:buClr>
              <a:buSzPts val="3600"/>
              <a:buNone/>
            </a:pPr>
            <a:r>
              <a:rPr b="1" lang="en-US" sz="3600">
                <a:solidFill>
                  <a:srgbClr val="FFC000"/>
                </a:solidFill>
              </a:rPr>
              <a:t>By Tejas Borse</a:t>
            </a:r>
            <a:endParaRPr/>
          </a:p>
        </p:txBody>
      </p:sp>
      <p:pic>
        <p:nvPicPr>
          <p:cNvPr id="102" name="Google Shape;102;p1"/>
          <p:cNvPicPr preferRelativeResize="0"/>
          <p:nvPr/>
        </p:nvPicPr>
        <p:blipFill rotWithShape="1">
          <a:blip r:embed="rId3">
            <a:alphaModFix/>
          </a:blip>
          <a:srcRect b="700" l="54255" r="-4071" t="0"/>
          <a:stretch/>
        </p:blipFill>
        <p:spPr>
          <a:xfrm>
            <a:off x="-196978" y="0"/>
            <a:ext cx="6710766" cy="6970426"/>
          </a:xfrm>
          <a:custGeom>
            <a:rect b="b" l="l" r="r" t="t"/>
            <a:pathLst>
              <a:path extrusionOk="0" h="6879321" w="6116569">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
              <a:ea typeface="Geo"/>
              <a:cs typeface="Geo"/>
              <a:sym typeface="Geo"/>
            </a:endParaRPr>
          </a:p>
        </p:txBody>
      </p:sp>
      <p:sp>
        <p:nvSpPr>
          <p:cNvPr id="108" name="Google Shape;108;p2"/>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DLaM Display"/>
              <a:buNone/>
            </a:pPr>
            <a:r>
              <a:rPr b="1" lang="en-US" sz="5400"/>
              <a:t>Agenda</a:t>
            </a:r>
            <a:endParaRPr sz="5400"/>
          </a:p>
        </p:txBody>
      </p:sp>
      <p:sp>
        <p:nvSpPr>
          <p:cNvPr id="109" name="Google Shape;109;p2"/>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1"/>
            </a:schemeClr>
          </a:solidFill>
          <a:ln cap="rnd" cmpd="sng" w="44450">
            <a:solidFill>
              <a:schemeClr val="accent2">
                <a:alpha val="74901"/>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
              <a:ea typeface="Geo"/>
              <a:cs typeface="Geo"/>
              <a:sym typeface="Geo"/>
            </a:endParaRPr>
          </a:p>
        </p:txBody>
      </p:sp>
      <p:sp>
        <p:nvSpPr>
          <p:cNvPr id="110" name="Google Shape;110;p2"/>
          <p:cNvSpPr txBox="1"/>
          <p:nvPr>
            <p:ph idx="1" type="body"/>
          </p:nvPr>
        </p:nvSpPr>
        <p:spPr>
          <a:xfrm>
            <a:off x="572493" y="2071316"/>
            <a:ext cx="6997540" cy="4119172"/>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chemeClr val="dk1"/>
              </a:buClr>
              <a:buSzPts val="1700"/>
              <a:buFont typeface="ADLaM Display"/>
              <a:buAutoNum type="arabicPeriod"/>
            </a:pPr>
            <a:r>
              <a:rPr b="1" i="0" lang="en-US" sz="1700" u="none" cap="none" strike="noStrike"/>
              <a:t>Introduction:</a:t>
            </a:r>
            <a:r>
              <a:rPr b="0" i="0" lang="en-US" sz="1700" u="none" cap="none" strike="noStrike"/>
              <a:t> Overview of Rapido and its Market Position</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Current Challenges:</a:t>
            </a:r>
            <a:r>
              <a:rPr b="0" i="0" lang="en-US" sz="1700" u="none" cap="none" strike="noStrike"/>
              <a:t> Regulatory, Market, and Operational Complexities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Market and User Research:</a:t>
            </a:r>
            <a:r>
              <a:rPr b="0" i="0" lang="en-US" sz="1700" u="none" cap="none" strike="noStrike"/>
              <a:t> Key Insights and Implications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Target Audience:</a:t>
            </a:r>
            <a:r>
              <a:rPr b="0" i="0" lang="en-US" sz="1700" u="none" cap="none" strike="noStrike"/>
              <a:t> User Segmentation and Personas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Competitor Analysis:</a:t>
            </a:r>
            <a:r>
              <a:rPr b="0" i="0" lang="en-US" sz="1700" u="none" cap="none" strike="noStrike"/>
              <a:t> Competitor Analysis &amp; Frameworks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Vision and Value Proposition:</a:t>
            </a:r>
            <a:r>
              <a:rPr b="0" i="0" lang="en-US" sz="1700" u="none" cap="none" strike="noStrike"/>
              <a:t> Product Vision and Goals, Unique Selling Points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Product Strategy:</a:t>
            </a:r>
            <a:r>
              <a:rPr b="0" i="0" lang="en-US" sz="1700" u="none" cap="none" strike="noStrike"/>
              <a:t> New Features, Product Principles, and Trade-offs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KPIs and Success Metrics:</a:t>
            </a:r>
            <a:r>
              <a:rPr b="0" i="0" lang="en-US" sz="1700" u="none" cap="none" strike="noStrike"/>
              <a:t> Measuring Impact and Success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Go-To-Market Strategy:</a:t>
            </a:r>
            <a:r>
              <a:rPr b="0" i="0" lang="en-US" sz="1700" u="none" cap="none" strike="noStrike"/>
              <a:t> Execution Plan, Revenue Streams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Objectives: </a:t>
            </a:r>
            <a:r>
              <a:rPr b="0" i="0" lang="en-US" sz="1700" u="none" cap="none" strike="noStrike"/>
              <a:t>High Level Goals &amp; Measurable Targets</a:t>
            </a:r>
            <a:endParaRPr/>
          </a:p>
          <a:p>
            <a:pPr indent="-457200" lvl="0" marL="457200" marR="0" rtl="0" algn="l">
              <a:lnSpc>
                <a:spcPct val="90000"/>
              </a:lnSpc>
              <a:spcBef>
                <a:spcPts val="600"/>
              </a:spcBef>
              <a:spcAft>
                <a:spcPts val="0"/>
              </a:spcAft>
              <a:buClr>
                <a:schemeClr val="dk1"/>
              </a:buClr>
              <a:buSzPts val="1700"/>
              <a:buFont typeface="ADLaM Display"/>
              <a:buAutoNum type="arabicPeriod"/>
            </a:pPr>
            <a:r>
              <a:rPr b="1" i="0" lang="en-US" sz="1700" u="none" cap="none" strike="noStrike"/>
              <a:t>Conclusion:</a:t>
            </a:r>
            <a:r>
              <a:rPr b="0" i="0" lang="en-US" sz="1700" u="none" cap="none" strike="noStrike"/>
              <a:t> Key Takeaways and Next Steps </a:t>
            </a:r>
            <a:endParaRPr/>
          </a:p>
        </p:txBody>
      </p:sp>
      <p:pic>
        <p:nvPicPr>
          <p:cNvPr descr="Download Rapido Bike Taxi Logo PNG And Vector (PDF, SVG, Ai, EPS) Free |  peacecommission.kdsg.gov.ng" id="111" name="Google Shape;111;p2"/>
          <p:cNvPicPr preferRelativeResize="0"/>
          <p:nvPr/>
        </p:nvPicPr>
        <p:blipFill rotWithShape="1">
          <a:blip r:embed="rId3">
            <a:alphaModFix/>
          </a:blip>
          <a:srcRect b="0" l="19489" r="8357" t="0"/>
          <a:stretch/>
        </p:blipFill>
        <p:spPr>
          <a:xfrm>
            <a:off x="7675658" y="2093976"/>
            <a:ext cx="3941064" cy="40965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5" name="Shape 115"/>
        <p:cNvGrpSpPr/>
        <p:nvPr/>
      </p:nvGrpSpPr>
      <p:grpSpPr>
        <a:xfrm>
          <a:off x="0" y="0"/>
          <a:ext cx="0" cy="0"/>
          <a:chOff x="0" y="0"/>
          <a:chExt cx="0" cy="0"/>
        </a:xfrm>
      </p:grpSpPr>
      <p:sp>
        <p:nvSpPr>
          <p:cNvPr id="116" name="Google Shape;116;p3"/>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
              <a:ea typeface="Geo"/>
              <a:cs typeface="Geo"/>
              <a:sym typeface="Geo"/>
            </a:endParaRPr>
          </a:p>
        </p:txBody>
      </p:sp>
      <p:pic>
        <p:nvPicPr>
          <p:cNvPr descr="A close-up of triangles&#10;&#10;Description automatically generated" id="117" name="Google Shape;117;p3"/>
          <p:cNvPicPr preferRelativeResize="0"/>
          <p:nvPr/>
        </p:nvPicPr>
        <p:blipFill rotWithShape="1">
          <a:blip r:embed="rId3">
            <a:alphaModFix amt="50000"/>
          </a:blip>
          <a:srcRect b="7455" l="0" r="0" t="8275"/>
          <a:stretch/>
        </p:blipFill>
        <p:spPr>
          <a:xfrm>
            <a:off x="20" y="1"/>
            <a:ext cx="12191980" cy="6857999"/>
          </a:xfrm>
          <a:prstGeom prst="rect">
            <a:avLst/>
          </a:prstGeom>
          <a:solidFill>
            <a:srgbClr val="FFC000"/>
          </a:solidFill>
          <a:ln>
            <a:noFill/>
          </a:ln>
        </p:spPr>
      </p:pic>
      <p:sp>
        <p:nvSpPr>
          <p:cNvPr id="118" name="Google Shape;118;p3"/>
          <p:cNvSpPr txBox="1"/>
          <p:nvPr>
            <p:ph type="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ADLaM Display"/>
              <a:buNone/>
            </a:pPr>
            <a:r>
              <a:rPr lang="en-US" sz="6000">
                <a:solidFill>
                  <a:srgbClr val="FFFFFF"/>
                </a:solidFill>
              </a:rPr>
              <a:t>INTRODUCTION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18"/>
                                        </p:tgtEl>
                                        <p:attrNameLst>
                                          <p:attrName>style.visibility</p:attrName>
                                        </p:attrNameLst>
                                      </p:cBhvr>
                                      <p:to>
                                        <p:strVal val="visible"/>
                                      </p:to>
                                    </p:set>
                                    <p:animEffect filter="fade" transition="in">
                                      <p:cBhvr>
                                        <p:cTn dur="4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type="title"/>
          </p:nvPr>
        </p:nvSpPr>
        <p:spPr>
          <a:xfrm>
            <a:off x="0" y="0"/>
            <a:ext cx="12192000" cy="1325563"/>
          </a:xfrm>
          <a:prstGeom prst="rect">
            <a:avLst/>
          </a:prstGeom>
          <a:solidFill>
            <a:srgbClr val="FFC000"/>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DLaM Display"/>
              <a:buNone/>
            </a:pPr>
            <a:r>
              <a:rPr lang="en-US"/>
              <a:t>OVERVIEW OF RAPIDO, MISSION &amp; VISION</a:t>
            </a:r>
            <a:endParaRPr/>
          </a:p>
        </p:txBody>
      </p:sp>
      <p:sp>
        <p:nvSpPr>
          <p:cNvPr id="124" name="Google Shape;124;p4"/>
          <p:cNvSpPr txBox="1"/>
          <p:nvPr>
            <p:ph idx="1" type="body"/>
          </p:nvPr>
        </p:nvSpPr>
        <p:spPr>
          <a:xfrm>
            <a:off x="0" y="1486138"/>
            <a:ext cx="12651698" cy="467820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Company Background</a:t>
            </a:r>
            <a:r>
              <a:rPr b="0" i="0" lang="en-US" sz="20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Clr>
                <a:schemeClr val="dk1"/>
              </a:buClr>
              <a:buSzPts val="2000"/>
              <a:buNone/>
            </a:pPr>
            <a:r>
              <a:rPr lang="en-US" sz="2000">
                <a:latin typeface="Arial"/>
                <a:ea typeface="Arial"/>
                <a:cs typeface="Arial"/>
                <a:sym typeface="Arial"/>
              </a:rPr>
              <a:t>F</a:t>
            </a:r>
            <a:r>
              <a:rPr b="0" i="0" lang="en-US" sz="2000" u="none" cap="none" strike="noStrike">
                <a:solidFill>
                  <a:schemeClr val="dk1"/>
                </a:solidFill>
                <a:latin typeface="Arial"/>
                <a:ea typeface="Arial"/>
                <a:cs typeface="Arial"/>
                <a:sym typeface="Arial"/>
              </a:rPr>
              <a:t>ounded in the city of Bengaluru in the year 2015, Rapido is India's first and fastest-growing bike taxi app. Today, Rapido operates in over 100 cities across the country, boasting more than 25 million app downloads and completing over 100 million rides.</a:t>
            </a:r>
            <a:endParaRPr/>
          </a:p>
          <a:p>
            <a:pPr indent="0" lvl="0" marL="0" marR="0" rtl="0" algn="l">
              <a:lnSpc>
                <a:spcPct val="100000"/>
              </a:lnSpc>
              <a:spcBef>
                <a:spcPts val="0"/>
              </a:spcBef>
              <a:spcAft>
                <a:spcPts val="0"/>
              </a:spcAft>
              <a:buClr>
                <a:schemeClr val="dk1"/>
              </a:buClr>
              <a:buSzPts val="2000"/>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Service Offerings</a:t>
            </a:r>
            <a:r>
              <a:rPr b="0" i="0" lang="en-US" sz="2000" u="none" cap="none" strike="noStrike">
                <a:solidFill>
                  <a:schemeClr val="dk1"/>
                </a:solidFill>
                <a:latin typeface="Arial"/>
                <a:ea typeface="Arial"/>
                <a:cs typeface="Arial"/>
                <a:sym typeface="Arial"/>
              </a:rPr>
              <a:t>: Initially known for its bike taxi services, Rapido now offers:</a:t>
            </a:r>
            <a:endParaRPr/>
          </a:p>
          <a:p>
            <a:pPr indent="-228600" lvl="0" marL="228600" rtl="0" algn="l">
              <a:lnSpc>
                <a:spcPct val="100000"/>
              </a:lnSpc>
              <a:spcBef>
                <a:spcPts val="0"/>
              </a:spcBef>
              <a:spcAft>
                <a:spcPts val="0"/>
              </a:spcAft>
              <a:buClr>
                <a:schemeClr val="dk1"/>
              </a:buClr>
              <a:buSzPts val="2000"/>
              <a:buChar char="•"/>
            </a:pPr>
            <a:r>
              <a:rPr b="1" i="0" lang="en-US" sz="2000" u="none" cap="none" strike="noStrike">
                <a:solidFill>
                  <a:schemeClr val="dk1"/>
                </a:solidFill>
                <a:latin typeface="Arial"/>
                <a:ea typeface="Arial"/>
                <a:cs typeface="Arial"/>
                <a:sym typeface="Arial"/>
              </a:rPr>
              <a:t>Bike Taxis: </a:t>
            </a:r>
            <a:r>
              <a:rPr b="0" i="0" lang="en-US" sz="2000" u="none" cap="none" strike="noStrike">
                <a:solidFill>
                  <a:schemeClr val="dk1"/>
                </a:solidFill>
                <a:latin typeface="Arial"/>
                <a:ea typeface="Arial"/>
                <a:cs typeface="Arial"/>
                <a:sym typeface="Arial"/>
              </a:rPr>
              <a:t>The core of our service, providing swift and economical rides.</a:t>
            </a:r>
            <a:endParaRPr/>
          </a:p>
          <a:p>
            <a:pPr indent="-228600" lvl="0" marL="228600" rtl="0" algn="l">
              <a:lnSpc>
                <a:spcPct val="100000"/>
              </a:lnSpc>
              <a:spcBef>
                <a:spcPts val="0"/>
              </a:spcBef>
              <a:spcAft>
                <a:spcPts val="0"/>
              </a:spcAft>
              <a:buClr>
                <a:schemeClr val="dk1"/>
              </a:buClr>
              <a:buSzPts val="2000"/>
              <a:buChar char="•"/>
            </a:pPr>
            <a:r>
              <a:rPr b="1" i="0" lang="en-US" sz="2000" u="none" cap="none" strike="noStrike">
                <a:solidFill>
                  <a:schemeClr val="dk1"/>
                </a:solidFill>
                <a:latin typeface="Arial"/>
                <a:ea typeface="Arial"/>
                <a:cs typeface="Arial"/>
                <a:sym typeface="Arial"/>
              </a:rPr>
              <a:t>Auto Rickshaws</a:t>
            </a:r>
            <a:r>
              <a:rPr b="0" i="0" lang="en-US" sz="2000" u="none" cap="none" strike="noStrike">
                <a:solidFill>
                  <a:schemeClr val="dk1"/>
                </a:solidFill>
                <a:latin typeface="Arial"/>
                <a:ea typeface="Arial"/>
                <a:cs typeface="Arial"/>
                <a:sym typeface="Arial"/>
              </a:rPr>
              <a:t>: Including both Auto and Auto Share options for more flexibility.</a:t>
            </a:r>
            <a:endParaRPr/>
          </a:p>
          <a:p>
            <a:pPr indent="-228600" lvl="0" marL="228600" rtl="0" algn="l">
              <a:lnSpc>
                <a:spcPct val="100000"/>
              </a:lnSpc>
              <a:spcBef>
                <a:spcPts val="0"/>
              </a:spcBef>
              <a:spcAft>
                <a:spcPts val="0"/>
              </a:spcAft>
              <a:buClr>
                <a:schemeClr val="dk1"/>
              </a:buClr>
              <a:buSzPts val="2000"/>
              <a:buChar char="•"/>
            </a:pPr>
            <a:r>
              <a:rPr b="1" i="0" lang="en-US" sz="2000" u="none" cap="none" strike="noStrike">
                <a:solidFill>
                  <a:schemeClr val="dk1"/>
                </a:solidFill>
                <a:latin typeface="Arial"/>
                <a:ea typeface="Arial"/>
                <a:cs typeface="Arial"/>
                <a:sym typeface="Arial"/>
              </a:rPr>
              <a:t>Taxis: </a:t>
            </a:r>
            <a:r>
              <a:rPr b="0" i="0" lang="en-US" sz="2000" u="none" cap="none" strike="noStrike">
                <a:solidFill>
                  <a:schemeClr val="dk1"/>
                </a:solidFill>
                <a:latin typeface="Arial"/>
                <a:ea typeface="Arial"/>
                <a:cs typeface="Arial"/>
                <a:sym typeface="Arial"/>
              </a:rPr>
              <a:t>Catering to different preferences with Premium and Economy options.</a:t>
            </a:r>
            <a:endParaRPr/>
          </a:p>
          <a:p>
            <a:pPr indent="-228600" lvl="0" marL="228600" rtl="0" algn="l">
              <a:lnSpc>
                <a:spcPct val="100000"/>
              </a:lnSpc>
              <a:spcBef>
                <a:spcPts val="0"/>
              </a:spcBef>
              <a:spcAft>
                <a:spcPts val="0"/>
              </a:spcAft>
              <a:buClr>
                <a:schemeClr val="dk1"/>
              </a:buClr>
              <a:buSzPts val="2000"/>
              <a:buChar char="•"/>
            </a:pPr>
            <a:r>
              <a:rPr b="1" i="0" lang="en-US" sz="2000" u="none" cap="none" strike="noStrike">
                <a:solidFill>
                  <a:schemeClr val="dk1"/>
                </a:solidFill>
                <a:latin typeface="Arial"/>
                <a:ea typeface="Arial"/>
                <a:cs typeface="Arial"/>
                <a:sym typeface="Arial"/>
              </a:rPr>
              <a:t>Parcel Delivery Services</a:t>
            </a:r>
            <a:r>
              <a:rPr b="0" i="0" lang="en-US" sz="2000" u="none" cap="none" strike="noStrike">
                <a:solidFill>
                  <a:schemeClr val="dk1"/>
                </a:solidFill>
                <a:latin typeface="Arial"/>
                <a:ea typeface="Arial"/>
                <a:cs typeface="Arial"/>
                <a:sym typeface="Arial"/>
              </a:rPr>
              <a:t>: Ensuring quick and reliable delivery solutions.</a:t>
            </a:r>
            <a:endParaRPr/>
          </a:p>
          <a:p>
            <a:pPr indent="0" lvl="0" marL="0" rtl="0" algn="l">
              <a:lnSpc>
                <a:spcPct val="100000"/>
              </a:lnSpc>
              <a:spcBef>
                <a:spcPts val="0"/>
              </a:spcBef>
              <a:spcAft>
                <a:spcPts val="0"/>
              </a:spcAft>
              <a:buClr>
                <a:schemeClr val="dk1"/>
              </a:buClr>
              <a:buSzPts val="2000"/>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None/>
            </a:pPr>
            <a:r>
              <a:rPr b="1" i="0" lang="en-US" sz="2000" u="none" cap="none" strike="noStrike">
                <a:latin typeface="Arial"/>
                <a:ea typeface="Arial"/>
                <a:cs typeface="Arial"/>
                <a:sym typeface="Arial"/>
              </a:rPr>
              <a:t>Mission</a:t>
            </a:r>
            <a:r>
              <a:rPr b="1" i="0" lang="en-US" sz="2000" u="none" cap="none" strike="noStrike">
                <a:solidFill>
                  <a:schemeClr val="dk1"/>
                </a:solidFill>
                <a:latin typeface="Arial"/>
                <a:ea typeface="Arial"/>
                <a:cs typeface="Arial"/>
                <a:sym typeface="Arial"/>
              </a:rPr>
              <a:t> and Vision</a:t>
            </a:r>
            <a:r>
              <a:rPr b="0" i="0" lang="en-US" sz="20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Mission</a:t>
            </a:r>
            <a:r>
              <a:rPr b="0" i="0" lang="en-US" sz="2000" u="none" cap="none" strike="noStrike">
                <a:solidFill>
                  <a:schemeClr val="dk1"/>
                </a:solidFill>
                <a:latin typeface="Arial"/>
                <a:ea typeface="Arial"/>
                <a:cs typeface="Arial"/>
                <a:sym typeface="Arial"/>
              </a:rPr>
              <a:t>: To revolutionize intra-city travel by providing quick, affordable, and convenient transportation solutions.</a:t>
            </a:r>
            <a:endParaRPr/>
          </a:p>
          <a:p>
            <a:pPr indent="0" lvl="0" marL="0" marR="0" rtl="0" algn="l">
              <a:lnSpc>
                <a:spcPct val="100000"/>
              </a:lnSpc>
              <a:spcBef>
                <a:spcPts val="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Vision</a:t>
            </a:r>
            <a:r>
              <a:rPr b="0" i="0" lang="en-US" sz="2000" u="none" cap="none" strike="noStrike">
                <a:solidFill>
                  <a:schemeClr val="dk1"/>
                </a:solidFill>
                <a:latin typeface="Arial"/>
                <a:ea typeface="Arial"/>
                <a:cs typeface="Arial"/>
                <a:sym typeface="Arial"/>
              </a:rPr>
              <a:t>: To address last-mile connectivity issues and become the preferred choice for urban mobility in India.</a:t>
            </a:r>
            <a:endParaRPr/>
          </a:p>
          <a:p>
            <a:pPr indent="0" lvl="0" marL="0" marR="0" rtl="0" algn="l">
              <a:lnSpc>
                <a:spcPct val="100000"/>
              </a:lnSpc>
              <a:spcBef>
                <a:spcPts val="0"/>
              </a:spcBef>
              <a:spcAft>
                <a:spcPts val="0"/>
              </a:spcAft>
              <a:buClr>
                <a:schemeClr val="dk1"/>
              </a:buClr>
              <a:buSzPts val="1800"/>
              <a:buFont typeface="Geo"/>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8" name="Shape 128"/>
        <p:cNvGrpSpPr/>
        <p:nvPr/>
      </p:nvGrpSpPr>
      <p:grpSpPr>
        <a:xfrm>
          <a:off x="0" y="0"/>
          <a:ext cx="0" cy="0"/>
          <a:chOff x="0" y="0"/>
          <a:chExt cx="0" cy="0"/>
        </a:xfrm>
      </p:grpSpPr>
      <p:sp>
        <p:nvSpPr>
          <p:cNvPr id="129" name="Google Shape;129;p5"/>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eo"/>
              <a:ea typeface="Geo"/>
              <a:cs typeface="Geo"/>
              <a:sym typeface="Geo"/>
            </a:endParaRPr>
          </a:p>
        </p:txBody>
      </p:sp>
      <p:pic>
        <p:nvPicPr>
          <p:cNvPr descr="A close-up of triangles&#10;&#10;Description automatically generated" id="130" name="Google Shape;130;p5"/>
          <p:cNvPicPr preferRelativeResize="0"/>
          <p:nvPr/>
        </p:nvPicPr>
        <p:blipFill rotWithShape="1">
          <a:blip r:embed="rId3">
            <a:alphaModFix amt="50000"/>
          </a:blip>
          <a:srcRect b="7455" l="0" r="0" t="8275"/>
          <a:stretch/>
        </p:blipFill>
        <p:spPr>
          <a:xfrm>
            <a:off x="20" y="1"/>
            <a:ext cx="12191980" cy="6857999"/>
          </a:xfrm>
          <a:prstGeom prst="rect">
            <a:avLst/>
          </a:prstGeom>
          <a:solidFill>
            <a:srgbClr val="FFC000"/>
          </a:solidFill>
          <a:ln>
            <a:noFill/>
          </a:ln>
        </p:spPr>
      </p:pic>
      <p:sp>
        <p:nvSpPr>
          <p:cNvPr id="131" name="Google Shape;131;p5"/>
          <p:cNvSpPr txBox="1"/>
          <p:nvPr>
            <p:ph type="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DETAILED ANALYSIS OF CURRENT CHALLENGES</a:t>
            </a: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31"/>
                                        </p:tgtEl>
                                        <p:attrNameLst>
                                          <p:attrName>style.visibility</p:attrName>
                                        </p:attrNameLst>
                                      </p:cBhvr>
                                      <p:to>
                                        <p:strVal val="visible"/>
                                      </p:to>
                                    </p:set>
                                    <p:animEffect filter="fade" transition="in">
                                      <p:cBhvr>
                                        <p:cTn dur="4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ph type="title"/>
          </p:nvPr>
        </p:nvSpPr>
        <p:spPr>
          <a:xfrm>
            <a:off x="0" y="18255"/>
            <a:ext cx="12192000" cy="1325563"/>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PROBLEM STATEMENT</a:t>
            </a:r>
            <a:endParaRPr/>
          </a:p>
        </p:txBody>
      </p:sp>
      <p:sp>
        <p:nvSpPr>
          <p:cNvPr id="137" name="Google Shape;13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1155CC"/>
              </a:buClr>
              <a:buSzPts val="2800"/>
              <a:buNone/>
            </a:pPr>
            <a:r>
              <a:rPr b="0" i="0" lang="en-US" sz="2800" u="sng" strike="noStrike">
                <a:solidFill>
                  <a:srgbClr val="1155CC"/>
                </a:solidFill>
                <a:hlinkClick r:id="rId3">
                  <a:extLst>
                    <a:ext uri="{A12FA001-AC4F-418D-AE19-62706E023703}">
                      <ahyp:hlinkClr val="tx"/>
                    </a:ext>
                  </a:extLst>
                </a:hlinkClick>
              </a:rPr>
              <a:t>Rapido</a:t>
            </a:r>
            <a:r>
              <a:rPr b="0" i="0" lang="en-US" sz="2800" u="none" strike="noStrike">
                <a:solidFill>
                  <a:srgbClr val="000000"/>
                </a:solidFill>
              </a:rPr>
              <a:t> is a ride hailing service which primarily operates as a bike taxi aggregator. Its offerings also include </a:t>
            </a:r>
            <a:r>
              <a:rPr b="0" i="0" lang="en-US" sz="2800" u="sng" strike="noStrike">
                <a:solidFill>
                  <a:srgbClr val="000000"/>
                </a:solidFill>
                <a:hlinkClick r:id="rId4">
                  <a:extLst>
                    <a:ext uri="{A12FA001-AC4F-418D-AE19-62706E023703}">
                      <ahyp:hlinkClr val="tx"/>
                    </a:ext>
                  </a:extLst>
                </a:hlinkClick>
              </a:rPr>
              <a:t>auto rickshaw</a:t>
            </a:r>
            <a:r>
              <a:rPr b="0" i="0" lang="en-US" sz="2800" u="none" strike="noStrike">
                <a:solidFill>
                  <a:srgbClr val="000000"/>
                </a:solidFill>
              </a:rPr>
              <a:t> and </a:t>
            </a:r>
            <a:r>
              <a:rPr b="0" i="0" lang="en-US" sz="2800" u="sng" strike="noStrike">
                <a:solidFill>
                  <a:srgbClr val="000000"/>
                </a:solidFill>
                <a:hlinkClick r:id="rId5">
                  <a:extLst>
                    <a:ext uri="{A12FA001-AC4F-418D-AE19-62706E023703}">
                      <ahyp:hlinkClr val="tx"/>
                    </a:ext>
                  </a:extLst>
                </a:hlinkClick>
              </a:rPr>
              <a:t>taxicab</a:t>
            </a:r>
            <a:r>
              <a:rPr b="0" i="0" lang="en-US" sz="2800" u="none" strike="noStrike">
                <a:solidFill>
                  <a:srgbClr val="000000"/>
                </a:solidFill>
              </a:rPr>
              <a:t> hailing, </a:t>
            </a:r>
            <a:r>
              <a:rPr b="0" i="0" lang="en-US" sz="2800" u="sng" strike="noStrike">
                <a:solidFill>
                  <a:srgbClr val="000000"/>
                </a:solidFill>
                <a:hlinkClick r:id="rId6">
                  <a:extLst>
                    <a:ext uri="{A12FA001-AC4F-418D-AE19-62706E023703}">
                      <ahyp:hlinkClr val="tx"/>
                    </a:ext>
                  </a:extLst>
                </a:hlinkClick>
              </a:rPr>
              <a:t>parcel delivery</a:t>
            </a:r>
            <a:r>
              <a:rPr b="0" i="0" lang="en-US" sz="2800" u="none" strike="noStrike">
                <a:solidFill>
                  <a:srgbClr val="000000"/>
                </a:solidFill>
              </a:rPr>
              <a:t>, and </a:t>
            </a:r>
            <a:r>
              <a:rPr b="0" i="0" lang="en-US" sz="2800" u="sng" strike="noStrike">
                <a:solidFill>
                  <a:srgbClr val="000000"/>
                </a:solidFill>
                <a:hlinkClick r:id="rId7">
                  <a:extLst>
                    <a:ext uri="{A12FA001-AC4F-418D-AE19-62706E023703}">
                      <ahyp:hlinkClr val="tx"/>
                    </a:ext>
                  </a:extLst>
                </a:hlinkClick>
              </a:rPr>
              <a:t>third-party logistics</a:t>
            </a:r>
            <a:r>
              <a:rPr b="0" i="0" lang="en-US" sz="2800" u="none" strike="noStrike">
                <a:solidFill>
                  <a:srgbClr val="000000"/>
                </a:solidFill>
              </a:rPr>
              <a:t> services </a:t>
            </a:r>
            <a:r>
              <a:rPr b="0" baseline="30000" i="0" lang="en-US" sz="2800" u="none" strike="noStrike">
                <a:solidFill>
                  <a:srgbClr val="000000"/>
                </a:solidFill>
              </a:rPr>
              <a:t>[</a:t>
            </a:r>
            <a:r>
              <a:rPr b="0" baseline="30000" i="0" lang="en-US" sz="2800" u="sng" strike="noStrike">
                <a:solidFill>
                  <a:srgbClr val="1155CC"/>
                </a:solidFill>
                <a:hlinkClick r:id="rId8">
                  <a:extLst>
                    <a:ext uri="{A12FA001-AC4F-418D-AE19-62706E023703}">
                      <ahyp:hlinkClr val="tx"/>
                    </a:ext>
                  </a:extLst>
                </a:hlinkClick>
              </a:rPr>
              <a:t>1</a:t>
            </a:r>
            <a:r>
              <a:rPr b="0" baseline="30000" i="0" lang="en-US" sz="2800" u="none" strike="noStrike">
                <a:solidFill>
                  <a:srgbClr val="000000"/>
                </a:solidFill>
              </a:rPr>
              <a:t>]</a:t>
            </a:r>
            <a:r>
              <a:rPr b="0" i="0" lang="en-US" sz="2800" u="none" strike="noStrike">
                <a:solidFill>
                  <a:srgbClr val="000000"/>
                </a:solidFill>
              </a:rPr>
              <a:t>. Rapido expanded into the cab market where giants Uber and its homegrown competitor Ola dominate, and is also looking to integrate intercity bus ticket booking </a:t>
            </a:r>
            <a:r>
              <a:rPr b="0" baseline="30000" i="0" lang="en-US" sz="2800" u="none" strike="noStrike">
                <a:solidFill>
                  <a:srgbClr val="000000"/>
                </a:solidFill>
              </a:rPr>
              <a:t>[</a:t>
            </a:r>
            <a:r>
              <a:rPr b="0" baseline="30000" i="0" lang="en-US" sz="2800" u="sng" strike="noStrike">
                <a:solidFill>
                  <a:srgbClr val="1155CC"/>
                </a:solidFill>
                <a:hlinkClick r:id="rId9">
                  <a:extLst>
                    <a:ext uri="{A12FA001-AC4F-418D-AE19-62706E023703}">
                      <ahyp:hlinkClr val="tx"/>
                    </a:ext>
                  </a:extLst>
                </a:hlinkClick>
              </a:rPr>
              <a:t>2</a:t>
            </a:r>
            <a:r>
              <a:rPr b="0" baseline="30000" i="0" lang="en-US" sz="2800" u="none" strike="noStrike">
                <a:solidFill>
                  <a:srgbClr val="000000"/>
                </a:solidFill>
              </a:rPr>
              <a:t>]</a:t>
            </a:r>
            <a:r>
              <a:rPr b="0" i="0" lang="en-US" sz="2800" u="none" strike="noStrike">
                <a:solidFill>
                  <a:srgbClr val="000000"/>
                </a:solidFill>
              </a:rPr>
              <a:t>. The bike taxi industry is plagued by unclear regulations in various states of India and recently 100s of bike taxis were seized in Bangalore in response to protests from auto unions </a:t>
            </a:r>
            <a:r>
              <a:rPr b="0" baseline="30000" i="0" lang="en-US" sz="2800" u="none" strike="noStrike">
                <a:solidFill>
                  <a:srgbClr val="000000"/>
                </a:solidFill>
              </a:rPr>
              <a:t>[</a:t>
            </a:r>
            <a:r>
              <a:rPr b="0" baseline="30000" i="0" lang="en-US" sz="2800" u="sng" strike="noStrike">
                <a:solidFill>
                  <a:srgbClr val="1155CC"/>
                </a:solidFill>
                <a:hlinkClick r:id="rId10">
                  <a:extLst>
                    <a:ext uri="{A12FA001-AC4F-418D-AE19-62706E023703}">
                      <ahyp:hlinkClr val="tx"/>
                    </a:ext>
                  </a:extLst>
                </a:hlinkClick>
              </a:rPr>
              <a:t>3</a:t>
            </a:r>
            <a:r>
              <a:rPr b="0" baseline="30000" i="0" lang="en-US" sz="2800" u="none" strike="noStrike">
                <a:solidFill>
                  <a:srgbClr val="000000"/>
                </a:solidFill>
              </a:rPr>
              <a:t>]</a:t>
            </a:r>
            <a:r>
              <a:rPr b="0" i="0" lang="en-US" sz="2800" u="none" strike="noStrike">
                <a:solidFill>
                  <a:srgbClr val="000000"/>
                </a:solidFill>
              </a:rPr>
              <a:t>. Assuming you are the Product Head at Rapido, create a winning strategy for navigating the complex landscape, and use it to define three key new features for the product.</a:t>
            </a:r>
            <a:endParaRPr b="0"/>
          </a:p>
          <a:p>
            <a:pPr indent="-50800" lvl="0" marL="228600" rtl="0" algn="l">
              <a:lnSpc>
                <a:spcPct val="90000"/>
              </a:lnSpc>
              <a:spcBef>
                <a:spcPts val="1000"/>
              </a:spcBef>
              <a:spcAft>
                <a:spcPts val="0"/>
              </a:spcAft>
              <a:buClr>
                <a:schemeClr val="dk1"/>
              </a:buClr>
              <a:buSzPts val="2800"/>
              <a:buNone/>
            </a:pPr>
            <a:r>
              <a:t/>
            </a:r>
            <a:endParaRPr/>
          </a:p>
        </p:txBody>
      </p:sp>
      <p:sp>
        <p:nvSpPr>
          <p:cNvPr id="138" name="Google Shape;138;p6"/>
          <p:cNvSpPr txBox="1"/>
          <p:nvPr/>
        </p:nvSpPr>
        <p:spPr>
          <a:xfrm>
            <a:off x="584616" y="1301594"/>
            <a:ext cx="855563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b="0" i="0" lang="en-US" sz="1800" u="none" cap="none" strike="noStrike">
                <a:solidFill>
                  <a:schemeClr val="dk1"/>
                </a:solidFill>
                <a:latin typeface="Geo"/>
                <a:ea typeface="Geo"/>
                <a:cs typeface="Geo"/>
                <a:sym typeface="Geo"/>
              </a:rPr>
            </a:br>
            <a:endParaRPr sz="1800">
              <a:solidFill>
                <a:schemeClr val="dk1"/>
              </a:solidFill>
              <a:latin typeface="Geo"/>
              <a:ea typeface="Geo"/>
              <a:cs typeface="Geo"/>
              <a:sym typeface="Ge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7"/>
          <p:cNvSpPr txBox="1"/>
          <p:nvPr>
            <p:ph type="title"/>
          </p:nvPr>
        </p:nvSpPr>
        <p:spPr>
          <a:xfrm>
            <a:off x="0" y="51450"/>
            <a:ext cx="12192000" cy="769441"/>
          </a:xfrm>
          <a:prstGeom prst="rect">
            <a:avLst/>
          </a:prstGeom>
          <a:solidFill>
            <a:srgbClr val="FFC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ADLaM Display"/>
              <a:buNone/>
            </a:pPr>
            <a:r>
              <a:rPr lang="en-US"/>
              <a:t>Industry Analysis: Current Challenges</a:t>
            </a:r>
            <a:endParaRPr b="0" i="0" u="none" cap="none" strike="noStrike">
              <a:solidFill>
                <a:schemeClr val="dk1"/>
              </a:solidFill>
            </a:endParaRPr>
          </a:p>
        </p:txBody>
      </p:sp>
      <p:sp>
        <p:nvSpPr>
          <p:cNvPr id="144" name="Google Shape;144;p7"/>
          <p:cNvSpPr txBox="1"/>
          <p:nvPr>
            <p:ph idx="1" type="body"/>
          </p:nvPr>
        </p:nvSpPr>
        <p:spPr>
          <a:xfrm>
            <a:off x="0" y="820891"/>
            <a:ext cx="12192000" cy="598565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Rapido, while being a pioneer in the bike taxi industry, faces several significant challenges that impact its operations and growth. These challenges span regulatory, market, and operational aspects, creating a complex environment that requires strategic solutions.</a:t>
            </a:r>
            <a:endParaRPr/>
          </a:p>
          <a:p>
            <a:pPr indent="0" lvl="0" marL="0" rtl="0" algn="l">
              <a:lnSpc>
                <a:spcPct val="90000"/>
              </a:lnSpc>
              <a:spcBef>
                <a:spcPts val="1000"/>
              </a:spcBef>
              <a:spcAft>
                <a:spcPts val="0"/>
              </a:spcAft>
              <a:buClr>
                <a:schemeClr val="dk1"/>
              </a:buClr>
              <a:buSzPts val="2800"/>
              <a:buNone/>
            </a:pPr>
            <a:r>
              <a:rPr b="1" lang="en-US"/>
              <a:t>Breaking Down Regulatory and Market Complexities</a:t>
            </a:r>
            <a:endParaRPr/>
          </a:p>
          <a:p>
            <a:pPr indent="-228600" lvl="0" marL="228600" rtl="0" algn="l">
              <a:lnSpc>
                <a:spcPct val="90000"/>
              </a:lnSpc>
              <a:spcBef>
                <a:spcPts val="1000"/>
              </a:spcBef>
              <a:spcAft>
                <a:spcPts val="0"/>
              </a:spcAft>
              <a:buClr>
                <a:schemeClr val="dk1"/>
              </a:buClr>
              <a:buSzPts val="2400"/>
              <a:buFont typeface="Noto Sans Symbols"/>
              <a:buChar char="▪"/>
            </a:pPr>
            <a:r>
              <a:rPr b="1" lang="en-US" sz="2400"/>
              <a:t>Regulatory Challenges :</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Varying state regulations create legal uncertainties and enforcement issues..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Differences in legal status across states complicate compliance efforts</a:t>
            </a:r>
            <a:endParaRPr/>
          </a:p>
          <a:p>
            <a:pPr indent="-228600" lvl="0" marL="228600" rtl="0" algn="l">
              <a:lnSpc>
                <a:spcPct val="90000"/>
              </a:lnSpc>
              <a:spcBef>
                <a:spcPts val="1000"/>
              </a:spcBef>
              <a:spcAft>
                <a:spcPts val="0"/>
              </a:spcAft>
              <a:buClr>
                <a:schemeClr val="dk1"/>
              </a:buClr>
              <a:buSzPts val="2800"/>
              <a:buFont typeface="Noto Sans Symbols"/>
              <a:buChar char="▪"/>
            </a:pPr>
            <a:r>
              <a:rPr b="1" lang="en-US"/>
              <a:t>Market Complexities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Intense competition from Uber, Ola, and local services.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User trust and safety concerns due to commercial use of private vehicles.</a:t>
            </a:r>
            <a:endParaRPr/>
          </a:p>
          <a:p>
            <a:pPr indent="-228600" lvl="0" marL="228600" rtl="0" algn="l">
              <a:lnSpc>
                <a:spcPct val="90000"/>
              </a:lnSpc>
              <a:spcBef>
                <a:spcPts val="1000"/>
              </a:spcBef>
              <a:spcAft>
                <a:spcPts val="0"/>
              </a:spcAft>
              <a:buClr>
                <a:schemeClr val="dk1"/>
              </a:buClr>
              <a:buSzPts val="2400"/>
              <a:buFont typeface="Noto Sans Symbols"/>
              <a:buChar char="▪"/>
            </a:pPr>
            <a:r>
              <a:rPr b="1" lang="en-US" sz="2400"/>
              <a:t>Operational Challenges</a:t>
            </a:r>
            <a:endParaRPr sz="2400"/>
          </a:p>
          <a:p>
            <a:pPr indent="-228600" lvl="1" marL="685800" rtl="0" algn="l">
              <a:lnSpc>
                <a:spcPct val="90000"/>
              </a:lnSpc>
              <a:spcBef>
                <a:spcPts val="500"/>
              </a:spcBef>
              <a:spcAft>
                <a:spcPts val="0"/>
              </a:spcAft>
              <a:buClr>
                <a:schemeClr val="dk1"/>
              </a:buClr>
              <a:buSzPts val="2400"/>
              <a:buFont typeface="Noto Sans Symbols"/>
              <a:buChar char="▪"/>
            </a:pPr>
            <a:r>
              <a:rPr lang="en-US"/>
              <a:t>Ensuring that drivers adhere to regulations and maintain valid licenses and insurance.</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Maintaining consistent and reliable service amid regulatory and market pressures.</a:t>
            </a:r>
            <a:endParaRPr/>
          </a:p>
          <a:p>
            <a:pPr indent="0" lvl="0" marL="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8" name="Shape 148"/>
        <p:cNvGrpSpPr/>
        <p:nvPr/>
      </p:nvGrpSpPr>
      <p:grpSpPr>
        <a:xfrm>
          <a:off x="0" y="0"/>
          <a:ext cx="0" cy="0"/>
          <a:chOff x="0" y="0"/>
          <a:chExt cx="0" cy="0"/>
        </a:xfrm>
      </p:grpSpPr>
      <p:sp>
        <p:nvSpPr>
          <p:cNvPr id="149" name="Google Shape;149;p8"/>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close-up of triangles&#10;&#10;Description automatically generated" id="150" name="Google Shape;150;p8"/>
          <p:cNvPicPr preferRelativeResize="0"/>
          <p:nvPr/>
        </p:nvPicPr>
        <p:blipFill rotWithShape="1">
          <a:blip r:embed="rId3">
            <a:alphaModFix amt="50000"/>
          </a:blip>
          <a:srcRect b="7455" l="0" r="0" t="8275"/>
          <a:stretch/>
        </p:blipFill>
        <p:spPr>
          <a:xfrm>
            <a:off x="20" y="1"/>
            <a:ext cx="12191980" cy="6857999"/>
          </a:xfrm>
          <a:prstGeom prst="rect">
            <a:avLst/>
          </a:prstGeom>
          <a:solidFill>
            <a:srgbClr val="FFC000"/>
          </a:solidFill>
          <a:ln>
            <a:noFill/>
          </a:ln>
        </p:spPr>
      </p:pic>
      <p:sp>
        <p:nvSpPr>
          <p:cNvPr id="151" name="Google Shape;151;p8"/>
          <p:cNvSpPr txBox="1"/>
          <p:nvPr>
            <p:ph type="title"/>
          </p:nvPr>
        </p:nvSpPr>
        <p:spPr>
          <a:xfrm>
            <a:off x="1524000" y="1978740"/>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MARKET AND USER RESEARCH</a:t>
            </a:r>
            <a:br>
              <a:rPr lang="en-US" sz="6000"/>
            </a:b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51"/>
                                        </p:tgtEl>
                                        <p:attrNameLst>
                                          <p:attrName>style.visibility</p:attrName>
                                        </p:attrNameLst>
                                      </p:cBhvr>
                                      <p:to>
                                        <p:strVal val="visible"/>
                                      </p:to>
                                    </p:set>
                                    <p:animEffect filter="fade" transition="in">
                                      <p:cBhvr>
                                        <p:cTn dur="4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1" y="1"/>
            <a:ext cx="11947161" cy="1034320"/>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Market Analysis</a:t>
            </a:r>
            <a:endParaRPr/>
          </a:p>
        </p:txBody>
      </p:sp>
      <p:sp>
        <p:nvSpPr>
          <p:cNvPr id="157" name="Google Shape;157;p9"/>
          <p:cNvSpPr txBox="1"/>
          <p:nvPr>
            <p:ph idx="1" type="body"/>
          </p:nvPr>
        </p:nvSpPr>
        <p:spPr>
          <a:xfrm>
            <a:off x="-1" y="1169233"/>
            <a:ext cx="11782269" cy="64607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b="1" i="0" lang="en-US"/>
              <a:t>Market Growth Drivers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Urbanization &amp; Traffic Congestion: Increasing urban population and traffic congestion drive demand for efficient transportation.</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Affordable &amp; Convenient: Rising need for cost-effective and quick travel options.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Smartphone Penetration: Easy booking and payment through widespread smartphone use.</a:t>
            </a:r>
            <a:endParaRPr/>
          </a:p>
          <a:p>
            <a:pPr indent="-228600" lvl="0" marL="228600" rtl="0" algn="l">
              <a:lnSpc>
                <a:spcPct val="90000"/>
              </a:lnSpc>
              <a:spcBef>
                <a:spcPts val="1000"/>
              </a:spcBef>
              <a:spcAft>
                <a:spcPts val="0"/>
              </a:spcAft>
              <a:buClr>
                <a:schemeClr val="dk1"/>
              </a:buClr>
              <a:buSzPts val="2800"/>
              <a:buFont typeface="Noto Sans Symbols"/>
              <a:buChar char="▪"/>
            </a:pPr>
            <a:r>
              <a:rPr b="1" lang="en-US"/>
              <a:t>Market Opportunities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Technological Advancements: AI, GPS tracking, and real-time monitoring to enhance user experience.</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Sustainable Transportation: Shift towards electric vehicles (EVs) for eco-friendly options.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Market Expansion: Growth potential in Tier 2 and Tier 3 cities</a:t>
            </a:r>
            <a:endParaRPr/>
          </a:p>
          <a:p>
            <a:pPr indent="-228600" lvl="0" marL="228600" rtl="0" algn="l">
              <a:lnSpc>
                <a:spcPct val="90000"/>
              </a:lnSpc>
              <a:spcBef>
                <a:spcPts val="1000"/>
              </a:spcBef>
              <a:spcAft>
                <a:spcPts val="0"/>
              </a:spcAft>
              <a:buClr>
                <a:schemeClr val="dk1"/>
              </a:buClr>
              <a:buSzPts val="2800"/>
              <a:buFont typeface="Noto Sans Symbols"/>
              <a:buChar char="▪"/>
            </a:pPr>
            <a:r>
              <a:rPr b="0" i="0" lang="en-US">
                <a:latin typeface="Arial"/>
                <a:ea typeface="Arial"/>
                <a:cs typeface="Arial"/>
                <a:sym typeface="Arial"/>
              </a:rPr>
              <a:t> </a:t>
            </a:r>
            <a:r>
              <a:rPr b="1" i="0" lang="en-US"/>
              <a:t>Market Size:</a:t>
            </a:r>
            <a:endParaRPr/>
          </a:p>
          <a:p>
            <a:pPr indent="-228600" lvl="1" marL="685800" rtl="0" algn="l">
              <a:lnSpc>
                <a:spcPct val="90000"/>
              </a:lnSpc>
              <a:spcBef>
                <a:spcPts val="500"/>
              </a:spcBef>
              <a:spcAft>
                <a:spcPts val="0"/>
              </a:spcAft>
              <a:buClr>
                <a:schemeClr val="dk1"/>
              </a:buClr>
              <a:buSzPts val="2400"/>
              <a:buFont typeface="Noto Sans Symbols"/>
              <a:buChar char="▪"/>
            </a:pPr>
            <a:r>
              <a:rPr b="0" i="0" lang="en-US"/>
              <a:t> Expected to reach $1,478M by 2030, growing at a CAGR of 48.5%</a:t>
            </a:r>
            <a:endParaRPr/>
          </a:p>
          <a:p>
            <a:pPr indent="-76200" lvl="1" marL="685800" rtl="0" algn="l">
              <a:lnSpc>
                <a:spcPct val="90000"/>
              </a:lnSpc>
              <a:spcBef>
                <a:spcPts val="500"/>
              </a:spcBef>
              <a:spcAft>
                <a:spcPts val="0"/>
              </a:spcAft>
              <a:buClr>
                <a:schemeClr val="dk1"/>
              </a:buClr>
              <a:buSzPts val="2400"/>
              <a:buFont typeface="Noto Sans Symbols"/>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0" y="18255"/>
            <a:ext cx="12192000" cy="1325563"/>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Key Insights From Market Research</a:t>
            </a:r>
            <a:endParaRPr/>
          </a:p>
        </p:txBody>
      </p:sp>
      <p:grpSp>
        <p:nvGrpSpPr>
          <p:cNvPr id="163" name="Google Shape;163;p10"/>
          <p:cNvGrpSpPr/>
          <p:nvPr/>
        </p:nvGrpSpPr>
        <p:grpSpPr>
          <a:xfrm>
            <a:off x="-7254672" y="131070"/>
            <a:ext cx="19247507" cy="8432154"/>
            <a:chOff x="-7089780" y="-1083132"/>
            <a:chExt cx="19247507" cy="8432154"/>
          </a:xfrm>
        </p:grpSpPr>
        <p:sp>
          <p:nvSpPr>
            <p:cNvPr id="164" name="Google Shape;164;p10"/>
            <p:cNvSpPr/>
            <p:nvPr/>
          </p:nvSpPr>
          <p:spPr>
            <a:xfrm>
              <a:off x="-7089780" y="-1083132"/>
              <a:ext cx="8432154" cy="8432154"/>
            </a:xfrm>
            <a:prstGeom prst="blockArc">
              <a:avLst>
                <a:gd fmla="val 18900000" name="adj1"/>
                <a:gd fmla="val 2700000" name="adj2"/>
                <a:gd fmla="val 256" name="adj3"/>
              </a:avLst>
            </a:prstGeom>
            <a:noFill/>
            <a:ln cap="flat" cmpd="sng" w="19050">
              <a:solidFill>
                <a:srgbClr val="0D4C67"/>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583738" y="391492"/>
              <a:ext cx="11573988" cy="783486"/>
            </a:xfrm>
            <a:prstGeom prst="rect">
              <a:avLst/>
            </a:prstGeom>
            <a:solidFill>
              <a:srgbClr val="000000"/>
            </a:solidFill>
            <a:ln cap="flat" cmpd="sng" w="1905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txBox="1"/>
            <p:nvPr/>
          </p:nvSpPr>
          <p:spPr>
            <a:xfrm>
              <a:off x="583738" y="391492"/>
              <a:ext cx="11573988" cy="783486"/>
            </a:xfrm>
            <a:prstGeom prst="rect">
              <a:avLst/>
            </a:prstGeom>
            <a:noFill/>
            <a:ln>
              <a:noFill/>
            </a:ln>
          </p:spPr>
          <p:txBody>
            <a:bodyPr anchorCtr="0" anchor="ctr" bIns="149850" lIns="865825" spcFirstLastPara="1" rIns="149850" wrap="square" tIns="149850">
              <a:noAutofit/>
            </a:bodyPr>
            <a:lstStyle/>
            <a:p>
              <a:pPr indent="0" lvl="0" marL="0" marR="0" rtl="0" algn="l">
                <a:lnSpc>
                  <a:spcPct val="90000"/>
                </a:lnSpc>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Urbanization: </a:t>
              </a:r>
              <a:r>
                <a:rPr lang="en-US" sz="2400">
                  <a:solidFill>
                    <a:srgbClr val="FFFFFF"/>
                  </a:solidFill>
                  <a:latin typeface="Arial"/>
                  <a:ea typeface="Arial"/>
                  <a:cs typeface="Arial"/>
                  <a:sym typeface="Arial"/>
                </a:rPr>
                <a:t>Rapid urbanization in India’s Tier I and Tier II cities is driving demand for </a:t>
              </a:r>
              <a:r>
                <a:rPr b="1" lang="en-US" sz="2400">
                  <a:solidFill>
                    <a:schemeClr val="lt1"/>
                  </a:solidFill>
                  <a:latin typeface="Geo"/>
                  <a:ea typeface="Geo"/>
                  <a:cs typeface="Geo"/>
                  <a:sym typeface="Geo"/>
                </a:rPr>
                <a:t>efficient and cost-effective transport lile bike taxis &amp;  ride sharing </a:t>
              </a:r>
              <a:endParaRPr sz="2400">
                <a:solidFill>
                  <a:srgbClr val="FFFFFF"/>
                </a:solidFill>
                <a:latin typeface="Arial"/>
                <a:ea typeface="Arial"/>
                <a:cs typeface="Arial"/>
                <a:sym typeface="Arial"/>
              </a:endParaRPr>
            </a:p>
          </p:txBody>
        </p:sp>
        <p:sp>
          <p:nvSpPr>
            <p:cNvPr id="167" name="Google Shape;167;p10"/>
            <p:cNvSpPr/>
            <p:nvPr/>
          </p:nvSpPr>
          <p:spPr>
            <a:xfrm>
              <a:off x="94059" y="293556"/>
              <a:ext cx="979358" cy="979358"/>
            </a:xfrm>
            <a:prstGeom prst="ellipse">
              <a:avLst/>
            </a:prstGeom>
            <a:solidFill>
              <a:schemeClr val="lt1"/>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1097973" y="1492479"/>
              <a:ext cx="11029634" cy="783486"/>
            </a:xfrm>
            <a:prstGeom prst="rect">
              <a:avLst/>
            </a:prstGeom>
            <a:solidFill>
              <a:srgbClr val="000000"/>
            </a:solidFill>
            <a:ln cap="flat" cmpd="sng" w="1905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txBox="1"/>
            <p:nvPr/>
          </p:nvSpPr>
          <p:spPr>
            <a:xfrm>
              <a:off x="1097973" y="1492479"/>
              <a:ext cx="11029634" cy="783486"/>
            </a:xfrm>
            <a:prstGeom prst="rect">
              <a:avLst/>
            </a:prstGeom>
            <a:noFill/>
            <a:ln>
              <a:noFill/>
            </a:ln>
          </p:spPr>
          <p:txBody>
            <a:bodyPr anchorCtr="0" anchor="ctr" bIns="149850" lIns="865825" spcFirstLastPara="1" rIns="149850" wrap="square" tIns="149850">
              <a:noAutofit/>
            </a:bodyPr>
            <a:lstStyle/>
            <a:p>
              <a:pPr indent="0" lvl="0" marL="0" marR="0" rtl="0" algn="l">
                <a:lnSpc>
                  <a:spcPct val="90000"/>
                </a:lnSpc>
                <a:spcBef>
                  <a:spcPts val="0"/>
                </a:spcBef>
                <a:spcAft>
                  <a:spcPts val="0"/>
                </a:spcAft>
                <a:buClr>
                  <a:srgbClr val="FFFFFF"/>
                </a:buClr>
                <a:buSzPts val="2400"/>
                <a:buFont typeface="Arial"/>
                <a:buNone/>
              </a:pPr>
              <a:r>
                <a:rPr b="1" lang="en-US" sz="2400">
                  <a:solidFill>
                    <a:srgbClr val="FFFFFF"/>
                  </a:solidFill>
                  <a:latin typeface="Arial"/>
                  <a:ea typeface="Arial"/>
                  <a:cs typeface="Arial"/>
                  <a:sym typeface="Arial"/>
                </a:rPr>
                <a:t>Target Market:</a:t>
              </a:r>
              <a:r>
                <a:rPr lang="en-US" sz="2400">
                  <a:solidFill>
                    <a:srgbClr val="FFFFFF"/>
                  </a:solidFill>
                  <a:latin typeface="Arial"/>
                  <a:ea typeface="Arial"/>
                  <a:cs typeface="Arial"/>
                  <a:sym typeface="Arial"/>
                </a:rPr>
                <a:t>Rapido primarily serves urban professionals </a:t>
              </a:r>
              <a:r>
                <a:rPr b="1" lang="en-US" sz="2400">
                  <a:solidFill>
                    <a:srgbClr val="FFFFFF"/>
                  </a:solidFill>
                  <a:latin typeface="Arial"/>
                  <a:ea typeface="Arial"/>
                  <a:cs typeface="Arial"/>
                  <a:sym typeface="Arial"/>
                </a:rPr>
                <a:t>aged 20-40 </a:t>
              </a:r>
              <a:r>
                <a:rPr lang="en-US" sz="2400">
                  <a:solidFill>
                    <a:srgbClr val="FFFFFF"/>
                  </a:solidFill>
                  <a:latin typeface="Arial"/>
                  <a:ea typeface="Arial"/>
                  <a:cs typeface="Arial"/>
                  <a:sym typeface="Arial"/>
                </a:rPr>
                <a:t>who value affordability, convenience, and the ability to navigate traffic quickly.</a:t>
              </a:r>
              <a:endParaRPr sz="2400">
                <a:solidFill>
                  <a:srgbClr val="FFFFFF"/>
                </a:solidFill>
                <a:latin typeface="Arial"/>
                <a:ea typeface="Arial"/>
                <a:cs typeface="Arial"/>
                <a:sym typeface="Arial"/>
              </a:endParaRPr>
            </a:p>
          </p:txBody>
        </p:sp>
        <p:sp>
          <p:nvSpPr>
            <p:cNvPr id="170" name="Google Shape;170;p10"/>
            <p:cNvSpPr/>
            <p:nvPr/>
          </p:nvSpPr>
          <p:spPr>
            <a:xfrm>
              <a:off x="655483" y="1468411"/>
              <a:ext cx="979358" cy="979358"/>
            </a:xfrm>
            <a:prstGeom prst="ellipse">
              <a:avLst/>
            </a:prstGeom>
            <a:solidFill>
              <a:schemeClr val="lt1"/>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1317474" y="2741201"/>
              <a:ext cx="10840253" cy="783486"/>
            </a:xfrm>
            <a:prstGeom prst="rect">
              <a:avLst/>
            </a:prstGeom>
            <a:solidFill>
              <a:schemeClr val="dk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0"/>
            <p:cNvSpPr txBox="1"/>
            <p:nvPr/>
          </p:nvSpPr>
          <p:spPr>
            <a:xfrm>
              <a:off x="1317474" y="2741201"/>
              <a:ext cx="10840253" cy="783486"/>
            </a:xfrm>
            <a:prstGeom prst="rect">
              <a:avLst/>
            </a:prstGeom>
            <a:noFill/>
            <a:ln>
              <a:noFill/>
            </a:ln>
          </p:spPr>
          <p:txBody>
            <a:bodyPr anchorCtr="0" anchor="ctr" bIns="60950" lIns="621875" spcFirstLastPara="1" rIns="60950" wrap="square" tIns="60950">
              <a:noAutofit/>
            </a:bodyPr>
            <a:lstStyle/>
            <a:p>
              <a:pPr indent="0" lvl="0" marL="0" marR="0" rtl="0" algn="l">
                <a:lnSpc>
                  <a:spcPct val="90000"/>
                </a:lnSpc>
                <a:spcBef>
                  <a:spcPts val="0"/>
                </a:spcBef>
                <a:spcAft>
                  <a:spcPts val="0"/>
                </a:spcAft>
                <a:buClr>
                  <a:srgbClr val="FFFFFF"/>
                </a:buClr>
                <a:buSzPts val="2400"/>
                <a:buFont typeface="Arial"/>
                <a:buNone/>
              </a:pPr>
              <a:r>
                <a:rPr lang="en-US" sz="2400">
                  <a:solidFill>
                    <a:srgbClr val="FFFFFF"/>
                  </a:solidFill>
                  <a:latin typeface="Arial"/>
                  <a:ea typeface="Arial"/>
                  <a:cs typeface="Arial"/>
                  <a:sym typeface="Arial"/>
                </a:rPr>
                <a:t>Safety Conscious Riders: A growing segment includes women who prioritize safe &amp; reliable ride sharing over traditional public transports.</a:t>
              </a:r>
              <a:endParaRPr/>
            </a:p>
          </p:txBody>
        </p:sp>
        <p:sp>
          <p:nvSpPr>
            <p:cNvPr id="173" name="Google Shape;173;p10"/>
            <p:cNvSpPr/>
            <p:nvPr/>
          </p:nvSpPr>
          <p:spPr>
            <a:xfrm>
              <a:off x="827795" y="2643265"/>
              <a:ext cx="979358" cy="979358"/>
            </a:xfrm>
            <a:prstGeom prst="ellipse">
              <a:avLst/>
            </a:prstGeom>
            <a:solidFill>
              <a:schemeClr val="lt1"/>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p:nvPr/>
          </p:nvSpPr>
          <p:spPr>
            <a:xfrm>
              <a:off x="1145162" y="3916055"/>
              <a:ext cx="11012565" cy="783486"/>
            </a:xfrm>
            <a:prstGeom prst="rect">
              <a:avLst/>
            </a:prstGeom>
            <a:solidFill>
              <a:schemeClr val="dk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txBox="1"/>
            <p:nvPr/>
          </p:nvSpPr>
          <p:spPr>
            <a:xfrm>
              <a:off x="1145162" y="3916055"/>
              <a:ext cx="11012565" cy="783486"/>
            </a:xfrm>
            <a:prstGeom prst="rect">
              <a:avLst/>
            </a:prstGeom>
            <a:noFill/>
            <a:ln>
              <a:noFill/>
            </a:ln>
          </p:spPr>
          <p:txBody>
            <a:bodyPr anchorCtr="0" anchor="ctr" bIns="50800" lIns="621875" spcFirstLastPara="1" rIns="50800" wrap="square" tIns="50800">
              <a:noAutofit/>
            </a:bodyPr>
            <a:lstStyle/>
            <a:p>
              <a:pPr indent="0" lvl="0" marL="0" marR="0" rtl="0" algn="l">
                <a:lnSpc>
                  <a:spcPct val="90000"/>
                </a:lnSpc>
                <a:spcBef>
                  <a:spcPts val="0"/>
                </a:spcBef>
                <a:spcAft>
                  <a:spcPts val="0"/>
                </a:spcAft>
                <a:buClr>
                  <a:schemeClr val="lt1"/>
                </a:buClr>
                <a:buSzPts val="2000"/>
                <a:buFont typeface="Geo"/>
                <a:buNone/>
              </a:pPr>
              <a:r>
                <a:rPr lang="en-US" sz="2000">
                  <a:solidFill>
                    <a:schemeClr val="lt1"/>
                  </a:solidFill>
                  <a:latin typeface="Geo"/>
                  <a:ea typeface="Geo"/>
                  <a:cs typeface="Geo"/>
                  <a:sym typeface="Geo"/>
                </a:rPr>
                <a:t>Trends: Users prefer on-demand transport that offers guaranteed booking especially in crowded areas during peak hours where they have observed frequent cancellations &amp; surge in prices,</a:t>
              </a:r>
              <a:endParaRPr/>
            </a:p>
          </p:txBody>
        </p:sp>
        <p:sp>
          <p:nvSpPr>
            <p:cNvPr id="176" name="Google Shape;176;p10"/>
            <p:cNvSpPr/>
            <p:nvPr/>
          </p:nvSpPr>
          <p:spPr>
            <a:xfrm>
              <a:off x="625847" y="3818119"/>
              <a:ext cx="979358" cy="979358"/>
            </a:xfrm>
            <a:prstGeom prst="ellipse">
              <a:avLst/>
            </a:prstGeom>
            <a:solidFill>
              <a:schemeClr val="lt1"/>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583738" y="5090909"/>
              <a:ext cx="11573988" cy="783486"/>
            </a:xfrm>
            <a:prstGeom prst="rect">
              <a:avLst/>
            </a:prstGeom>
            <a:solidFill>
              <a:schemeClr val="dk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txBox="1"/>
            <p:nvPr/>
          </p:nvSpPr>
          <p:spPr>
            <a:xfrm>
              <a:off x="583738" y="5090909"/>
              <a:ext cx="11573988" cy="783486"/>
            </a:xfrm>
            <a:prstGeom prst="rect">
              <a:avLst/>
            </a:prstGeom>
            <a:noFill/>
            <a:ln>
              <a:noFill/>
            </a:ln>
          </p:spPr>
          <p:txBody>
            <a:bodyPr anchorCtr="0" anchor="ctr" bIns="50800" lIns="621875" spcFirstLastPara="1" rIns="50800" wrap="square" tIns="50800">
              <a:noAutofit/>
            </a:bodyPr>
            <a:lstStyle/>
            <a:p>
              <a:pPr indent="0" lvl="0" marL="0" marR="0" rtl="0" algn="l">
                <a:lnSpc>
                  <a:spcPct val="90000"/>
                </a:lnSpc>
                <a:spcBef>
                  <a:spcPts val="0"/>
                </a:spcBef>
                <a:spcAft>
                  <a:spcPts val="0"/>
                </a:spcAft>
                <a:buClr>
                  <a:schemeClr val="lt1"/>
                </a:buClr>
                <a:buSzPts val="2000"/>
                <a:buFont typeface="Geo"/>
                <a:buNone/>
              </a:pPr>
              <a:r>
                <a:rPr lang="en-US" sz="2000">
                  <a:solidFill>
                    <a:schemeClr val="lt1"/>
                  </a:solidFill>
                  <a:latin typeface="Geo"/>
                  <a:ea typeface="Geo"/>
                  <a:cs typeface="Geo"/>
                  <a:sym typeface="Geo"/>
                </a:rPr>
                <a:t>Technology Integrations: Technologies like AI can be utilized in optimizing routes, improve safety, and enhance user experience for better user adoption and retention.</a:t>
              </a:r>
              <a:endParaRPr/>
            </a:p>
          </p:txBody>
        </p:sp>
        <p:sp>
          <p:nvSpPr>
            <p:cNvPr id="179" name="Google Shape;179;p10"/>
            <p:cNvSpPr/>
            <p:nvPr/>
          </p:nvSpPr>
          <p:spPr>
            <a:xfrm>
              <a:off x="106232" y="5002238"/>
              <a:ext cx="979358" cy="979358"/>
            </a:xfrm>
            <a:prstGeom prst="ellipse">
              <a:avLst/>
            </a:prstGeom>
            <a:solidFill>
              <a:schemeClr val="lt1"/>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City with solid fill" id="180" name="Google Shape;180;p10"/>
          <p:cNvPicPr preferRelativeResize="0"/>
          <p:nvPr/>
        </p:nvPicPr>
        <p:blipFill rotWithShape="1">
          <a:blip r:embed="rId3">
            <a:alphaModFix/>
          </a:blip>
          <a:srcRect b="0" l="0" r="0" t="0"/>
          <a:stretch/>
        </p:blipFill>
        <p:spPr>
          <a:xfrm>
            <a:off x="104934" y="1652670"/>
            <a:ext cx="914400" cy="914400"/>
          </a:xfrm>
          <a:prstGeom prst="rect">
            <a:avLst/>
          </a:prstGeom>
          <a:noFill/>
          <a:ln>
            <a:noFill/>
          </a:ln>
        </p:spPr>
      </p:pic>
      <p:pic>
        <p:nvPicPr>
          <p:cNvPr descr="Target Audience with solid fill" id="181" name="Google Shape;181;p10"/>
          <p:cNvPicPr preferRelativeResize="0"/>
          <p:nvPr/>
        </p:nvPicPr>
        <p:blipFill rotWithShape="1">
          <a:blip r:embed="rId4">
            <a:alphaModFix/>
          </a:blip>
          <a:srcRect b="0" l="0" r="0" t="0"/>
          <a:stretch/>
        </p:blipFill>
        <p:spPr>
          <a:xfrm>
            <a:off x="587115" y="2696118"/>
            <a:ext cx="914400" cy="914400"/>
          </a:xfrm>
          <a:prstGeom prst="rect">
            <a:avLst/>
          </a:prstGeom>
          <a:noFill/>
          <a:ln>
            <a:noFill/>
          </a:ln>
        </p:spPr>
      </p:pic>
      <p:pic>
        <p:nvPicPr>
          <p:cNvPr descr="Statistics with solid fill" id="182" name="Google Shape;182;p10"/>
          <p:cNvPicPr preferRelativeResize="0"/>
          <p:nvPr/>
        </p:nvPicPr>
        <p:blipFill rotWithShape="1">
          <a:blip r:embed="rId5">
            <a:alphaModFix/>
          </a:blip>
          <a:srcRect b="0" l="0" r="0" t="0"/>
          <a:stretch/>
        </p:blipFill>
        <p:spPr>
          <a:xfrm>
            <a:off x="554634" y="5074919"/>
            <a:ext cx="841951" cy="841951"/>
          </a:xfrm>
          <a:prstGeom prst="rect">
            <a:avLst/>
          </a:prstGeom>
          <a:noFill/>
          <a:ln>
            <a:noFill/>
          </a:ln>
        </p:spPr>
      </p:pic>
      <p:pic>
        <p:nvPicPr>
          <p:cNvPr descr="Robot with solid fill" id="183" name="Google Shape;183;p10"/>
          <p:cNvPicPr preferRelativeResize="0"/>
          <p:nvPr/>
        </p:nvPicPr>
        <p:blipFill rotWithShape="1">
          <a:blip r:embed="rId6">
            <a:alphaModFix/>
          </a:blip>
          <a:srcRect b="0" l="0" r="0" t="0"/>
          <a:stretch/>
        </p:blipFill>
        <p:spPr>
          <a:xfrm>
            <a:off x="9998" y="6216294"/>
            <a:ext cx="841951" cy="841951"/>
          </a:xfrm>
          <a:prstGeom prst="rect">
            <a:avLst/>
          </a:prstGeom>
          <a:noFill/>
          <a:ln>
            <a:noFill/>
          </a:ln>
        </p:spPr>
      </p:pic>
      <p:pic>
        <p:nvPicPr>
          <p:cNvPr descr="Shield Tick with solid fill" id="184" name="Google Shape;184;p10"/>
          <p:cNvPicPr preferRelativeResize="0"/>
          <p:nvPr/>
        </p:nvPicPr>
        <p:blipFill rotWithShape="1">
          <a:blip r:embed="rId7">
            <a:alphaModFix/>
          </a:blip>
          <a:srcRect b="0" l="0" r="0" t="0"/>
          <a:stretch/>
        </p:blipFill>
        <p:spPr>
          <a:xfrm>
            <a:off x="692047" y="3851667"/>
            <a:ext cx="914400" cy="914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0" y="18255"/>
            <a:ext cx="12192000" cy="1325563"/>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User Research</a:t>
            </a:r>
            <a:endParaRPr/>
          </a:p>
        </p:txBody>
      </p:sp>
      <p:sp>
        <p:nvSpPr>
          <p:cNvPr id="190" name="Google Shape;190;p11"/>
          <p:cNvSpPr txBox="1"/>
          <p:nvPr>
            <p:ph idx="1" type="body"/>
          </p:nvPr>
        </p:nvSpPr>
        <p:spPr>
          <a:xfrm>
            <a:off x="0" y="1343818"/>
            <a:ext cx="11353800" cy="56213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Objective: </a:t>
            </a:r>
            <a:r>
              <a:rPr lang="en-US"/>
              <a:t>Understand user preferences, pain points, and areas for improvement.</a:t>
            </a:r>
            <a:endParaRPr/>
          </a:p>
          <a:p>
            <a:pPr indent="-228600" lvl="0" marL="228600" rtl="0" algn="l">
              <a:lnSpc>
                <a:spcPct val="90000"/>
              </a:lnSpc>
              <a:spcBef>
                <a:spcPts val="1000"/>
              </a:spcBef>
              <a:spcAft>
                <a:spcPts val="0"/>
              </a:spcAft>
              <a:buClr>
                <a:schemeClr val="dk1"/>
              </a:buClr>
              <a:buSzPts val="2800"/>
              <a:buChar char="•"/>
            </a:pPr>
            <a:r>
              <a:rPr b="1" lang="en-US"/>
              <a:t>Research Methodology:</a:t>
            </a:r>
            <a:endParaRPr/>
          </a:p>
          <a:p>
            <a:pPr indent="-228600" lvl="1" marL="685800" rtl="0" algn="l">
              <a:lnSpc>
                <a:spcPct val="90000"/>
              </a:lnSpc>
              <a:spcBef>
                <a:spcPts val="500"/>
              </a:spcBef>
              <a:spcAft>
                <a:spcPts val="0"/>
              </a:spcAft>
              <a:buClr>
                <a:schemeClr val="dk1"/>
              </a:buClr>
              <a:buSzPts val="2400"/>
              <a:buChar char="•"/>
            </a:pPr>
            <a:r>
              <a:rPr lang="en-US"/>
              <a:t>Surveys: Conducted online surveys with 20+ respondents.</a:t>
            </a:r>
            <a:endParaRPr/>
          </a:p>
          <a:p>
            <a:pPr indent="-228600" lvl="1" marL="685800" rtl="0" algn="l">
              <a:lnSpc>
                <a:spcPct val="90000"/>
              </a:lnSpc>
              <a:spcBef>
                <a:spcPts val="500"/>
              </a:spcBef>
              <a:spcAft>
                <a:spcPts val="0"/>
              </a:spcAft>
              <a:buClr>
                <a:schemeClr val="dk1"/>
              </a:buClr>
              <a:buSzPts val="2400"/>
              <a:buChar char="•"/>
            </a:pPr>
            <a:r>
              <a:rPr lang="en-US"/>
              <a:t>Interviews: In-depth interviews with 10 frequent users.</a:t>
            </a:r>
            <a:endParaRPr/>
          </a:p>
          <a:p>
            <a:pPr indent="-228600" lvl="1" marL="685800" rtl="0" algn="l">
              <a:lnSpc>
                <a:spcPct val="90000"/>
              </a:lnSpc>
              <a:spcBef>
                <a:spcPts val="500"/>
              </a:spcBef>
              <a:spcAft>
                <a:spcPts val="0"/>
              </a:spcAft>
              <a:buClr>
                <a:schemeClr val="dk1"/>
              </a:buClr>
              <a:buSzPts val="2400"/>
              <a:buChar char="•"/>
            </a:pPr>
            <a:r>
              <a:rPr lang="en-US"/>
              <a:t>Online Reviews Analysis: Analyzed 500+ reviews from Google Play Store and social media channels</a:t>
            </a:r>
            <a:endParaRPr/>
          </a:p>
          <a:p>
            <a:pPr indent="-228600" lvl="0" marL="228600" rtl="0" algn="l">
              <a:lnSpc>
                <a:spcPct val="90000"/>
              </a:lnSpc>
              <a:spcBef>
                <a:spcPts val="1000"/>
              </a:spcBef>
              <a:spcAft>
                <a:spcPts val="0"/>
              </a:spcAft>
              <a:buClr>
                <a:schemeClr val="dk1"/>
              </a:buClr>
              <a:buSzPts val="2800"/>
              <a:buChar char="•"/>
            </a:pPr>
            <a:r>
              <a:rPr b="1" lang="en-US"/>
              <a:t>User Segmentation:</a:t>
            </a:r>
            <a:endParaRPr/>
          </a:p>
          <a:p>
            <a:pPr indent="-228600" lvl="1" marL="685800" rtl="0" algn="l">
              <a:lnSpc>
                <a:spcPct val="90000"/>
              </a:lnSpc>
              <a:spcBef>
                <a:spcPts val="500"/>
              </a:spcBef>
              <a:spcAft>
                <a:spcPts val="0"/>
              </a:spcAft>
              <a:buClr>
                <a:schemeClr val="dk1"/>
              </a:buClr>
              <a:buSzPts val="2400"/>
              <a:buChar char="•"/>
            </a:pPr>
            <a:r>
              <a:rPr lang="en-US"/>
              <a:t>Geographic: Major cities like Bengaluru, Delhi, Mumbai; expansion to Tier 2 and Tier 3 cities.</a:t>
            </a:r>
            <a:endParaRPr/>
          </a:p>
          <a:p>
            <a:pPr indent="-228600" lvl="1" marL="685800" rtl="0" algn="l">
              <a:lnSpc>
                <a:spcPct val="90000"/>
              </a:lnSpc>
              <a:spcBef>
                <a:spcPts val="500"/>
              </a:spcBef>
              <a:spcAft>
                <a:spcPts val="0"/>
              </a:spcAft>
              <a:buClr>
                <a:schemeClr val="dk1"/>
              </a:buClr>
              <a:buSzPts val="2400"/>
              <a:buChar char="•"/>
            </a:pPr>
            <a:r>
              <a:rPr lang="en-US"/>
              <a:t>Demographic: Young professionals, students, daily commuters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0" y="18256"/>
            <a:ext cx="12192000" cy="662782"/>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DLaM Display"/>
              <a:buNone/>
            </a:pPr>
            <a:r>
              <a:rPr lang="en-US" sz="2800"/>
              <a:t>Findings From Primary User Research</a:t>
            </a:r>
            <a:endParaRPr/>
          </a:p>
        </p:txBody>
      </p:sp>
      <p:sp>
        <p:nvSpPr>
          <p:cNvPr id="196" name="Google Shape;196;p12"/>
          <p:cNvSpPr txBox="1"/>
          <p:nvPr/>
        </p:nvSpPr>
        <p:spPr>
          <a:xfrm>
            <a:off x="0" y="681038"/>
            <a:ext cx="11601136" cy="802988"/>
          </a:xfrm>
          <a:prstGeom prst="rect">
            <a:avLst/>
          </a:prstGeom>
          <a:solidFill>
            <a:schemeClr val="lt2"/>
          </a:solid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DLaM Display"/>
              <a:buNone/>
            </a:pPr>
            <a:r>
              <a:rPr lang="en-US" sz="2400">
                <a:solidFill>
                  <a:schemeClr val="dk1"/>
                </a:solidFill>
                <a:latin typeface="ADLaM Display"/>
                <a:ea typeface="ADLaM Display"/>
                <a:cs typeface="ADLaM Display"/>
                <a:sym typeface="ADLaM Display"/>
              </a:rPr>
              <a:t>Insights gathered from Primary Research: </a:t>
            </a:r>
            <a:r>
              <a:rPr lang="en-US" sz="2400" u="sng">
                <a:solidFill>
                  <a:schemeClr val="dk1"/>
                </a:solidFill>
                <a:latin typeface="ADLaM Display"/>
                <a:ea typeface="ADLaM Display"/>
                <a:cs typeface="ADLaM Display"/>
                <a:sym typeface="ADLaM Display"/>
                <a:hlinkClick r:id="rId3">
                  <a:extLst>
                    <a:ext uri="{A12FA001-AC4F-418D-AE19-62706E023703}">
                      <ahyp:hlinkClr val="tx"/>
                    </a:ext>
                  </a:extLst>
                </a:hlinkClick>
              </a:rPr>
              <a:t>Access Survey Here</a:t>
            </a:r>
            <a:endParaRPr sz="2400">
              <a:solidFill>
                <a:schemeClr val="dk1"/>
              </a:solidFill>
              <a:latin typeface="ADLaM Display"/>
              <a:ea typeface="ADLaM Display"/>
              <a:cs typeface="ADLaM Display"/>
              <a:sym typeface="ADLaM Display"/>
            </a:endParaRPr>
          </a:p>
        </p:txBody>
      </p:sp>
      <p:pic>
        <p:nvPicPr>
          <p:cNvPr descr="Most Valuable Feature in Ride Sharing" id="197" name="Google Shape;197;p12"/>
          <p:cNvPicPr preferRelativeResize="0"/>
          <p:nvPr>
            <p:ph idx="1" type="body"/>
          </p:nvPr>
        </p:nvPicPr>
        <p:blipFill rotWithShape="1">
          <a:blip r:embed="rId4">
            <a:alphaModFix/>
          </a:blip>
          <a:srcRect b="0" l="0" r="0" t="0"/>
          <a:stretch/>
        </p:blipFill>
        <p:spPr>
          <a:xfrm>
            <a:off x="227975" y="1878998"/>
            <a:ext cx="7357048" cy="4536792"/>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descr="Output image" id="198" name="Google Shape;198;p12"/>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descr="Output image" id="199" name="Google Shape;199;p12"/>
          <p:cNvSpPr/>
          <p:nvPr/>
        </p:nvSpPr>
        <p:spPr>
          <a:xfrm>
            <a:off x="6096000" y="3429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200" name="Google Shape;200;p12"/>
          <p:cNvSpPr txBox="1"/>
          <p:nvPr/>
        </p:nvSpPr>
        <p:spPr>
          <a:xfrm>
            <a:off x="7809875" y="1962142"/>
            <a:ext cx="4154149" cy="40626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Geo"/>
                <a:ea typeface="Geo"/>
                <a:cs typeface="Geo"/>
                <a:sym typeface="Geo"/>
              </a:rPr>
              <a:t>Top Valued Features by Users:</a:t>
            </a:r>
            <a:endParaRPr/>
          </a:p>
          <a:p>
            <a:pPr indent="0" lvl="0" marL="0" marR="0" rtl="0" algn="l">
              <a:spcBef>
                <a:spcPts val="0"/>
              </a:spcBef>
              <a:spcAft>
                <a:spcPts val="0"/>
              </a:spcAft>
              <a:buNone/>
            </a:pPr>
            <a:r>
              <a:t/>
            </a:r>
            <a:endParaRPr b="1" sz="1800">
              <a:solidFill>
                <a:schemeClr val="dk1"/>
              </a:solidFill>
              <a:latin typeface="Geo"/>
              <a:ea typeface="Geo"/>
              <a:cs typeface="Geo"/>
              <a:sym typeface="Geo"/>
            </a:endParaRPr>
          </a:p>
          <a:p>
            <a:pPr indent="-114300" lvl="0" marL="0" marR="0" rtl="0" algn="l">
              <a:spcBef>
                <a:spcPts val="0"/>
              </a:spcBef>
              <a:spcAft>
                <a:spcPts val="0"/>
              </a:spcAft>
              <a:buClr>
                <a:srgbClr val="275316"/>
              </a:buClr>
              <a:buSzPts val="1800"/>
              <a:buFont typeface="Arial"/>
              <a:buChar char="•"/>
            </a:pPr>
            <a:r>
              <a:rPr b="1" lang="en-US" sz="1800">
                <a:solidFill>
                  <a:srgbClr val="275316"/>
                </a:solidFill>
                <a:latin typeface="Geo"/>
                <a:ea typeface="Geo"/>
                <a:cs typeface="Geo"/>
                <a:sym typeface="Geo"/>
              </a:rPr>
              <a:t>High Safety Ratings</a:t>
            </a:r>
            <a:r>
              <a:rPr b="1" lang="en-US" sz="1800">
                <a:solidFill>
                  <a:schemeClr val="dk1"/>
                </a:solidFill>
                <a:latin typeface="Geo"/>
                <a:ea typeface="Geo"/>
                <a:cs typeface="Geo"/>
                <a:sym typeface="Geo"/>
              </a:rPr>
              <a:t>:</a:t>
            </a:r>
            <a:r>
              <a:rPr lang="en-US" sz="1800">
                <a:solidFill>
                  <a:schemeClr val="dk1"/>
                </a:solidFill>
                <a:latin typeface="Geo"/>
                <a:ea typeface="Geo"/>
                <a:cs typeface="Geo"/>
                <a:sym typeface="Geo"/>
              </a:rPr>
              <a:t> Users prioritize the option to book rides with high safety ratings, especially for women and elderly persons.</a:t>
            </a:r>
            <a:endParaRPr/>
          </a:p>
          <a:p>
            <a:pPr indent="-114300" lvl="0" marL="0" marR="0" rtl="0" algn="l">
              <a:spcBef>
                <a:spcPts val="0"/>
              </a:spcBef>
              <a:spcAft>
                <a:spcPts val="0"/>
              </a:spcAft>
              <a:buClr>
                <a:srgbClr val="275316"/>
              </a:buClr>
              <a:buSzPts val="1800"/>
              <a:buFont typeface="Arial"/>
              <a:buChar char="•"/>
            </a:pPr>
            <a:r>
              <a:rPr b="1" lang="en-US" sz="1800">
                <a:solidFill>
                  <a:srgbClr val="275316"/>
                </a:solidFill>
                <a:latin typeface="Geo"/>
                <a:ea typeface="Geo"/>
                <a:cs typeface="Geo"/>
                <a:sym typeface="Geo"/>
              </a:rPr>
              <a:t>Guaranteed Rides:</a:t>
            </a:r>
            <a:r>
              <a:rPr lang="en-US" sz="1800">
                <a:solidFill>
                  <a:srgbClr val="275316"/>
                </a:solidFill>
                <a:latin typeface="Geo"/>
                <a:ea typeface="Geo"/>
                <a:cs typeface="Geo"/>
                <a:sym typeface="Geo"/>
              </a:rPr>
              <a:t> </a:t>
            </a:r>
            <a:r>
              <a:rPr lang="en-US" sz="1800">
                <a:solidFill>
                  <a:schemeClr val="dk1"/>
                </a:solidFill>
                <a:latin typeface="Geo"/>
                <a:ea typeface="Geo"/>
                <a:cs typeface="Geo"/>
                <a:sym typeface="Geo"/>
              </a:rPr>
              <a:t>Ensuring rides are available in urgent situations is a critical need for users.</a:t>
            </a:r>
            <a:endParaRPr/>
          </a:p>
          <a:p>
            <a:pPr indent="-114300" lvl="0" marL="0" marR="0" rtl="0" algn="l">
              <a:spcBef>
                <a:spcPts val="0"/>
              </a:spcBef>
              <a:spcAft>
                <a:spcPts val="0"/>
              </a:spcAft>
              <a:buClr>
                <a:srgbClr val="275316"/>
              </a:buClr>
              <a:buSzPts val="1800"/>
              <a:buFont typeface="Arial"/>
              <a:buChar char="•"/>
            </a:pPr>
            <a:r>
              <a:rPr b="1" lang="en-US" sz="1800">
                <a:solidFill>
                  <a:srgbClr val="275316"/>
                </a:solidFill>
                <a:latin typeface="Geo"/>
                <a:ea typeface="Geo"/>
                <a:cs typeface="Geo"/>
                <a:sym typeface="Geo"/>
              </a:rPr>
              <a:t>In-App Customer Support</a:t>
            </a:r>
            <a:r>
              <a:rPr b="1" lang="en-US" sz="1800">
                <a:solidFill>
                  <a:schemeClr val="dk1"/>
                </a:solidFill>
                <a:latin typeface="Geo"/>
                <a:ea typeface="Geo"/>
                <a:cs typeface="Geo"/>
                <a:sym typeface="Geo"/>
              </a:rPr>
              <a:t>:</a:t>
            </a:r>
            <a:r>
              <a:rPr lang="en-US" sz="1800">
                <a:solidFill>
                  <a:schemeClr val="dk1"/>
                </a:solidFill>
                <a:latin typeface="Geo"/>
                <a:ea typeface="Geo"/>
                <a:cs typeface="Geo"/>
                <a:sym typeface="Geo"/>
              </a:rPr>
              <a:t> Users demand a robust customer support system with chat and call options, highlighting the need for human assistance over ineffective chatbots.</a:t>
            </a:r>
            <a:endParaRPr/>
          </a:p>
          <a:p>
            <a:pPr indent="0" lvl="0" marL="0" marR="0" rtl="0" algn="l">
              <a:spcBef>
                <a:spcPts val="0"/>
              </a:spcBef>
              <a:spcAft>
                <a:spcPts val="0"/>
              </a:spcAft>
              <a:buNone/>
            </a:pPr>
            <a:r>
              <a:rPr lang="en-US" sz="1800">
                <a:solidFill>
                  <a:schemeClr val="dk1"/>
                </a:solidFill>
                <a:latin typeface="Geo"/>
                <a:ea typeface="Geo"/>
                <a:cs typeface="Geo"/>
                <a:sym typeface="Geo"/>
              </a:rPr>
              <a:t> pain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3"/>
          <p:cNvSpPr txBox="1"/>
          <p:nvPr>
            <p:ph type="title"/>
          </p:nvPr>
        </p:nvSpPr>
        <p:spPr>
          <a:xfrm>
            <a:off x="0" y="18256"/>
            <a:ext cx="12192000" cy="662782"/>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DLaM Display"/>
              <a:buNone/>
            </a:pPr>
            <a:r>
              <a:rPr lang="en-US" sz="2800"/>
              <a:t>Findings From Primary User Research</a:t>
            </a:r>
            <a:endParaRPr/>
          </a:p>
        </p:txBody>
      </p:sp>
      <p:sp>
        <p:nvSpPr>
          <p:cNvPr id="206" name="Google Shape;206;p13"/>
          <p:cNvSpPr txBox="1"/>
          <p:nvPr/>
        </p:nvSpPr>
        <p:spPr>
          <a:xfrm>
            <a:off x="-1" y="681038"/>
            <a:ext cx="12192000" cy="931966"/>
          </a:xfrm>
          <a:prstGeom prst="rect">
            <a:avLst/>
          </a:prstGeom>
          <a:solidFill>
            <a:srgbClr val="D9E5F8"/>
          </a:solid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DLaM Display"/>
              <a:buNone/>
            </a:pPr>
            <a:r>
              <a:rPr lang="en-US" sz="2400">
                <a:solidFill>
                  <a:schemeClr val="dk1"/>
                </a:solidFill>
                <a:latin typeface="ADLaM Display"/>
                <a:ea typeface="ADLaM Display"/>
                <a:cs typeface="ADLaM Display"/>
                <a:sym typeface="ADLaM Display"/>
              </a:rPr>
              <a:t>Critical Issues Faced by Ride-Sharing Users</a:t>
            </a:r>
            <a:endParaRPr sz="2400">
              <a:solidFill>
                <a:schemeClr val="dk1"/>
              </a:solidFill>
              <a:latin typeface="ADLaM Display"/>
              <a:ea typeface="ADLaM Display"/>
              <a:cs typeface="ADLaM Display"/>
              <a:sym typeface="ADLaM Display"/>
            </a:endParaRPr>
          </a:p>
        </p:txBody>
      </p:sp>
      <p:sp>
        <p:nvSpPr>
          <p:cNvPr descr="Output image" id="207" name="Google Shape;207;p13"/>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descr="Output image" id="208" name="Google Shape;208;p13"/>
          <p:cNvSpPr/>
          <p:nvPr/>
        </p:nvSpPr>
        <p:spPr>
          <a:xfrm>
            <a:off x="6096000" y="3429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pic>
        <p:nvPicPr>
          <p:cNvPr id="209" name="Google Shape;209;p13"/>
          <p:cNvPicPr preferRelativeResize="0"/>
          <p:nvPr/>
        </p:nvPicPr>
        <p:blipFill rotWithShape="1">
          <a:blip r:embed="rId3">
            <a:alphaModFix/>
          </a:blip>
          <a:srcRect b="0" l="0" r="0" t="0"/>
          <a:stretch/>
        </p:blipFill>
        <p:spPr>
          <a:xfrm>
            <a:off x="1" y="1631260"/>
            <a:ext cx="7121308" cy="520848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210" name="Google Shape;210;p13"/>
          <p:cNvSpPr txBox="1"/>
          <p:nvPr>
            <p:ph idx="1" type="body"/>
          </p:nvPr>
        </p:nvSpPr>
        <p:spPr>
          <a:xfrm>
            <a:off x="7121309" y="1918232"/>
            <a:ext cx="4619311" cy="3970318"/>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 Service Reliability:</a:t>
            </a:r>
            <a:r>
              <a:rPr b="0" i="0" lang="en-US" sz="1800" u="none" cap="none" strike="noStrike">
                <a:solidFill>
                  <a:schemeClr val="dk1"/>
                </a:solidFill>
                <a:latin typeface="Arial"/>
                <a:ea typeface="Arial"/>
                <a:cs typeface="Arial"/>
                <a:sym typeface="Arial"/>
              </a:rPr>
              <a:t> 24.8% of users face frequent cancellations and long wait times.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 Peak Hour &amp; Weather Impact:</a:t>
            </a:r>
            <a:r>
              <a:rPr b="0" i="0" lang="en-US" sz="1800" u="none" cap="none" strike="noStrike">
                <a:solidFill>
                  <a:schemeClr val="dk1"/>
                </a:solidFill>
                <a:latin typeface="Arial"/>
                <a:ea typeface="Arial"/>
                <a:cs typeface="Arial"/>
                <a:sym typeface="Arial"/>
              </a:rPr>
              <a:t> 19.8% struggle during peak hours, and 17.3% during rain.</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 Cost Issues:</a:t>
            </a:r>
            <a:r>
              <a:rPr b="0" i="0" lang="en-US" sz="1800" u="none" cap="none" strike="noStrike">
                <a:solidFill>
                  <a:schemeClr val="dk1"/>
                </a:solidFill>
                <a:latin typeface="Arial"/>
                <a:ea typeface="Arial"/>
                <a:cs typeface="Arial"/>
                <a:sym typeface="Arial"/>
              </a:rPr>
              <a:t> 19.8% are concerned about high costs and significant price surges.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 Billing Concerns:</a:t>
            </a:r>
            <a:r>
              <a:rPr b="0" i="0" lang="en-US" sz="1800" u="none" cap="none" strike="noStrike">
                <a:solidFill>
                  <a:schemeClr val="dk1"/>
                </a:solidFill>
                <a:latin typeface="Arial"/>
                <a:ea typeface="Arial"/>
                <a:cs typeface="Arial"/>
                <a:sym typeface="Arial"/>
              </a:rPr>
              <a:t> 12.4% report issues with inaccurate charges.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 Driver &amp; Payment Concerns:</a:t>
            </a:r>
            <a:r>
              <a:rPr b="0" i="0" lang="en-US" sz="1800" u="none" cap="none" strike="noStrike">
                <a:solidFill>
                  <a:schemeClr val="dk1"/>
                </a:solidFill>
                <a:latin typeface="Arial"/>
                <a:ea typeface="Arial"/>
                <a:cs typeface="Arial"/>
                <a:sym typeface="Arial"/>
              </a:rPr>
              <a:t> 6.0% are troubled by rude or unsafe drivers and being asked to cancel rides for cash.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ph type="title"/>
          </p:nvPr>
        </p:nvSpPr>
        <p:spPr>
          <a:xfrm>
            <a:off x="0" y="18256"/>
            <a:ext cx="12192000" cy="662782"/>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DLaM Display"/>
              <a:buNone/>
            </a:pPr>
            <a:r>
              <a:rPr lang="en-US" sz="2800"/>
              <a:t>Findings From Primary User Research</a:t>
            </a:r>
            <a:endParaRPr/>
          </a:p>
        </p:txBody>
      </p:sp>
      <p:sp>
        <p:nvSpPr>
          <p:cNvPr id="216" name="Google Shape;216;p14"/>
          <p:cNvSpPr txBox="1"/>
          <p:nvPr/>
        </p:nvSpPr>
        <p:spPr>
          <a:xfrm>
            <a:off x="-1" y="681038"/>
            <a:ext cx="12192000" cy="931966"/>
          </a:xfrm>
          <a:prstGeom prst="rect">
            <a:avLst/>
          </a:prstGeom>
          <a:solidFill>
            <a:srgbClr val="D9E5F8"/>
          </a:solid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DLaM Display"/>
              <a:buNone/>
            </a:pPr>
            <a:r>
              <a:rPr lang="en-US" sz="2400">
                <a:solidFill>
                  <a:schemeClr val="dk1"/>
                </a:solidFill>
                <a:latin typeface="ADLaM Display"/>
                <a:ea typeface="ADLaM Display"/>
                <a:cs typeface="ADLaM Display"/>
                <a:sym typeface="ADLaM Display"/>
              </a:rPr>
              <a:t> Prioritizing Safety and Premium Services</a:t>
            </a:r>
            <a:endParaRPr sz="2400">
              <a:solidFill>
                <a:schemeClr val="dk1"/>
              </a:solidFill>
              <a:latin typeface="ADLaM Display"/>
              <a:ea typeface="ADLaM Display"/>
              <a:cs typeface="ADLaM Display"/>
              <a:sym typeface="ADLaM Display"/>
            </a:endParaRPr>
          </a:p>
        </p:txBody>
      </p:sp>
      <p:sp>
        <p:nvSpPr>
          <p:cNvPr descr="Output image" id="217" name="Google Shape;217;p14"/>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descr="Output image" id="218" name="Google Shape;218;p14"/>
          <p:cNvSpPr/>
          <p:nvPr/>
        </p:nvSpPr>
        <p:spPr>
          <a:xfrm>
            <a:off x="6096000" y="3429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
        <p:nvSpPr>
          <p:cNvPr id="219" name="Google Shape;219;p14"/>
          <p:cNvSpPr txBox="1"/>
          <p:nvPr>
            <p:ph idx="1" type="body"/>
          </p:nvPr>
        </p:nvSpPr>
        <p:spPr>
          <a:xfrm>
            <a:off x="0" y="4395575"/>
            <a:ext cx="12191999" cy="267765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None/>
            </a:pPr>
            <a:r>
              <a:rPr b="0" i="0" lang="en-US" sz="1800" u="none" cap="none" strike="noStrike">
                <a:solidFill>
                  <a:schemeClr val="dk1"/>
                </a:solidFill>
                <a:highlight>
                  <a:srgbClr val="FFFF00"/>
                </a:highlight>
                <a:latin typeface="Arial"/>
                <a:ea typeface="Arial"/>
                <a:cs typeface="Arial"/>
                <a:sym typeface="Arial"/>
              </a:rPr>
              <a:t>To align our product strategy with user needs, we asked three key questions:</a:t>
            </a:r>
            <a:endParaRPr/>
          </a:p>
          <a:p>
            <a:pPr indent="0" lvl="0" marL="0" marR="0" rtl="0" algn="l">
              <a:lnSpc>
                <a:spcPct val="100000"/>
              </a:lnSpc>
              <a:spcBef>
                <a:spcPts val="0"/>
              </a:spcBef>
              <a:spcAft>
                <a:spcPts val="0"/>
              </a:spcAft>
              <a:buClr>
                <a:schemeClr val="dk1"/>
              </a:buClr>
              <a:buSzPts val="1800"/>
              <a:buNone/>
            </a:pPr>
            <a:r>
              <a:t/>
            </a:r>
            <a:endParaRPr b="0" i="0" sz="1800" u="none" cap="none" strike="noStrike">
              <a:solidFill>
                <a:schemeClr val="dk1"/>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Clr>
                <a:schemeClr val="dk1"/>
              </a:buClr>
              <a:buSzPts val="1600"/>
              <a:buNone/>
            </a:pPr>
            <a:r>
              <a:rPr b="1" i="0" lang="en-US" sz="1600" u="none" cap="none" strike="noStrike">
                <a:solidFill>
                  <a:schemeClr val="dk1"/>
                </a:solidFill>
                <a:highlight>
                  <a:srgbClr val="FFFF00"/>
                </a:highlight>
                <a:latin typeface="Arial"/>
                <a:ea typeface="Arial"/>
                <a:cs typeface="Arial"/>
                <a:sym typeface="Arial"/>
              </a:rPr>
              <a:t>Importance of Driver Safety</a:t>
            </a:r>
            <a:r>
              <a:rPr b="1" i="0" lang="en-US" sz="1600" u="none" cap="none" strike="noStrike">
                <a:solidFill>
                  <a:schemeClr val="dk1"/>
                </a:solidFill>
                <a:latin typeface="Arial"/>
                <a:ea typeface="Arial"/>
                <a:cs typeface="Arial"/>
                <a:sym typeface="Arial"/>
              </a:rPr>
              <a:t>:</a:t>
            </a:r>
            <a:r>
              <a:rPr lang="en-US" sz="1600">
                <a:latin typeface="Arial"/>
                <a:ea typeface="Arial"/>
                <a:cs typeface="Arial"/>
                <a:sym typeface="Arial"/>
              </a:rPr>
              <a:t> </a:t>
            </a:r>
            <a:r>
              <a:rPr b="1" i="0" lang="en-US" sz="1600" u="none" cap="none" strike="noStrike">
                <a:solidFill>
                  <a:schemeClr val="dk1"/>
                </a:solidFill>
                <a:latin typeface="Arial"/>
                <a:ea typeface="Arial"/>
                <a:cs typeface="Arial"/>
                <a:sym typeface="Arial"/>
              </a:rPr>
              <a:t>100%</a:t>
            </a:r>
            <a:r>
              <a:rPr b="0" i="0" lang="en-US" sz="1600" u="none" cap="none" strike="noStrike">
                <a:solidFill>
                  <a:schemeClr val="dk1"/>
                </a:solidFill>
                <a:latin typeface="Arial"/>
                <a:ea typeface="Arial"/>
                <a:cs typeface="Arial"/>
                <a:sym typeface="Arial"/>
              </a:rPr>
              <a:t> of users rated driver safety as "Very Important," highlighting safety as a non-negotiable priority.</a:t>
            </a:r>
            <a:endParaRPr/>
          </a:p>
          <a:p>
            <a:pPr indent="0" lvl="0" marL="0" marR="0" rtl="0" algn="l">
              <a:lnSpc>
                <a:spcPct val="100000"/>
              </a:lnSpc>
              <a:spcBef>
                <a:spcPts val="0"/>
              </a:spcBef>
              <a:spcAft>
                <a:spcPts val="0"/>
              </a:spcAft>
              <a:buClr>
                <a:schemeClr val="dk1"/>
              </a:buClr>
              <a:buSzPts val="1600"/>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None/>
            </a:pPr>
            <a:r>
              <a:rPr b="1" i="0" lang="en-US" sz="1600" u="none" cap="none" strike="noStrike">
                <a:solidFill>
                  <a:schemeClr val="dk1"/>
                </a:solidFill>
                <a:highlight>
                  <a:srgbClr val="FFFF00"/>
                </a:highlight>
                <a:latin typeface="Arial"/>
                <a:ea typeface="Arial"/>
                <a:cs typeface="Arial"/>
                <a:sym typeface="Arial"/>
              </a:rPr>
              <a:t>Desire for Safety Feedback:</a:t>
            </a:r>
            <a:r>
              <a:rPr b="1" i="0" lang="en-US" sz="1600" u="none" cap="none" strike="noStrike">
                <a:solidFill>
                  <a:schemeClr val="dk1"/>
                </a:solidFill>
                <a:latin typeface="Arial"/>
                <a:ea typeface="Arial"/>
                <a:cs typeface="Arial"/>
                <a:sym typeface="Arial"/>
              </a:rPr>
              <a:t>100%</a:t>
            </a:r>
            <a:r>
              <a:rPr b="0" i="0" lang="en-US" sz="1600" u="none" cap="none" strike="noStrike">
                <a:solidFill>
                  <a:schemeClr val="dk1"/>
                </a:solidFill>
                <a:latin typeface="Arial"/>
                <a:ea typeface="Arial"/>
                <a:cs typeface="Arial"/>
                <a:sym typeface="Arial"/>
              </a:rPr>
              <a:t> of users want to rate their ride's safety, showing their commitment to maintaining high standards.</a:t>
            </a:r>
            <a:endParaRPr/>
          </a:p>
          <a:p>
            <a:pPr indent="0" lvl="0" marL="0" marR="0" rtl="0" algn="l">
              <a:lnSpc>
                <a:spcPct val="100000"/>
              </a:lnSpc>
              <a:spcBef>
                <a:spcPts val="0"/>
              </a:spcBef>
              <a:spcAft>
                <a:spcPts val="0"/>
              </a:spcAft>
              <a:buClr>
                <a:schemeClr val="dk1"/>
              </a:buClr>
              <a:buSzPts val="1600"/>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None/>
            </a:pPr>
            <a:r>
              <a:rPr b="1" i="0" lang="en-US" sz="1600" u="none" cap="none" strike="noStrike">
                <a:solidFill>
                  <a:schemeClr val="dk1"/>
                </a:solidFill>
                <a:highlight>
                  <a:srgbClr val="FFFF00"/>
                </a:highlight>
                <a:latin typeface="Arial"/>
                <a:ea typeface="Arial"/>
                <a:cs typeface="Arial"/>
                <a:sym typeface="Arial"/>
              </a:rPr>
              <a:t>Willingness to Pay for Premium Services:</a:t>
            </a:r>
            <a:r>
              <a:rPr b="1" i="0" lang="en-US" sz="1600" u="none" cap="none" strike="noStrike">
                <a:solidFill>
                  <a:schemeClr val="dk1"/>
                </a:solidFill>
                <a:latin typeface="Arial"/>
                <a:ea typeface="Arial"/>
                <a:cs typeface="Arial"/>
                <a:sym typeface="Arial"/>
              </a:rPr>
              <a:t> 90%</a:t>
            </a:r>
            <a:r>
              <a:rPr b="0" i="0" lang="en-US" sz="1600" u="none" cap="none" strike="noStrike">
                <a:solidFill>
                  <a:schemeClr val="dk1"/>
                </a:solidFill>
                <a:latin typeface="Arial"/>
                <a:ea typeface="Arial"/>
                <a:cs typeface="Arial"/>
                <a:sym typeface="Arial"/>
              </a:rPr>
              <a:t> of users are willing to pay extra for guaranteed rides within 10 minutes, signaling strong demand for time-sensitive services</a:t>
            </a:r>
            <a:r>
              <a:rPr b="0" i="0" lang="en-US" sz="14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Clr>
                <a:schemeClr val="dk1"/>
              </a:buClr>
              <a:buSzPts val="1800"/>
              <a:buNone/>
            </a:pPr>
            <a:r>
              <a:t/>
            </a:r>
            <a:endParaRPr b="0" i="0" sz="1800" u="none" cap="none" strike="noStrike">
              <a:solidFill>
                <a:schemeClr val="dk1"/>
              </a:solidFill>
              <a:latin typeface="Arial"/>
              <a:ea typeface="Arial"/>
              <a:cs typeface="Arial"/>
              <a:sym typeface="Arial"/>
            </a:endParaRPr>
          </a:p>
          <a:p>
            <a:pPr indent="-114300" lvl="0" marL="228600" rtl="0" algn="l">
              <a:lnSpc>
                <a:spcPct val="100000"/>
              </a:lnSpc>
              <a:spcBef>
                <a:spcPts val="0"/>
              </a:spcBef>
              <a:spcAft>
                <a:spcPts val="0"/>
              </a:spcAft>
              <a:buClr>
                <a:schemeClr val="dk1"/>
              </a:buClr>
              <a:buSzPts val="1800"/>
              <a:buNone/>
            </a:pPr>
            <a:r>
              <a:t/>
            </a:r>
            <a:endParaRPr b="0" i="0" sz="1800" u="none" cap="none" strike="noStrike">
              <a:solidFill>
                <a:schemeClr val="dk1"/>
              </a:solidFill>
              <a:latin typeface="Arial"/>
              <a:ea typeface="Arial"/>
              <a:cs typeface="Arial"/>
              <a:sym typeface="Arial"/>
            </a:endParaRPr>
          </a:p>
        </p:txBody>
      </p:sp>
      <p:pic>
        <p:nvPicPr>
          <p:cNvPr descr="A bar graph with text&#10;&#10;Description automatically generated with medium confidence" id="220" name="Google Shape;220;p14"/>
          <p:cNvPicPr preferRelativeResize="0"/>
          <p:nvPr/>
        </p:nvPicPr>
        <p:blipFill rotWithShape="1">
          <a:blip r:embed="rId3">
            <a:alphaModFix/>
          </a:blip>
          <a:srcRect b="0" l="0" r="0" t="0"/>
          <a:stretch/>
        </p:blipFill>
        <p:spPr>
          <a:xfrm>
            <a:off x="385392" y="1789034"/>
            <a:ext cx="10804384" cy="24834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ph type="title"/>
          </p:nvPr>
        </p:nvSpPr>
        <p:spPr>
          <a:xfrm>
            <a:off x="0" y="0"/>
            <a:ext cx="12192000" cy="1070730"/>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sz="4400"/>
              <a:t>Key Findings from </a:t>
            </a:r>
            <a:r>
              <a:rPr lang="en-US"/>
              <a:t>User Research(Primary)</a:t>
            </a:r>
            <a:endParaRPr/>
          </a:p>
        </p:txBody>
      </p:sp>
      <p:sp>
        <p:nvSpPr>
          <p:cNvPr id="226" name="Google Shape;226;p15"/>
          <p:cNvSpPr txBox="1"/>
          <p:nvPr>
            <p:ph idx="1" type="body"/>
          </p:nvPr>
        </p:nvSpPr>
        <p:spPr>
          <a:xfrm>
            <a:off x="139485" y="1348354"/>
            <a:ext cx="12052515" cy="53779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What Users Value in Their Preferred Ride-Sharing Service </a:t>
            </a:r>
            <a:endParaRPr/>
          </a:p>
          <a:p>
            <a:pPr indent="-228600" lvl="1" marL="685800" rtl="0" algn="l">
              <a:lnSpc>
                <a:spcPct val="90000"/>
              </a:lnSpc>
              <a:spcBef>
                <a:spcPts val="500"/>
              </a:spcBef>
              <a:spcAft>
                <a:spcPts val="0"/>
              </a:spcAft>
              <a:buClr>
                <a:schemeClr val="dk1"/>
              </a:buClr>
              <a:buSzPts val="2400"/>
              <a:buChar char="•"/>
            </a:pPr>
            <a:r>
              <a:rPr lang="en-US"/>
              <a:t>Affordability: Users prioritize cost-effective transportation. It’s a top priority *</a:t>
            </a:r>
            <a:endParaRPr/>
          </a:p>
          <a:p>
            <a:pPr indent="-228600" lvl="1" marL="685800" rtl="0" algn="l">
              <a:lnSpc>
                <a:spcPct val="90000"/>
              </a:lnSpc>
              <a:spcBef>
                <a:spcPts val="500"/>
              </a:spcBef>
              <a:spcAft>
                <a:spcPts val="0"/>
              </a:spcAft>
              <a:buClr>
                <a:schemeClr val="dk1"/>
              </a:buClr>
              <a:buSzPts val="2400"/>
              <a:buChar char="•"/>
            </a:pPr>
            <a:r>
              <a:rPr lang="en-US"/>
              <a:t>Reliability: Quick and easy booking with fewer cancellation is highly valued.</a:t>
            </a:r>
            <a:endParaRPr/>
          </a:p>
          <a:p>
            <a:pPr indent="-228600" lvl="1" marL="685800" rtl="0" algn="l">
              <a:lnSpc>
                <a:spcPct val="90000"/>
              </a:lnSpc>
              <a:spcBef>
                <a:spcPts val="500"/>
              </a:spcBef>
              <a:spcAft>
                <a:spcPts val="0"/>
              </a:spcAft>
              <a:buClr>
                <a:schemeClr val="dk1"/>
              </a:buClr>
              <a:buSzPts val="2400"/>
              <a:buChar char="•"/>
            </a:pPr>
            <a:r>
              <a:rPr lang="en-US"/>
              <a:t>Comfort: Comfortable rides including reliable and clean vehicles with ac is important during longer trips with family/friends.</a:t>
            </a:r>
            <a:endParaRPr/>
          </a:p>
          <a:p>
            <a:pPr indent="-228600" lvl="0" marL="228600" rtl="0" algn="l">
              <a:lnSpc>
                <a:spcPct val="90000"/>
              </a:lnSpc>
              <a:spcBef>
                <a:spcPts val="1000"/>
              </a:spcBef>
              <a:spcAft>
                <a:spcPts val="0"/>
              </a:spcAft>
              <a:buClr>
                <a:schemeClr val="dk1"/>
              </a:buClr>
              <a:buSzPts val="2800"/>
              <a:buChar char="•"/>
            </a:pPr>
            <a:r>
              <a:rPr b="1" lang="en-US"/>
              <a:t>Pain Points:</a:t>
            </a:r>
            <a:endParaRPr/>
          </a:p>
          <a:p>
            <a:pPr indent="-228600" lvl="1" marL="685800" rtl="0" algn="l">
              <a:lnSpc>
                <a:spcPct val="90000"/>
              </a:lnSpc>
              <a:spcBef>
                <a:spcPts val="500"/>
              </a:spcBef>
              <a:spcAft>
                <a:spcPts val="0"/>
              </a:spcAft>
              <a:buClr>
                <a:schemeClr val="dk1"/>
              </a:buClr>
              <a:buSzPts val="2400"/>
              <a:buChar char="•"/>
            </a:pPr>
            <a:r>
              <a:rPr b="1" lang="en-US"/>
              <a:t>Safety Concerns: Ineffective SOS feature</a:t>
            </a:r>
            <a:r>
              <a:rPr lang="en-US"/>
              <a:t>, especially among women.</a:t>
            </a:r>
            <a:endParaRPr/>
          </a:p>
          <a:p>
            <a:pPr indent="-228600" lvl="1" marL="685800" rtl="0" algn="l">
              <a:lnSpc>
                <a:spcPct val="90000"/>
              </a:lnSpc>
              <a:spcBef>
                <a:spcPts val="500"/>
              </a:spcBef>
              <a:spcAft>
                <a:spcPts val="0"/>
              </a:spcAft>
              <a:buClr>
                <a:schemeClr val="dk1"/>
              </a:buClr>
              <a:buSzPts val="2400"/>
              <a:buChar char="•"/>
            </a:pPr>
            <a:r>
              <a:rPr b="1" lang="en-US"/>
              <a:t>Service Reliability</a:t>
            </a:r>
            <a:r>
              <a:rPr lang="en-US"/>
              <a:t>: Frequent </a:t>
            </a:r>
            <a:r>
              <a:rPr b="1" lang="en-US"/>
              <a:t>cancellations</a:t>
            </a:r>
            <a:r>
              <a:rPr lang="en-US"/>
              <a:t> &amp; longer </a:t>
            </a:r>
            <a:r>
              <a:rPr b="1" lang="en-US"/>
              <a:t>wait times </a:t>
            </a:r>
            <a:r>
              <a:rPr lang="en-US"/>
              <a:t>lead to frustration.</a:t>
            </a:r>
            <a:endParaRPr/>
          </a:p>
          <a:p>
            <a:pPr indent="-228600" lvl="1" marL="685800" rtl="0" algn="l">
              <a:lnSpc>
                <a:spcPct val="90000"/>
              </a:lnSpc>
              <a:spcBef>
                <a:spcPts val="500"/>
              </a:spcBef>
              <a:spcAft>
                <a:spcPts val="0"/>
              </a:spcAft>
              <a:buClr>
                <a:schemeClr val="dk1"/>
              </a:buClr>
              <a:buSzPts val="2400"/>
              <a:buChar char="•"/>
            </a:pPr>
            <a:r>
              <a:rPr b="1" lang="en-US"/>
              <a:t>High Prices: High prices </a:t>
            </a:r>
            <a:r>
              <a:rPr lang="en-US"/>
              <a:t>during peak hours makes commuting less affordable</a:t>
            </a:r>
            <a:endParaRPr/>
          </a:p>
          <a:p>
            <a:pPr indent="-228600" lvl="1" marL="685800" rtl="0" algn="l">
              <a:lnSpc>
                <a:spcPct val="90000"/>
              </a:lnSpc>
              <a:spcBef>
                <a:spcPts val="500"/>
              </a:spcBef>
              <a:spcAft>
                <a:spcPts val="0"/>
              </a:spcAft>
              <a:buClr>
                <a:schemeClr val="dk1"/>
              </a:buClr>
              <a:buSzPts val="2400"/>
              <a:buChar char="•"/>
            </a:pPr>
            <a:r>
              <a:rPr b="1" lang="en-US"/>
              <a:t>Customer Support</a:t>
            </a:r>
            <a:r>
              <a:rPr lang="en-US"/>
              <a:t>: Users are upset with automated responses and prefer </a:t>
            </a:r>
            <a:r>
              <a:rPr b="1" lang="en-US"/>
              <a:t>human intervention </a:t>
            </a:r>
            <a:r>
              <a:rPr lang="en-US"/>
              <a:t>for quick resolution especially during emergencies with rude drivers</a:t>
            </a:r>
            <a:endParaRPr/>
          </a:p>
          <a:p>
            <a:pPr indent="-228600" lvl="1" marL="685800" rtl="0" algn="l">
              <a:lnSpc>
                <a:spcPct val="90000"/>
              </a:lnSpc>
              <a:spcBef>
                <a:spcPts val="500"/>
              </a:spcBef>
              <a:spcAft>
                <a:spcPts val="0"/>
              </a:spcAft>
              <a:buClr>
                <a:schemeClr val="dk1"/>
              </a:buClr>
              <a:buSzPts val="2400"/>
              <a:buChar char="•"/>
            </a:pPr>
            <a:r>
              <a:rPr b="1" lang="en-US"/>
              <a:t>Inaccurate Charges: </a:t>
            </a:r>
            <a:r>
              <a:rPr lang="en-US"/>
              <a:t>Several users reported </a:t>
            </a:r>
            <a:r>
              <a:rPr b="1" lang="en-US"/>
              <a:t>higher billing</a:t>
            </a:r>
            <a:r>
              <a:rPr lang="en-US"/>
              <a:t> at the end of trips, which erodes trust in the service.</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6"/>
          <p:cNvSpPr txBox="1"/>
          <p:nvPr>
            <p:ph type="title"/>
          </p:nvPr>
        </p:nvSpPr>
        <p:spPr>
          <a:xfrm>
            <a:off x="0" y="0"/>
            <a:ext cx="12192000" cy="82557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Key Findings from Secondary User Research</a:t>
            </a:r>
            <a:endParaRPr/>
          </a:p>
        </p:txBody>
      </p:sp>
      <p:sp>
        <p:nvSpPr>
          <p:cNvPr id="232" name="Google Shape;232;p16"/>
          <p:cNvSpPr txBox="1"/>
          <p:nvPr>
            <p:ph idx="1" type="body"/>
          </p:nvPr>
        </p:nvSpPr>
        <p:spPr>
          <a:xfrm>
            <a:off x="0" y="825578"/>
            <a:ext cx="12192000" cy="603242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b="1" lang="en-US" sz="2200"/>
              <a:t>Legal Barriers: </a:t>
            </a:r>
            <a:r>
              <a:rPr lang="en-US" sz="2200"/>
              <a:t>Rapido faces </a:t>
            </a:r>
            <a:r>
              <a:rPr b="1" lang="en-US" sz="2200"/>
              <a:t>legal challenges</a:t>
            </a:r>
            <a:r>
              <a:rPr lang="en-US" sz="2200"/>
              <a:t> in states like Karnataka and Maharashtra. </a:t>
            </a:r>
            <a:r>
              <a:rPr b="1" lang="en-US" sz="2200"/>
              <a:t>Unclear regulations</a:t>
            </a:r>
            <a:r>
              <a:rPr lang="en-US" sz="2200"/>
              <a:t> have caused operational disruptions, making it difficult for the company to maintain consistent service​. </a:t>
            </a:r>
            <a:r>
              <a:rPr lang="en-US" sz="2200" u="sng">
                <a:solidFill>
                  <a:schemeClr val="hlink"/>
                </a:solidFill>
                <a:hlinkClick r:id="rId3"/>
              </a:rPr>
              <a:t>[1]</a:t>
            </a:r>
            <a:r>
              <a:rPr lang="en-US" sz="2200" u="sng">
                <a:solidFill>
                  <a:schemeClr val="hlink"/>
                </a:solidFill>
                <a:hlinkClick r:id="rId4"/>
              </a:rPr>
              <a:t>[2]</a:t>
            </a:r>
            <a:endParaRPr sz="2200"/>
          </a:p>
          <a:p>
            <a:pPr indent="-228600" lvl="0" marL="228600" rtl="0" algn="l">
              <a:lnSpc>
                <a:spcPct val="90000"/>
              </a:lnSpc>
              <a:spcBef>
                <a:spcPts val="1000"/>
              </a:spcBef>
              <a:spcAft>
                <a:spcPts val="0"/>
              </a:spcAft>
              <a:buClr>
                <a:schemeClr val="dk1"/>
              </a:buClr>
              <a:buSzPts val="2200"/>
              <a:buChar char="•"/>
            </a:pPr>
            <a:r>
              <a:rPr b="1" lang="en-US" sz="2200"/>
              <a:t>Auto Union Resistance: </a:t>
            </a:r>
            <a:r>
              <a:rPr lang="en-US" sz="2200"/>
              <a:t>In several cities, auto drivers have </a:t>
            </a:r>
            <a:r>
              <a:rPr b="1" lang="en-US" sz="2200"/>
              <a:t>protested against bike taxis</a:t>
            </a:r>
            <a:r>
              <a:rPr lang="en-US" sz="2200"/>
              <a:t>. This has sometimes escalated into hostility, affecting both drivers and passengers.</a:t>
            </a:r>
            <a:r>
              <a:rPr lang="en-US" sz="2200" u="sng">
                <a:solidFill>
                  <a:schemeClr val="hlink"/>
                </a:solidFill>
                <a:hlinkClick r:id="rId5"/>
              </a:rPr>
              <a:t>[1]</a:t>
            </a:r>
            <a:endParaRPr sz="2200"/>
          </a:p>
          <a:p>
            <a:pPr indent="-228600" lvl="0" marL="228600" rtl="0" algn="l">
              <a:lnSpc>
                <a:spcPct val="90000"/>
              </a:lnSpc>
              <a:spcBef>
                <a:spcPts val="1000"/>
              </a:spcBef>
              <a:spcAft>
                <a:spcPts val="0"/>
              </a:spcAft>
              <a:buClr>
                <a:schemeClr val="dk1"/>
              </a:buClr>
              <a:buSzPts val="2200"/>
              <a:buChar char="•"/>
            </a:pPr>
            <a:r>
              <a:rPr b="1" lang="en-US" sz="2200"/>
              <a:t>Tough Competitors</a:t>
            </a:r>
            <a:r>
              <a:rPr lang="en-US" sz="2200"/>
              <a:t>: Rapido competes with </a:t>
            </a:r>
            <a:r>
              <a:rPr b="1" lang="en-US" sz="2200"/>
              <a:t>major players like Uber and Ola</a:t>
            </a:r>
            <a:r>
              <a:rPr lang="en-US" sz="2200"/>
              <a:t>. These competitors have a much larger market share, making it challenging for Rapido to stand out​.</a:t>
            </a:r>
            <a:r>
              <a:rPr lang="en-US" sz="2200" u="sng">
                <a:solidFill>
                  <a:schemeClr val="hlink"/>
                </a:solidFill>
                <a:hlinkClick r:id="rId6"/>
              </a:rPr>
              <a:t> [2]</a:t>
            </a:r>
            <a:endParaRPr sz="2200"/>
          </a:p>
          <a:p>
            <a:pPr indent="-228600" lvl="0" marL="228600" rtl="0" algn="l">
              <a:lnSpc>
                <a:spcPct val="90000"/>
              </a:lnSpc>
              <a:spcBef>
                <a:spcPts val="1000"/>
              </a:spcBef>
              <a:spcAft>
                <a:spcPts val="0"/>
              </a:spcAft>
              <a:buClr>
                <a:schemeClr val="dk1"/>
              </a:buClr>
              <a:buSzPts val="2200"/>
              <a:buChar char="•"/>
            </a:pPr>
            <a:r>
              <a:rPr b="1" lang="en-US" sz="2200"/>
              <a:t>Limited Market Share:</a:t>
            </a:r>
            <a:r>
              <a:rPr lang="en-US" sz="2200"/>
              <a:t>Despite being an early entrant in the bike-taxi space, Rapido’s market share remains small. This limits its ability to compete effectively against larger rivals​ </a:t>
            </a:r>
            <a:r>
              <a:rPr lang="en-US" sz="2200" u="sng">
                <a:solidFill>
                  <a:schemeClr val="hlink"/>
                </a:solidFill>
                <a:hlinkClick r:id="rId7"/>
              </a:rPr>
              <a:t>[2]</a:t>
            </a:r>
            <a:endParaRPr sz="2200"/>
          </a:p>
          <a:p>
            <a:pPr indent="-228600" lvl="0" marL="228600" rtl="0" algn="l">
              <a:lnSpc>
                <a:spcPct val="90000"/>
              </a:lnSpc>
              <a:spcBef>
                <a:spcPts val="1000"/>
              </a:spcBef>
              <a:spcAft>
                <a:spcPts val="0"/>
              </a:spcAft>
              <a:buClr>
                <a:schemeClr val="dk1"/>
              </a:buClr>
              <a:buSzPts val="2200"/>
              <a:buChar char="•"/>
            </a:pPr>
            <a:r>
              <a:rPr b="1" lang="en-US" sz="2200"/>
              <a:t>Quality Control: </a:t>
            </a:r>
            <a:r>
              <a:rPr lang="en-US" sz="2200"/>
              <a:t>Maintaining </a:t>
            </a:r>
            <a:r>
              <a:rPr b="1" lang="en-US" sz="2200"/>
              <a:t>consistent service quality</a:t>
            </a:r>
            <a:r>
              <a:rPr lang="en-US" sz="2200"/>
              <a:t> in Tier II and III cities is challenging for Rapido. Users often report inconsistent experiences, affecting overall satisfaction</a:t>
            </a:r>
            <a:r>
              <a:rPr lang="en-US" sz="2200" u="sng">
                <a:solidFill>
                  <a:schemeClr val="hlink"/>
                </a:solidFill>
                <a:hlinkClick r:id="rId8"/>
              </a:rPr>
              <a:t>[3]​</a:t>
            </a:r>
            <a:r>
              <a:rPr lang="en-US" sz="2200"/>
              <a:t> </a:t>
            </a:r>
            <a:endParaRPr/>
          </a:p>
          <a:p>
            <a:pPr indent="-228600" lvl="0" marL="228600" rtl="0" algn="l">
              <a:lnSpc>
                <a:spcPct val="90000"/>
              </a:lnSpc>
              <a:spcBef>
                <a:spcPts val="1000"/>
              </a:spcBef>
              <a:spcAft>
                <a:spcPts val="0"/>
              </a:spcAft>
              <a:buClr>
                <a:schemeClr val="dk1"/>
              </a:buClr>
              <a:buSzPts val="2200"/>
              <a:buChar char="•"/>
            </a:pPr>
            <a:r>
              <a:rPr b="1" lang="en-US" sz="2200"/>
              <a:t>Pressure to Electrify: </a:t>
            </a:r>
            <a:r>
              <a:rPr lang="en-US" sz="2200"/>
              <a:t>As part of its expansion, Rapido is under pressure to </a:t>
            </a:r>
            <a:r>
              <a:rPr b="1" lang="en-US" sz="2200"/>
              <a:t>transition to electric vehicles</a:t>
            </a:r>
            <a:r>
              <a:rPr lang="en-US" sz="2200"/>
              <a:t>. This adds complexity to its operations, particularly in smaller cities where infrastructure is limited​ </a:t>
            </a:r>
            <a:r>
              <a:rPr lang="en-US" sz="2200" u="sng">
                <a:solidFill>
                  <a:schemeClr val="hlink"/>
                </a:solidFill>
                <a:hlinkClick r:id="rId9"/>
              </a:rPr>
              <a:t>[4]</a:t>
            </a:r>
            <a:endParaRPr sz="2200"/>
          </a:p>
          <a:p>
            <a:pPr indent="-228600" lvl="0" marL="228600" rtl="0" algn="l">
              <a:lnSpc>
                <a:spcPct val="90000"/>
              </a:lnSpc>
              <a:spcBef>
                <a:spcPts val="1000"/>
              </a:spcBef>
              <a:spcAft>
                <a:spcPts val="0"/>
              </a:spcAft>
              <a:buClr>
                <a:schemeClr val="dk1"/>
              </a:buClr>
              <a:buSzPts val="2200"/>
              <a:buChar char="•"/>
            </a:pPr>
            <a:r>
              <a:rPr lang="en-US" sz="2200"/>
              <a:t>Rapido launched “Bike Pink” for women users with female captains for increased safety which identifies safety concerns.</a:t>
            </a:r>
            <a:r>
              <a:rPr lang="en-US" sz="2200" u="sng">
                <a:solidFill>
                  <a:schemeClr val="hlink"/>
                </a:solidFill>
                <a:hlinkClick r:id="rId10"/>
              </a:rPr>
              <a:t>[5]</a:t>
            </a:r>
            <a:endParaRPr sz="2200"/>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7"/>
          <p:cNvSpPr txBox="1"/>
          <p:nvPr>
            <p:ph type="title"/>
          </p:nvPr>
        </p:nvSpPr>
        <p:spPr>
          <a:xfrm>
            <a:off x="0" y="0"/>
            <a:ext cx="12192000" cy="82557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Key Findings from Secondary User Research </a:t>
            </a:r>
            <a:endParaRPr/>
          </a:p>
        </p:txBody>
      </p:sp>
      <p:sp>
        <p:nvSpPr>
          <p:cNvPr id="238" name="Google Shape;238;p17"/>
          <p:cNvSpPr txBox="1"/>
          <p:nvPr>
            <p:ph idx="1" type="body"/>
          </p:nvPr>
        </p:nvSpPr>
        <p:spPr>
          <a:xfrm>
            <a:off x="9993" y="1287243"/>
            <a:ext cx="11822242" cy="572815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sz="2400"/>
              <a:t>Licensing Problems: </a:t>
            </a:r>
            <a:r>
              <a:rPr lang="en-US" sz="2400"/>
              <a:t>Some drivers are operating without </a:t>
            </a:r>
            <a:r>
              <a:rPr b="1" lang="en-US" sz="2400">
                <a:solidFill>
                  <a:srgbClr val="FF0000"/>
                </a:solidFill>
              </a:rPr>
              <a:t>proper commercial licenses</a:t>
            </a:r>
            <a:r>
              <a:rPr lang="en-US" sz="2400"/>
              <a:t>. This can lead to insurance issues in case of accidents, creating risks for both drivers and passengers​ </a:t>
            </a:r>
            <a:endParaRPr/>
          </a:p>
          <a:p>
            <a:pPr indent="-228600" lvl="0" marL="228600" rtl="0" algn="l">
              <a:lnSpc>
                <a:spcPct val="90000"/>
              </a:lnSpc>
              <a:spcBef>
                <a:spcPts val="1000"/>
              </a:spcBef>
              <a:spcAft>
                <a:spcPts val="0"/>
              </a:spcAft>
              <a:buClr>
                <a:schemeClr val="dk1"/>
              </a:buClr>
              <a:buSzPct val="100000"/>
              <a:buChar char="•"/>
            </a:pPr>
            <a:r>
              <a:rPr b="1" lang="en-US" sz="2400"/>
              <a:t>Offline Ride Requests: </a:t>
            </a:r>
            <a:r>
              <a:rPr lang="en-US" sz="2400"/>
              <a:t>Drivers often ask passengers to </a:t>
            </a:r>
            <a:r>
              <a:rPr b="1" lang="en-US" sz="2400">
                <a:solidFill>
                  <a:srgbClr val="FF0000"/>
                </a:solidFill>
              </a:rPr>
              <a:t>cancel the app booking</a:t>
            </a:r>
            <a:r>
              <a:rPr lang="en-US" sz="2400">
                <a:solidFill>
                  <a:srgbClr val="FF0000"/>
                </a:solidFill>
              </a:rPr>
              <a:t> </a:t>
            </a:r>
            <a:r>
              <a:rPr lang="en-US" sz="2400"/>
              <a:t>and continue offline. This is uncomfortable for users and raises trust issues​ </a:t>
            </a:r>
            <a:endParaRPr/>
          </a:p>
          <a:p>
            <a:pPr indent="-228600" lvl="0" marL="228600" rtl="0" algn="l">
              <a:lnSpc>
                <a:spcPct val="90000"/>
              </a:lnSpc>
              <a:spcBef>
                <a:spcPts val="1000"/>
              </a:spcBef>
              <a:spcAft>
                <a:spcPts val="0"/>
              </a:spcAft>
              <a:buClr>
                <a:schemeClr val="dk1"/>
              </a:buClr>
              <a:buSzPct val="100000"/>
              <a:buChar char="•"/>
            </a:pPr>
            <a:r>
              <a:rPr b="1" lang="en-US" sz="2400"/>
              <a:t>Harassment by Auto Drivers: </a:t>
            </a:r>
            <a:r>
              <a:rPr lang="en-US" sz="2400"/>
              <a:t>Passengers, particularly those booking bike taxis, report harassment from auto drivers. This includes intimidation and aggressive behavior &amp; </a:t>
            </a:r>
            <a:r>
              <a:rPr b="1" lang="en-US" sz="2400">
                <a:solidFill>
                  <a:srgbClr val="FF0000"/>
                </a:solidFill>
              </a:rPr>
              <a:t>rude treatment</a:t>
            </a:r>
            <a:r>
              <a:rPr lang="en-US" sz="2400">
                <a:solidFill>
                  <a:srgbClr val="FF0000"/>
                </a:solidFill>
              </a:rPr>
              <a:t> </a:t>
            </a:r>
            <a:r>
              <a:rPr lang="en-US" sz="2400"/>
              <a:t>from auto drivers, worsening their experience</a:t>
            </a:r>
            <a:endParaRPr/>
          </a:p>
          <a:p>
            <a:pPr indent="-228600" lvl="0" marL="228600" rtl="0" algn="l">
              <a:lnSpc>
                <a:spcPct val="90000"/>
              </a:lnSpc>
              <a:spcBef>
                <a:spcPts val="1000"/>
              </a:spcBef>
              <a:spcAft>
                <a:spcPts val="0"/>
              </a:spcAft>
              <a:buClr>
                <a:schemeClr val="dk1"/>
              </a:buClr>
              <a:buSzPct val="100000"/>
              <a:buChar char="•"/>
            </a:pPr>
            <a:r>
              <a:rPr b="1" lang="en-US" sz="2400"/>
              <a:t>Reckless Driving: </a:t>
            </a:r>
            <a:r>
              <a:rPr lang="en-US" sz="2400"/>
              <a:t>Users have flagged </a:t>
            </a:r>
            <a:r>
              <a:rPr b="1" lang="en-US" sz="2400">
                <a:solidFill>
                  <a:srgbClr val="FF0000"/>
                </a:solidFill>
              </a:rPr>
              <a:t>reckless driving</a:t>
            </a:r>
            <a:r>
              <a:rPr lang="en-US" sz="2400">
                <a:solidFill>
                  <a:srgbClr val="FF0000"/>
                </a:solidFill>
              </a:rPr>
              <a:t> </a:t>
            </a:r>
            <a:r>
              <a:rPr lang="en-US" sz="2400"/>
              <a:t>by some drivers as a major safety concern. This issue undermines user trust and satisfaction</a:t>
            </a:r>
            <a:endParaRPr/>
          </a:p>
          <a:p>
            <a:pPr indent="-228600" lvl="0" marL="228600" rtl="0" algn="l">
              <a:lnSpc>
                <a:spcPct val="90000"/>
              </a:lnSpc>
              <a:spcBef>
                <a:spcPts val="1000"/>
              </a:spcBef>
              <a:spcAft>
                <a:spcPts val="0"/>
              </a:spcAft>
              <a:buClr>
                <a:schemeClr val="dk1"/>
              </a:buClr>
              <a:buSzPct val="100000"/>
              <a:buChar char="•"/>
            </a:pPr>
            <a:r>
              <a:rPr b="1" lang="en-US" sz="2400"/>
              <a:t>Insufficient Safety Measures: </a:t>
            </a:r>
            <a:r>
              <a:rPr lang="en-US" sz="2400"/>
              <a:t>The current safety measures implemented by Rapido are seen as </a:t>
            </a:r>
            <a:r>
              <a:rPr b="1" lang="en-US" sz="2400">
                <a:solidFill>
                  <a:srgbClr val="FF0000"/>
                </a:solidFill>
              </a:rPr>
              <a:t>inadequate</a:t>
            </a:r>
            <a:r>
              <a:rPr lang="en-US" sz="2400"/>
              <a:t> by many users. There is a strong demand for more robust protocols​</a:t>
            </a:r>
            <a:endParaRPr/>
          </a:p>
          <a:p>
            <a:pPr indent="-228600" lvl="0" marL="228600" rtl="0" algn="l">
              <a:lnSpc>
                <a:spcPct val="90000"/>
              </a:lnSpc>
              <a:spcBef>
                <a:spcPts val="1000"/>
              </a:spcBef>
              <a:spcAft>
                <a:spcPts val="0"/>
              </a:spcAft>
              <a:buClr>
                <a:schemeClr val="dk1"/>
              </a:buClr>
              <a:buSzPct val="100000"/>
              <a:buChar char="•"/>
            </a:pPr>
            <a:r>
              <a:rPr b="1" lang="en-US" sz="2400"/>
              <a:t>Ineffective Chatbots: </a:t>
            </a:r>
            <a:r>
              <a:rPr lang="en-US" sz="2400"/>
              <a:t>Many users find the chatbot-driven customer support to be </a:t>
            </a:r>
            <a:r>
              <a:rPr b="1" lang="en-US" sz="2400">
                <a:solidFill>
                  <a:srgbClr val="FF0000"/>
                </a:solidFill>
              </a:rPr>
              <a:t>ineffective</a:t>
            </a:r>
            <a:r>
              <a:rPr lang="en-US" sz="2400"/>
              <a:t>. Issues are often unresolved, leading to frustration and dissatisfaction</a:t>
            </a:r>
            <a:endParaRPr/>
          </a:p>
          <a:p>
            <a:pPr indent="-228600" lvl="0" marL="228600" rtl="0" algn="l">
              <a:lnSpc>
                <a:spcPct val="90000"/>
              </a:lnSpc>
              <a:spcBef>
                <a:spcPts val="1000"/>
              </a:spcBef>
              <a:spcAft>
                <a:spcPts val="0"/>
              </a:spcAft>
              <a:buClr>
                <a:schemeClr val="dk1"/>
              </a:buClr>
              <a:buSzPct val="100000"/>
              <a:buChar char="•"/>
            </a:pPr>
            <a:r>
              <a:rPr b="1" lang="en-US" sz="2400"/>
              <a:t>Frequent Cancellations: </a:t>
            </a:r>
            <a:r>
              <a:rPr b="1" lang="en-US" sz="2400">
                <a:solidFill>
                  <a:srgbClr val="FF0000"/>
                </a:solidFill>
              </a:rPr>
              <a:t>High cancellation rates</a:t>
            </a:r>
            <a:r>
              <a:rPr lang="en-US" sz="2400">
                <a:solidFill>
                  <a:srgbClr val="FF0000"/>
                </a:solidFill>
              </a:rPr>
              <a:t> </a:t>
            </a:r>
            <a:r>
              <a:rPr lang="en-US" sz="2400"/>
              <a:t>are a frequent complaint among users. This disrupts their plans and negatively impacts the user experience​</a:t>
            </a:r>
            <a:endParaRPr/>
          </a:p>
          <a:p>
            <a:pPr indent="-228600" lvl="0" marL="228600" rtl="0" algn="l">
              <a:lnSpc>
                <a:spcPct val="90000"/>
              </a:lnSpc>
              <a:spcBef>
                <a:spcPts val="1000"/>
              </a:spcBef>
              <a:spcAft>
                <a:spcPts val="0"/>
              </a:spcAft>
              <a:buClr>
                <a:schemeClr val="dk1"/>
              </a:buClr>
              <a:buSzPct val="100000"/>
              <a:buChar char="•"/>
            </a:pPr>
            <a:r>
              <a:rPr b="1" lang="en-US" sz="2400"/>
              <a:t>Fair Pricing: </a:t>
            </a:r>
            <a:r>
              <a:rPr b="1" lang="en-US" sz="2400">
                <a:solidFill>
                  <a:srgbClr val="FF0000"/>
                </a:solidFill>
              </a:rPr>
              <a:t>High surge pricing</a:t>
            </a:r>
            <a:r>
              <a:rPr lang="en-US" sz="2400">
                <a:solidFill>
                  <a:srgbClr val="FF0000"/>
                </a:solidFill>
              </a:rPr>
              <a:t> </a:t>
            </a:r>
            <a:r>
              <a:rPr lang="en-US" sz="2400"/>
              <a:t>during peak hours is a significant issue. Users are calling for more consistent and fair pricing models.</a:t>
            </a:r>
            <a:endParaRPr/>
          </a:p>
          <a:p>
            <a:pPr indent="0" lvl="0" marL="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239" name="Google Shape;239;p17"/>
          <p:cNvSpPr txBox="1"/>
          <p:nvPr/>
        </p:nvSpPr>
        <p:spPr>
          <a:xfrm>
            <a:off x="1614233" y="813489"/>
            <a:ext cx="114225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Geo"/>
                <a:ea typeface="Geo"/>
                <a:cs typeface="Geo"/>
                <a:sym typeface="Geo"/>
              </a:rPr>
              <a:t>Reviews collated from </a:t>
            </a:r>
            <a:r>
              <a:rPr b="1" lang="en-US" sz="2400" u="sng">
                <a:solidFill>
                  <a:srgbClr val="FF0000"/>
                </a:solidFill>
                <a:latin typeface="Geo"/>
                <a:ea typeface="Geo"/>
                <a:cs typeface="Geo"/>
                <a:sym typeface="Geo"/>
                <a:hlinkClick r:id="rId3">
                  <a:extLst>
                    <a:ext uri="{A12FA001-AC4F-418D-AE19-62706E023703}">
                      <ahyp:hlinkClr val="tx"/>
                    </a:ext>
                  </a:extLst>
                </a:hlinkClick>
              </a:rPr>
              <a:t>Google Play Store</a:t>
            </a:r>
            <a:endParaRPr b="1" sz="2400">
              <a:solidFill>
                <a:srgbClr val="FF0000"/>
              </a:solidFill>
              <a:latin typeface="Geo"/>
              <a:ea typeface="Geo"/>
              <a:cs typeface="Geo"/>
              <a:sym typeface="Geo"/>
            </a:endParaRPr>
          </a:p>
        </p:txBody>
      </p:sp>
      <p:pic>
        <p:nvPicPr>
          <p:cNvPr id="240" name="Google Shape;240;p17"/>
          <p:cNvPicPr preferRelativeResize="0"/>
          <p:nvPr/>
        </p:nvPicPr>
        <p:blipFill rotWithShape="1">
          <a:blip r:embed="rId4">
            <a:alphaModFix/>
          </a:blip>
          <a:srcRect b="0" l="0" r="0" t="0"/>
          <a:stretch/>
        </p:blipFill>
        <p:spPr>
          <a:xfrm>
            <a:off x="1" y="886835"/>
            <a:ext cx="1614232" cy="3883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8"/>
          <p:cNvSpPr txBox="1"/>
          <p:nvPr>
            <p:ph type="title"/>
          </p:nvPr>
        </p:nvSpPr>
        <p:spPr>
          <a:xfrm>
            <a:off x="0" y="1"/>
            <a:ext cx="12192000" cy="1139251"/>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Key Insights from Market and User Research</a:t>
            </a:r>
            <a:endParaRPr/>
          </a:p>
        </p:txBody>
      </p:sp>
      <p:grpSp>
        <p:nvGrpSpPr>
          <p:cNvPr id="246" name="Google Shape;246;p18"/>
          <p:cNvGrpSpPr/>
          <p:nvPr/>
        </p:nvGrpSpPr>
        <p:grpSpPr>
          <a:xfrm>
            <a:off x="838874" y="2077369"/>
            <a:ext cx="10514250" cy="3847849"/>
            <a:chOff x="674" y="251744"/>
            <a:chExt cx="10514250" cy="3847849"/>
          </a:xfrm>
        </p:grpSpPr>
        <p:sp>
          <p:nvSpPr>
            <p:cNvPr id="247" name="Google Shape;247;p18"/>
            <p:cNvSpPr/>
            <p:nvPr/>
          </p:nvSpPr>
          <p:spPr>
            <a:xfrm rot="5400000">
              <a:off x="387510" y="1985930"/>
              <a:ext cx="1165208" cy="1938880"/>
            </a:xfrm>
            <a:prstGeom prst="corner">
              <a:avLst>
                <a:gd fmla="val 16120" name="adj1"/>
                <a:gd fmla="val 16110" name="adj2"/>
              </a:avLst>
            </a:prstGeom>
            <a:solidFill>
              <a:srgbClr val="E97131"/>
            </a:solidFill>
            <a:ln cap="flat" cmpd="sng" w="19050">
              <a:solidFill>
                <a:srgbClr val="E9713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p:nvPr/>
          </p:nvSpPr>
          <p:spPr>
            <a:xfrm>
              <a:off x="193008" y="2565237"/>
              <a:ext cx="1750432" cy="153435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
            <p:cNvSpPr txBox="1"/>
            <p:nvPr/>
          </p:nvSpPr>
          <p:spPr>
            <a:xfrm>
              <a:off x="193008" y="2565237"/>
              <a:ext cx="1750432" cy="1534356"/>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rial"/>
                <a:buNone/>
              </a:pPr>
              <a:r>
                <a:rPr b="0" i="0" lang="en-US" sz="1600">
                  <a:solidFill>
                    <a:schemeClr val="dk1"/>
                  </a:solidFill>
                  <a:latin typeface="Arial"/>
                  <a:ea typeface="Arial"/>
                  <a:cs typeface="Arial"/>
                  <a:sym typeface="Arial"/>
                </a:rPr>
                <a:t>Significant need for affordable and quick transportation solutions in urban and peri-urban </a:t>
              </a:r>
              <a:r>
                <a:rPr b="1" i="0" lang="en-US" sz="1800">
                  <a:solidFill>
                    <a:schemeClr val="dk1"/>
                  </a:solidFill>
                  <a:latin typeface="Arial"/>
                  <a:ea typeface="Arial"/>
                  <a:cs typeface="Arial"/>
                  <a:sym typeface="Arial"/>
                </a:rPr>
                <a:t>areas.</a:t>
              </a:r>
              <a:endParaRPr b="1" i="0" sz="1800">
                <a:solidFill>
                  <a:schemeClr val="dk1"/>
                </a:solidFill>
                <a:latin typeface="Arial"/>
                <a:ea typeface="Arial"/>
                <a:cs typeface="Arial"/>
                <a:sym typeface="Arial"/>
              </a:endParaRPr>
            </a:p>
          </p:txBody>
        </p:sp>
        <p:sp>
          <p:nvSpPr>
            <p:cNvPr id="250" name="Google Shape;250;p18"/>
            <p:cNvSpPr/>
            <p:nvPr/>
          </p:nvSpPr>
          <p:spPr>
            <a:xfrm>
              <a:off x="1613170" y="1843187"/>
              <a:ext cx="330270" cy="330270"/>
            </a:xfrm>
            <a:prstGeom prst="triangle">
              <a:avLst>
                <a:gd fmla="val 100000" name="adj"/>
              </a:avLst>
            </a:prstGeom>
            <a:solidFill>
              <a:srgbClr val="176B22"/>
            </a:solidFill>
            <a:ln cap="flat" cmpd="sng" w="19050">
              <a:solidFill>
                <a:srgbClr val="176B2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
            <p:cNvSpPr/>
            <p:nvPr/>
          </p:nvSpPr>
          <p:spPr>
            <a:xfrm rot="5400000">
              <a:off x="2530381" y="1455674"/>
              <a:ext cx="1165208" cy="1938880"/>
            </a:xfrm>
            <a:prstGeom prst="corner">
              <a:avLst>
                <a:gd fmla="val 16120" name="adj1"/>
                <a:gd fmla="val 16110" name="adj2"/>
              </a:avLst>
            </a:prstGeom>
            <a:solidFill>
              <a:srgbClr val="0C9ED5"/>
            </a:solidFill>
            <a:ln cap="flat" cmpd="sng" w="19050">
              <a:solidFill>
                <a:srgbClr val="0C9ED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p:nvPr/>
          </p:nvSpPr>
          <p:spPr>
            <a:xfrm>
              <a:off x="2335879" y="2034982"/>
              <a:ext cx="1750432" cy="153435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8"/>
            <p:cNvSpPr txBox="1"/>
            <p:nvPr/>
          </p:nvSpPr>
          <p:spPr>
            <a:xfrm>
              <a:off x="2335879" y="2034982"/>
              <a:ext cx="1750432" cy="1534356"/>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Geo"/>
                <a:buNone/>
              </a:pPr>
              <a:r>
                <a:rPr b="0" i="0" lang="en-US" sz="1600">
                  <a:solidFill>
                    <a:schemeClr val="dk1"/>
                  </a:solidFill>
                  <a:latin typeface="Geo"/>
                  <a:ea typeface="Geo"/>
                  <a:cs typeface="Geo"/>
                  <a:sym typeface="Geo"/>
                </a:rPr>
                <a:t>Expanding market for bike taxis and similar services, with over 25 million app downloads</a:t>
              </a:r>
              <a:endParaRPr b="0" i="0" sz="1600">
                <a:solidFill>
                  <a:schemeClr val="dk1"/>
                </a:solidFill>
                <a:latin typeface="Geo"/>
                <a:ea typeface="Geo"/>
                <a:cs typeface="Geo"/>
                <a:sym typeface="Geo"/>
              </a:endParaRPr>
            </a:p>
          </p:txBody>
        </p:sp>
        <p:sp>
          <p:nvSpPr>
            <p:cNvPr id="254" name="Google Shape;254;p18"/>
            <p:cNvSpPr/>
            <p:nvPr/>
          </p:nvSpPr>
          <p:spPr>
            <a:xfrm>
              <a:off x="3756041" y="1312931"/>
              <a:ext cx="330270" cy="330270"/>
            </a:xfrm>
            <a:prstGeom prst="triangle">
              <a:avLst>
                <a:gd fmla="val 100000" name="adj"/>
              </a:avLst>
            </a:prstGeom>
            <a:solidFill>
              <a:srgbClr val="A02891"/>
            </a:solidFill>
            <a:ln cap="flat" cmpd="sng" w="19050">
              <a:solidFill>
                <a:srgbClr val="A0289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
            <p:cNvSpPr/>
            <p:nvPr/>
          </p:nvSpPr>
          <p:spPr>
            <a:xfrm rot="5400000">
              <a:off x="4673253" y="925418"/>
              <a:ext cx="1165208" cy="1938880"/>
            </a:xfrm>
            <a:prstGeom prst="corner">
              <a:avLst>
                <a:gd fmla="val 16120" name="adj1"/>
                <a:gd fmla="val 16110" name="adj2"/>
              </a:avLst>
            </a:prstGeom>
            <a:solidFill>
              <a:srgbClr val="4EA62C"/>
            </a:solidFill>
            <a:ln cap="flat" cmpd="sng" w="19050">
              <a:solidFill>
                <a:srgbClr val="4EA62C"/>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8"/>
            <p:cNvSpPr/>
            <p:nvPr/>
          </p:nvSpPr>
          <p:spPr>
            <a:xfrm>
              <a:off x="4478750" y="1504726"/>
              <a:ext cx="1750432" cy="153435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8"/>
            <p:cNvSpPr txBox="1"/>
            <p:nvPr/>
          </p:nvSpPr>
          <p:spPr>
            <a:xfrm>
              <a:off x="4478750" y="1504726"/>
              <a:ext cx="1750432" cy="1534356"/>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Geo"/>
                <a:buNone/>
              </a:pPr>
              <a:r>
                <a:rPr lang="en-US" sz="1500">
                  <a:solidFill>
                    <a:schemeClr val="dk1"/>
                  </a:solidFill>
                  <a:latin typeface="Geo"/>
                  <a:ea typeface="Geo"/>
                  <a:cs typeface="Geo"/>
                  <a:sym typeface="Geo"/>
                </a:rPr>
                <a:t>Major cities like Bengaluru, Delhi, and Mumbai are key markets, with potential growth in Tier 2 and Tier 3 cities</a:t>
              </a:r>
              <a:endParaRPr sz="1500">
                <a:solidFill>
                  <a:schemeClr val="dk1"/>
                </a:solidFill>
                <a:latin typeface="Geo"/>
                <a:ea typeface="Geo"/>
                <a:cs typeface="Geo"/>
                <a:sym typeface="Geo"/>
              </a:endParaRPr>
            </a:p>
          </p:txBody>
        </p:sp>
        <p:sp>
          <p:nvSpPr>
            <p:cNvPr id="258" name="Google Shape;258;p18"/>
            <p:cNvSpPr/>
            <p:nvPr/>
          </p:nvSpPr>
          <p:spPr>
            <a:xfrm>
              <a:off x="5898912" y="782676"/>
              <a:ext cx="330270" cy="330270"/>
            </a:xfrm>
            <a:prstGeom prst="triangle">
              <a:avLst>
                <a:gd fmla="val 100000" name="adj"/>
              </a:avLst>
            </a:prstGeom>
            <a:solidFill>
              <a:srgbClr val="E97131"/>
            </a:solidFill>
            <a:ln cap="flat" cmpd="sng" w="19050">
              <a:solidFill>
                <a:srgbClr val="E9713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8"/>
            <p:cNvSpPr/>
            <p:nvPr/>
          </p:nvSpPr>
          <p:spPr>
            <a:xfrm rot="5400000">
              <a:off x="6816124" y="395163"/>
              <a:ext cx="1165208" cy="1938880"/>
            </a:xfrm>
            <a:prstGeom prst="corner">
              <a:avLst>
                <a:gd fmla="val 16120" name="adj1"/>
                <a:gd fmla="val 16110" name="adj2"/>
              </a:avLst>
            </a:prstGeom>
            <a:solidFill>
              <a:srgbClr val="176B22"/>
            </a:solidFill>
            <a:ln cap="flat" cmpd="sng" w="19050">
              <a:solidFill>
                <a:srgbClr val="176B2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p:nvPr/>
          </p:nvSpPr>
          <p:spPr>
            <a:xfrm>
              <a:off x="6621621" y="974470"/>
              <a:ext cx="1750432" cy="153435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8"/>
            <p:cNvSpPr txBox="1"/>
            <p:nvPr/>
          </p:nvSpPr>
          <p:spPr>
            <a:xfrm>
              <a:off x="6621621" y="974470"/>
              <a:ext cx="1750432" cy="1534356"/>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Geo"/>
                <a:buNone/>
              </a:pPr>
              <a:r>
                <a:rPr lang="en-US" sz="1500">
                  <a:solidFill>
                    <a:schemeClr val="dk1"/>
                  </a:solidFill>
                  <a:latin typeface="Geo"/>
                  <a:ea typeface="Geo"/>
                  <a:cs typeface="Geo"/>
                  <a:sym typeface="Geo"/>
                </a:rPr>
                <a:t>Users highly value services offering affordability, speed, and convenience for daily commutes.</a:t>
              </a:r>
              <a:endParaRPr sz="1500">
                <a:solidFill>
                  <a:schemeClr val="dk1"/>
                </a:solidFill>
                <a:latin typeface="Geo"/>
                <a:ea typeface="Geo"/>
                <a:cs typeface="Geo"/>
                <a:sym typeface="Geo"/>
              </a:endParaRPr>
            </a:p>
          </p:txBody>
        </p:sp>
        <p:sp>
          <p:nvSpPr>
            <p:cNvPr id="262" name="Google Shape;262;p18"/>
            <p:cNvSpPr/>
            <p:nvPr/>
          </p:nvSpPr>
          <p:spPr>
            <a:xfrm>
              <a:off x="8041783" y="252420"/>
              <a:ext cx="330270" cy="330270"/>
            </a:xfrm>
            <a:prstGeom prst="triangle">
              <a:avLst>
                <a:gd fmla="val 100000" name="adj"/>
              </a:avLst>
            </a:prstGeom>
            <a:solidFill>
              <a:srgbClr val="0C9ED5"/>
            </a:solidFill>
            <a:ln cap="flat" cmpd="sng" w="19050">
              <a:solidFill>
                <a:srgbClr val="0C9ED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8"/>
            <p:cNvSpPr/>
            <p:nvPr/>
          </p:nvSpPr>
          <p:spPr>
            <a:xfrm rot="5400000">
              <a:off x="8958995" y="-135092"/>
              <a:ext cx="1165208" cy="1938880"/>
            </a:xfrm>
            <a:prstGeom prst="corner">
              <a:avLst>
                <a:gd fmla="val 16120" name="adj1"/>
                <a:gd fmla="val 16110" name="adj2"/>
              </a:avLst>
            </a:prstGeom>
            <a:solidFill>
              <a:srgbClr val="A02891"/>
            </a:solidFill>
            <a:ln cap="flat" cmpd="sng" w="19050">
              <a:solidFill>
                <a:srgbClr val="A0289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8"/>
            <p:cNvSpPr/>
            <p:nvPr/>
          </p:nvSpPr>
          <p:spPr>
            <a:xfrm>
              <a:off x="8764492" y="444215"/>
              <a:ext cx="1750432" cy="153435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8"/>
            <p:cNvSpPr txBox="1"/>
            <p:nvPr/>
          </p:nvSpPr>
          <p:spPr>
            <a:xfrm>
              <a:off x="8764492" y="444215"/>
              <a:ext cx="1750432" cy="1534356"/>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Geo"/>
                <a:buNone/>
              </a:pPr>
              <a:r>
                <a:rPr lang="en-US" sz="1500">
                  <a:solidFill>
                    <a:schemeClr val="dk1"/>
                  </a:solidFill>
                  <a:latin typeface="Geo"/>
                  <a:ea typeface="Geo"/>
                  <a:cs typeface="Geo"/>
                  <a:sym typeface="Geo"/>
                </a:rPr>
                <a:t>Regulatory challenges and safety concerns are critical issues that need to be addressed to build user trust and ensure compliance.</a:t>
              </a:r>
              <a:endParaRPr sz="1500">
                <a:solidFill>
                  <a:schemeClr val="dk1"/>
                </a:solidFill>
                <a:latin typeface="Geo"/>
                <a:ea typeface="Geo"/>
                <a:cs typeface="Geo"/>
                <a:sym typeface="Ge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9" name="Shape 269"/>
        <p:cNvGrpSpPr/>
        <p:nvPr/>
      </p:nvGrpSpPr>
      <p:grpSpPr>
        <a:xfrm>
          <a:off x="0" y="0"/>
          <a:ext cx="0" cy="0"/>
          <a:chOff x="0" y="0"/>
          <a:chExt cx="0" cy="0"/>
        </a:xfrm>
      </p:grpSpPr>
      <p:sp>
        <p:nvSpPr>
          <p:cNvPr id="270" name="Google Shape;270;p19"/>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close-up of triangles&#10;&#10;Description automatically generated" id="271" name="Google Shape;271;p19"/>
          <p:cNvPicPr preferRelativeResize="0"/>
          <p:nvPr/>
        </p:nvPicPr>
        <p:blipFill rotWithShape="1">
          <a:blip r:embed="rId3">
            <a:alphaModFix amt="50000"/>
          </a:blip>
          <a:srcRect b="7455" l="0" r="0" t="8275"/>
          <a:stretch/>
        </p:blipFill>
        <p:spPr>
          <a:xfrm>
            <a:off x="0" y="1"/>
            <a:ext cx="12191980" cy="6857999"/>
          </a:xfrm>
          <a:prstGeom prst="rect">
            <a:avLst/>
          </a:prstGeom>
          <a:solidFill>
            <a:srgbClr val="FFC000"/>
          </a:solidFill>
          <a:ln>
            <a:noFill/>
          </a:ln>
        </p:spPr>
      </p:pic>
      <p:sp>
        <p:nvSpPr>
          <p:cNvPr id="272" name="Google Shape;272;p19"/>
          <p:cNvSpPr txBox="1"/>
          <p:nvPr>
            <p:ph type="title"/>
          </p:nvPr>
        </p:nvSpPr>
        <p:spPr>
          <a:xfrm>
            <a:off x="1523990" y="1843790"/>
            <a:ext cx="9144000" cy="188122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TARGET AUDIENCE</a:t>
            </a: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72"/>
                                        </p:tgtEl>
                                        <p:attrNameLst>
                                          <p:attrName>style.visibility</p:attrName>
                                        </p:attrNameLst>
                                      </p:cBhvr>
                                      <p:to>
                                        <p:strVal val="visible"/>
                                      </p:to>
                                    </p:set>
                                    <p:animEffect filter="fade" transition="in">
                                      <p:cBhvr>
                                        <p:cTn dur="4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276" name="Shape 276"/>
        <p:cNvGrpSpPr/>
        <p:nvPr/>
      </p:nvGrpSpPr>
      <p:grpSpPr>
        <a:xfrm>
          <a:off x="0" y="0"/>
          <a:ext cx="0" cy="0"/>
          <a:chOff x="0" y="0"/>
          <a:chExt cx="0" cy="0"/>
        </a:xfrm>
      </p:grpSpPr>
      <p:sp>
        <p:nvSpPr>
          <p:cNvPr id="277" name="Google Shape;277;p20"/>
          <p:cNvSpPr txBox="1"/>
          <p:nvPr>
            <p:ph type="title"/>
          </p:nvPr>
        </p:nvSpPr>
        <p:spPr>
          <a:xfrm>
            <a:off x="0" y="23183"/>
            <a:ext cx="1208207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DLaM Display"/>
              <a:buNone/>
            </a:pPr>
            <a:r>
              <a:rPr lang="en-US" sz="6000"/>
              <a:t>Defining the Target Audience</a:t>
            </a:r>
            <a:endParaRPr/>
          </a:p>
        </p:txBody>
      </p:sp>
      <p:sp>
        <p:nvSpPr>
          <p:cNvPr id="278" name="Google Shape;278;p20"/>
          <p:cNvSpPr txBox="1"/>
          <p:nvPr>
            <p:ph idx="1" type="body"/>
          </p:nvPr>
        </p:nvSpPr>
        <p:spPr>
          <a:xfrm>
            <a:off x="359764" y="1654071"/>
            <a:ext cx="4148893" cy="5847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None/>
            </a:pPr>
            <a:r>
              <a:rPr b="0" i="0" lang="en-US" sz="3200" u="none" cap="none" strike="noStrike">
                <a:solidFill>
                  <a:schemeClr val="dk1"/>
                </a:solidFill>
                <a:latin typeface="Arial"/>
                <a:ea typeface="Arial"/>
                <a:cs typeface="Arial"/>
                <a:sym typeface="Arial"/>
              </a:rPr>
              <a:t>Detailed User Profiles</a:t>
            </a:r>
            <a:endParaRPr/>
          </a:p>
        </p:txBody>
      </p:sp>
      <p:graphicFrame>
        <p:nvGraphicFramePr>
          <p:cNvPr id="279" name="Google Shape;279;p20"/>
          <p:cNvGraphicFramePr/>
          <p:nvPr/>
        </p:nvGraphicFramePr>
        <p:xfrm>
          <a:off x="464695" y="2479057"/>
          <a:ext cx="3000000" cy="3000000"/>
        </p:xfrm>
        <a:graphic>
          <a:graphicData uri="http://schemas.openxmlformats.org/drawingml/2006/table">
            <a:tbl>
              <a:tblPr bandRow="1" firstRow="1">
                <a:noFill/>
                <a:tableStyleId>{E73E3090-88B2-4E8C-A6E2-E0969ED46B26}</a:tableStyleId>
              </a:tblPr>
              <a:tblGrid>
                <a:gridCol w="2821900"/>
                <a:gridCol w="1636225"/>
                <a:gridCol w="4007575"/>
                <a:gridCol w="2821900"/>
              </a:tblGrid>
              <a:tr h="416675">
                <a:tc>
                  <a:txBody>
                    <a:bodyPr/>
                    <a:lstStyle/>
                    <a:p>
                      <a:pPr indent="0" lvl="0" marL="0" marR="0" rtl="0" algn="l">
                        <a:spcBef>
                          <a:spcPts val="0"/>
                        </a:spcBef>
                        <a:spcAft>
                          <a:spcPts val="0"/>
                        </a:spcAft>
                        <a:buNone/>
                      </a:pPr>
                      <a:r>
                        <a:rPr lang="en-US" sz="1800" u="none" cap="none" strike="noStrike"/>
                        <a:t>Profile</a:t>
                      </a:r>
                      <a:endParaRPr/>
                    </a:p>
                  </a:txBody>
                  <a:tcPr marT="45725" marB="45725" marR="91450" marL="91450" anchor="ctr"/>
                </a:tc>
                <a:tc>
                  <a:txBody>
                    <a:bodyPr/>
                    <a:lstStyle/>
                    <a:p>
                      <a:pPr indent="0" lvl="0" marL="0" marR="0" rtl="0" algn="l">
                        <a:spcBef>
                          <a:spcPts val="0"/>
                        </a:spcBef>
                        <a:spcAft>
                          <a:spcPts val="0"/>
                        </a:spcAft>
                        <a:buNone/>
                      </a:pPr>
                      <a:r>
                        <a:rPr lang="en-US" sz="1800"/>
                        <a:t>Age Range</a:t>
                      </a:r>
                      <a:endParaRPr/>
                    </a:p>
                  </a:txBody>
                  <a:tcPr marT="45725" marB="45725" marR="91450" marL="91450" anchor="ctr"/>
                </a:tc>
                <a:tc>
                  <a:txBody>
                    <a:bodyPr/>
                    <a:lstStyle/>
                    <a:p>
                      <a:pPr indent="0" lvl="0" marL="0" marR="0" rtl="0" algn="l">
                        <a:spcBef>
                          <a:spcPts val="0"/>
                        </a:spcBef>
                        <a:spcAft>
                          <a:spcPts val="0"/>
                        </a:spcAft>
                        <a:buNone/>
                      </a:pPr>
                      <a:r>
                        <a:rPr lang="en-US" sz="1800"/>
                        <a:t>Key Needs</a:t>
                      </a:r>
                      <a:endParaRPr/>
                    </a:p>
                  </a:txBody>
                  <a:tcPr marT="45725" marB="45725" marR="91450" marL="91450" anchor="ctr"/>
                </a:tc>
                <a:tc>
                  <a:txBody>
                    <a:bodyPr/>
                    <a:lstStyle/>
                    <a:p>
                      <a:pPr indent="0" lvl="0" marL="0" marR="0" rtl="0" algn="l">
                        <a:spcBef>
                          <a:spcPts val="0"/>
                        </a:spcBef>
                        <a:spcAft>
                          <a:spcPts val="0"/>
                        </a:spcAft>
                        <a:buNone/>
                      </a:pPr>
                      <a:r>
                        <a:rPr lang="en-US" sz="1800"/>
                        <a:t>Key Issues</a:t>
                      </a:r>
                      <a:endParaRPr/>
                    </a:p>
                  </a:txBody>
                  <a:tcPr marT="45725" marB="45725" marR="91450" marL="91450" anchor="ctr"/>
                </a:tc>
              </a:tr>
              <a:tr h="578850">
                <a:tc>
                  <a:txBody>
                    <a:bodyPr/>
                    <a:lstStyle/>
                    <a:p>
                      <a:pPr indent="0" lvl="0" marL="0" marR="0" rtl="0" algn="l">
                        <a:spcBef>
                          <a:spcPts val="0"/>
                        </a:spcBef>
                        <a:spcAft>
                          <a:spcPts val="0"/>
                        </a:spcAft>
                        <a:buNone/>
                      </a:pPr>
                      <a:r>
                        <a:rPr b="1" lang="en-US" sz="1800"/>
                        <a:t>Urban Young Professionals</a:t>
                      </a:r>
                      <a:endParaRPr sz="1800"/>
                    </a:p>
                  </a:txBody>
                  <a:tcPr marT="45725" marB="45725" marR="91450" marL="91450"/>
                </a:tc>
                <a:tc>
                  <a:txBody>
                    <a:bodyPr/>
                    <a:lstStyle/>
                    <a:p>
                      <a:pPr indent="0" lvl="0" marL="0" marR="0" rtl="0" algn="l">
                        <a:spcBef>
                          <a:spcPts val="0"/>
                        </a:spcBef>
                        <a:spcAft>
                          <a:spcPts val="0"/>
                        </a:spcAft>
                        <a:buNone/>
                      </a:pPr>
                      <a:r>
                        <a:rPr lang="en-US" sz="1800"/>
                        <a:t>22-35</a:t>
                      </a:r>
                      <a:endParaRPr/>
                    </a:p>
                  </a:txBody>
                  <a:tcPr marT="45725" marB="45725" marR="91450" marL="91450"/>
                </a:tc>
                <a:tc>
                  <a:txBody>
                    <a:bodyPr/>
                    <a:lstStyle/>
                    <a:p>
                      <a:pPr indent="0" lvl="0" marL="0" marR="0" rtl="0" algn="l">
                        <a:spcBef>
                          <a:spcPts val="0"/>
                        </a:spcBef>
                        <a:spcAft>
                          <a:spcPts val="0"/>
                        </a:spcAft>
                        <a:buNone/>
                      </a:pPr>
                      <a:r>
                        <a:rPr lang="en-US" sz="1800"/>
                        <a:t>Quick and affordable transport, minimal wait times.</a:t>
                      </a:r>
                      <a:endParaRPr/>
                    </a:p>
                  </a:txBody>
                  <a:tcPr marT="45725" marB="45725" marR="91450" marL="91450"/>
                </a:tc>
                <a:tc>
                  <a:txBody>
                    <a:bodyPr/>
                    <a:lstStyle/>
                    <a:p>
                      <a:pPr indent="0" lvl="0" marL="0" marR="0" rtl="0" algn="l">
                        <a:spcBef>
                          <a:spcPts val="0"/>
                        </a:spcBef>
                        <a:spcAft>
                          <a:spcPts val="0"/>
                        </a:spcAft>
                        <a:buNone/>
                      </a:pPr>
                      <a:r>
                        <a:rPr lang="en-US" sz="1800"/>
                        <a:t>Safety concerns, regulatory issues.</a:t>
                      </a:r>
                      <a:endParaRPr/>
                    </a:p>
                  </a:txBody>
                  <a:tcPr marT="45725" marB="45725" marR="91450" marL="91450"/>
                </a:tc>
              </a:tr>
              <a:tr h="673275">
                <a:tc>
                  <a:txBody>
                    <a:bodyPr/>
                    <a:lstStyle/>
                    <a:p>
                      <a:pPr indent="0" lvl="0" marL="0" marR="0" rtl="0" algn="l">
                        <a:spcBef>
                          <a:spcPts val="0"/>
                        </a:spcBef>
                        <a:spcAft>
                          <a:spcPts val="0"/>
                        </a:spcAft>
                        <a:buNone/>
                      </a:pPr>
                      <a:r>
                        <a:rPr b="1" lang="en-US" sz="1800"/>
                        <a:t>College Students</a:t>
                      </a:r>
                      <a:endParaRPr/>
                    </a:p>
                  </a:txBody>
                  <a:tcPr marT="45725" marB="45725" marR="91450" marL="91450"/>
                </a:tc>
                <a:tc>
                  <a:txBody>
                    <a:bodyPr/>
                    <a:lstStyle/>
                    <a:p>
                      <a:pPr indent="0" lvl="0" marL="0" marR="0" rtl="0" algn="l">
                        <a:spcBef>
                          <a:spcPts val="0"/>
                        </a:spcBef>
                        <a:spcAft>
                          <a:spcPts val="0"/>
                        </a:spcAft>
                        <a:buNone/>
                      </a:pPr>
                      <a:r>
                        <a:rPr lang="en-US" sz="1800"/>
                        <a:t>18-25</a:t>
                      </a:r>
                      <a:endParaRPr/>
                    </a:p>
                  </a:txBody>
                  <a:tcPr marT="45725" marB="45725" marR="91450" marL="91450"/>
                </a:tc>
                <a:tc>
                  <a:txBody>
                    <a:bodyPr/>
                    <a:lstStyle/>
                    <a:p>
                      <a:pPr indent="0" lvl="0" marL="0" marR="0" rtl="0" algn="l">
                        <a:spcBef>
                          <a:spcPts val="0"/>
                        </a:spcBef>
                        <a:spcAft>
                          <a:spcPts val="0"/>
                        </a:spcAft>
                        <a:buNone/>
                      </a:pPr>
                      <a:r>
                        <a:rPr lang="en-US" sz="1800"/>
                        <a:t>Affordable, reliable for daily commutes, available during peak hours.</a:t>
                      </a:r>
                      <a:endParaRPr sz="1800"/>
                    </a:p>
                  </a:txBody>
                  <a:tcPr marT="45725" marB="45725" marR="91450" marL="91450"/>
                </a:tc>
                <a:tc>
                  <a:txBody>
                    <a:bodyPr/>
                    <a:lstStyle/>
                    <a:p>
                      <a:pPr indent="0" lvl="0" marL="0" marR="0" rtl="0" algn="l">
                        <a:spcBef>
                          <a:spcPts val="0"/>
                        </a:spcBef>
                        <a:spcAft>
                          <a:spcPts val="0"/>
                        </a:spcAft>
                        <a:buNone/>
                      </a:pPr>
                      <a:r>
                        <a:rPr lang="en-US" sz="1800"/>
                        <a:t>Limited availability, affordability.</a:t>
                      </a:r>
                      <a:endParaRPr/>
                    </a:p>
                  </a:txBody>
                  <a:tcPr marT="45725" marB="45725" marR="91450" marL="91450"/>
                </a:tc>
              </a:tr>
              <a:tr h="737675">
                <a:tc>
                  <a:txBody>
                    <a:bodyPr/>
                    <a:lstStyle/>
                    <a:p>
                      <a:pPr indent="0" lvl="0" marL="0" marR="0" rtl="0" algn="l">
                        <a:spcBef>
                          <a:spcPts val="0"/>
                        </a:spcBef>
                        <a:spcAft>
                          <a:spcPts val="0"/>
                        </a:spcAft>
                        <a:buNone/>
                      </a:pPr>
                      <a:r>
                        <a:rPr b="1" lang="en-US" sz="1800"/>
                        <a:t>Office Workers</a:t>
                      </a:r>
                      <a:endParaRPr/>
                    </a:p>
                  </a:txBody>
                  <a:tcPr marT="45725" marB="45725" marR="91450" marL="91450"/>
                </a:tc>
                <a:tc>
                  <a:txBody>
                    <a:bodyPr/>
                    <a:lstStyle/>
                    <a:p>
                      <a:pPr indent="0" lvl="0" marL="0" marR="0" rtl="0" algn="l">
                        <a:spcBef>
                          <a:spcPts val="0"/>
                        </a:spcBef>
                        <a:spcAft>
                          <a:spcPts val="0"/>
                        </a:spcAft>
                        <a:buNone/>
                      </a:pPr>
                      <a:r>
                        <a:rPr lang="en-US" sz="1800"/>
                        <a:t>25-50</a:t>
                      </a:r>
                      <a:endParaRPr/>
                    </a:p>
                  </a:txBody>
                  <a:tcPr marT="45725" marB="45725" marR="91450" marL="91450"/>
                </a:tc>
                <a:tc>
                  <a:txBody>
                    <a:bodyPr/>
                    <a:lstStyle/>
                    <a:p>
                      <a:pPr indent="0" lvl="0" marL="0" marR="0" rtl="0" algn="l">
                        <a:spcBef>
                          <a:spcPts val="0"/>
                        </a:spcBef>
                        <a:spcAft>
                          <a:spcPts val="0"/>
                        </a:spcAft>
                        <a:buNone/>
                      </a:pPr>
                      <a:r>
                        <a:rPr lang="en-US" sz="1800"/>
                        <a:t>Hassle-free booking, confirmed rides, affordability.</a:t>
                      </a:r>
                      <a:endParaRPr sz="1800"/>
                    </a:p>
                  </a:txBody>
                  <a:tcPr marT="45725" marB="45725" marR="91450" marL="91450"/>
                </a:tc>
                <a:tc>
                  <a:txBody>
                    <a:bodyPr/>
                    <a:lstStyle/>
                    <a:p>
                      <a:pPr indent="0" lvl="0" marL="0" marR="0" rtl="0" algn="l">
                        <a:spcBef>
                          <a:spcPts val="0"/>
                        </a:spcBef>
                        <a:spcAft>
                          <a:spcPts val="0"/>
                        </a:spcAft>
                        <a:buNone/>
                      </a:pPr>
                      <a:r>
                        <a:rPr lang="en-US" sz="1800"/>
                        <a:t>Cancellations, safety, legal clarity.</a:t>
                      </a:r>
                      <a:endParaRPr/>
                    </a:p>
                  </a:txBody>
                  <a:tcPr marT="45725" marB="45725" marR="91450" marL="91450"/>
                </a:tc>
              </a:tr>
              <a:tr h="737675">
                <a:tc>
                  <a:txBody>
                    <a:bodyPr/>
                    <a:lstStyle/>
                    <a:p>
                      <a:pPr indent="0" lvl="0" marL="0" marR="0" rtl="0" algn="l">
                        <a:spcBef>
                          <a:spcPts val="0"/>
                        </a:spcBef>
                        <a:spcAft>
                          <a:spcPts val="0"/>
                        </a:spcAft>
                        <a:buNone/>
                      </a:pPr>
                      <a:r>
                        <a:rPr b="1" lang="en-US" sz="1800"/>
                        <a:t>Safety-Conscious Riders </a:t>
                      </a:r>
                      <a:endParaRPr/>
                    </a:p>
                    <a:p>
                      <a:pPr indent="0" lvl="0" marL="0" marR="0" rtl="0" algn="l">
                        <a:spcBef>
                          <a:spcPts val="0"/>
                        </a:spcBef>
                        <a:spcAft>
                          <a:spcPts val="0"/>
                        </a:spcAft>
                        <a:buNone/>
                      </a:pPr>
                      <a:r>
                        <a:rPr b="1" lang="en-US" sz="1800"/>
                        <a:t>( esp Women )</a:t>
                      </a:r>
                      <a:endParaRPr/>
                    </a:p>
                  </a:txBody>
                  <a:tcPr marT="45725" marB="45725" marR="91450" marL="91450"/>
                </a:tc>
                <a:tc>
                  <a:txBody>
                    <a:bodyPr/>
                    <a:lstStyle/>
                    <a:p>
                      <a:pPr indent="0" lvl="0" marL="0" marR="0" rtl="0" algn="l">
                        <a:spcBef>
                          <a:spcPts val="0"/>
                        </a:spcBef>
                        <a:spcAft>
                          <a:spcPts val="0"/>
                        </a:spcAft>
                        <a:buNone/>
                      </a:pPr>
                      <a:r>
                        <a:rPr lang="en-US" sz="1800"/>
                        <a:t>All</a:t>
                      </a:r>
                      <a:endParaRPr/>
                    </a:p>
                  </a:txBody>
                  <a:tcPr marT="45725" marB="45725" marR="91450" marL="91450"/>
                </a:tc>
                <a:tc>
                  <a:txBody>
                    <a:bodyPr/>
                    <a:lstStyle/>
                    <a:p>
                      <a:pPr indent="0" lvl="0" marL="0" marR="0" rtl="0" algn="l">
                        <a:spcBef>
                          <a:spcPts val="0"/>
                        </a:spcBef>
                        <a:spcAft>
                          <a:spcPts val="0"/>
                        </a:spcAft>
                        <a:buNone/>
                      </a:pPr>
                      <a:r>
                        <a:rPr lang="en-US" sz="1800"/>
                        <a:t>Secure, reliable transport with high safety ratings</a:t>
                      </a:r>
                      <a:endParaRPr sz="1800"/>
                    </a:p>
                  </a:txBody>
                  <a:tcPr marT="45725" marB="45725" marR="91450" marL="91450"/>
                </a:tc>
                <a:tc>
                  <a:txBody>
                    <a:bodyPr/>
                    <a:lstStyle/>
                    <a:p>
                      <a:pPr indent="0" lvl="0" marL="0" marR="0" rtl="0" algn="l">
                        <a:spcBef>
                          <a:spcPts val="0"/>
                        </a:spcBef>
                        <a:spcAft>
                          <a:spcPts val="0"/>
                        </a:spcAft>
                        <a:buNone/>
                      </a:pPr>
                      <a:r>
                        <a:rPr lang="en-US" sz="1800"/>
                        <a:t>Rude drivers, need for enhanced safety features</a:t>
                      </a:r>
                      <a:endParaRPr sz="1800"/>
                    </a:p>
                  </a:txBody>
                  <a:tcPr marT="45725" marB="45725" marR="91450" marL="91450"/>
                </a:tc>
              </a:tr>
              <a:tr h="737675">
                <a:tc>
                  <a:txBody>
                    <a:bodyPr/>
                    <a:lstStyle/>
                    <a:p>
                      <a:pPr indent="0" lvl="0" marL="0" marR="0" rtl="0" algn="l">
                        <a:spcBef>
                          <a:spcPts val="0"/>
                        </a:spcBef>
                        <a:spcAft>
                          <a:spcPts val="0"/>
                        </a:spcAft>
                        <a:buNone/>
                      </a:pPr>
                      <a:r>
                        <a:rPr b="1" lang="en-US" sz="1800"/>
                        <a:t>Pet Owners and Families</a:t>
                      </a:r>
                      <a:endParaRPr/>
                    </a:p>
                  </a:txBody>
                  <a:tcPr marT="45725" marB="45725" marR="91450" marL="91450"/>
                </a:tc>
                <a:tc>
                  <a:txBody>
                    <a:bodyPr/>
                    <a:lstStyle/>
                    <a:p>
                      <a:pPr indent="0" lvl="0" marL="0" marR="0" rtl="0" algn="l">
                        <a:spcBef>
                          <a:spcPts val="0"/>
                        </a:spcBef>
                        <a:spcAft>
                          <a:spcPts val="0"/>
                        </a:spcAft>
                        <a:buNone/>
                      </a:pPr>
                      <a:r>
                        <a:rPr lang="en-US" sz="1800"/>
                        <a:t>25-45</a:t>
                      </a:r>
                      <a:endParaRPr/>
                    </a:p>
                  </a:txBody>
                  <a:tcPr marT="45725" marB="45725" marR="91450" marL="91450"/>
                </a:tc>
                <a:tc>
                  <a:txBody>
                    <a:bodyPr/>
                    <a:lstStyle/>
                    <a:p>
                      <a:pPr indent="0" lvl="0" marL="0" marR="0" rtl="0" algn="l">
                        <a:spcBef>
                          <a:spcPts val="0"/>
                        </a:spcBef>
                        <a:spcAft>
                          <a:spcPts val="0"/>
                        </a:spcAft>
                        <a:buNone/>
                      </a:pPr>
                      <a:r>
                        <a:rPr lang="en-US" sz="1800"/>
                        <a:t>Pet-friendly and family-friendly transport options</a:t>
                      </a:r>
                      <a:endParaRPr sz="1800"/>
                    </a:p>
                  </a:txBody>
                  <a:tcPr marT="45725" marB="45725" marR="91450" marL="91450"/>
                </a:tc>
                <a:tc>
                  <a:txBody>
                    <a:bodyPr/>
                    <a:lstStyle/>
                    <a:p>
                      <a:pPr indent="0" lvl="0" marL="0" marR="0" rtl="0" algn="l">
                        <a:spcBef>
                          <a:spcPts val="0"/>
                        </a:spcBef>
                        <a:spcAft>
                          <a:spcPts val="0"/>
                        </a:spcAft>
                        <a:buNone/>
                      </a:pPr>
                      <a:r>
                        <a:rPr lang="en-US" sz="1800"/>
                        <a:t>Lack of pet-friendly rides, need for child safety features</a:t>
                      </a:r>
                      <a:endParaRPr sz="1800"/>
                    </a:p>
                  </a:txBody>
                  <a:tcPr marT="45725" marB="45725" marR="91450" marL="9145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1"/>
          <p:cNvSpPr txBox="1"/>
          <p:nvPr>
            <p:ph type="title"/>
          </p:nvPr>
        </p:nvSpPr>
        <p:spPr>
          <a:xfrm>
            <a:off x="0" y="-72232"/>
            <a:ext cx="12192000" cy="881701"/>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USER PERSONAS</a:t>
            </a:r>
            <a:endParaRPr/>
          </a:p>
        </p:txBody>
      </p:sp>
      <p:pic>
        <p:nvPicPr>
          <p:cNvPr id="285" name="Google Shape;285;p21"/>
          <p:cNvPicPr preferRelativeResize="0"/>
          <p:nvPr/>
        </p:nvPicPr>
        <p:blipFill rotWithShape="1">
          <a:blip r:embed="rId3">
            <a:alphaModFix/>
          </a:blip>
          <a:srcRect b="0" l="0" r="0" t="0"/>
          <a:stretch/>
        </p:blipFill>
        <p:spPr>
          <a:xfrm>
            <a:off x="0" y="836719"/>
            <a:ext cx="12192000" cy="60134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9" name="Shape 289"/>
        <p:cNvGrpSpPr/>
        <p:nvPr/>
      </p:nvGrpSpPr>
      <p:grpSpPr>
        <a:xfrm>
          <a:off x="0" y="0"/>
          <a:ext cx="0" cy="0"/>
          <a:chOff x="0" y="0"/>
          <a:chExt cx="0" cy="0"/>
        </a:xfrm>
      </p:grpSpPr>
      <p:sp>
        <p:nvSpPr>
          <p:cNvPr id="290" name="Google Shape;290;p22"/>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close-up of triangles&#10;&#10;Description automatically generated" id="291" name="Google Shape;291;p22"/>
          <p:cNvPicPr preferRelativeResize="0"/>
          <p:nvPr/>
        </p:nvPicPr>
        <p:blipFill rotWithShape="1">
          <a:blip r:embed="rId3">
            <a:alphaModFix amt="50000"/>
          </a:blip>
          <a:srcRect b="7455" l="0" r="0" t="8275"/>
          <a:stretch/>
        </p:blipFill>
        <p:spPr>
          <a:xfrm>
            <a:off x="0" y="1"/>
            <a:ext cx="12191980" cy="6857999"/>
          </a:xfrm>
          <a:prstGeom prst="rect">
            <a:avLst/>
          </a:prstGeom>
          <a:solidFill>
            <a:srgbClr val="FFC000"/>
          </a:solidFill>
          <a:ln>
            <a:noFill/>
          </a:ln>
        </p:spPr>
      </p:pic>
      <p:sp>
        <p:nvSpPr>
          <p:cNvPr id="292" name="Google Shape;292;p22"/>
          <p:cNvSpPr txBox="1"/>
          <p:nvPr>
            <p:ph type="title"/>
          </p:nvPr>
        </p:nvSpPr>
        <p:spPr>
          <a:xfrm>
            <a:off x="1523990" y="1843790"/>
            <a:ext cx="9144000" cy="188122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COMPETITOR ANALYSIS</a:t>
            </a: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92"/>
                                        </p:tgtEl>
                                        <p:attrNameLst>
                                          <p:attrName>style.visibility</p:attrName>
                                        </p:attrNameLst>
                                      </p:cBhvr>
                                      <p:to>
                                        <p:strVal val="visible"/>
                                      </p:to>
                                    </p:set>
                                    <p:animEffect filter="fade" transition="in">
                                      <p:cBhvr>
                                        <p:cTn dur="4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cxnSp>
        <p:nvCxnSpPr>
          <p:cNvPr id="297" name="Google Shape;297;p23"/>
          <p:cNvCxnSpPr/>
          <p:nvPr/>
        </p:nvCxnSpPr>
        <p:spPr>
          <a:xfrm>
            <a:off x="0" y="1139252"/>
            <a:ext cx="12182006" cy="0"/>
          </a:xfrm>
          <a:prstGeom prst="straightConnector1">
            <a:avLst/>
          </a:prstGeom>
          <a:noFill/>
          <a:ln cap="flat" cmpd="sng" w="38100">
            <a:solidFill>
              <a:schemeClr val="dk1"/>
            </a:solidFill>
            <a:prstDash val="solid"/>
            <a:miter lim="800000"/>
            <a:headEnd len="sm" w="sm" type="none"/>
            <a:tailEnd len="sm" w="sm" type="none"/>
          </a:ln>
        </p:spPr>
      </p:cxnSp>
      <p:sp>
        <p:nvSpPr>
          <p:cNvPr id="298" name="Google Shape;298;p23"/>
          <p:cNvSpPr txBox="1"/>
          <p:nvPr/>
        </p:nvSpPr>
        <p:spPr>
          <a:xfrm>
            <a:off x="-9994" y="1"/>
            <a:ext cx="12192000" cy="1139250"/>
          </a:xfrm>
          <a:prstGeom prst="rect">
            <a:avLst/>
          </a:prstGeom>
          <a:solidFill>
            <a:srgbClr val="FFC000"/>
          </a:solid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DLaM Display"/>
              <a:buNone/>
            </a:pPr>
            <a:r>
              <a:rPr lang="en-US" sz="4400">
                <a:solidFill>
                  <a:schemeClr val="dk1"/>
                </a:solidFill>
                <a:latin typeface="ADLaM Display"/>
                <a:ea typeface="ADLaM Display"/>
                <a:cs typeface="ADLaM Display"/>
                <a:sym typeface="ADLaM Display"/>
              </a:rPr>
              <a:t>Competitor Analysis</a:t>
            </a:r>
            <a:endParaRPr sz="4400">
              <a:solidFill>
                <a:schemeClr val="dk1"/>
              </a:solidFill>
              <a:latin typeface="ADLaM Display"/>
              <a:ea typeface="ADLaM Display"/>
              <a:cs typeface="ADLaM Display"/>
              <a:sym typeface="ADLaM Display"/>
            </a:endParaRPr>
          </a:p>
        </p:txBody>
      </p:sp>
      <p:graphicFrame>
        <p:nvGraphicFramePr>
          <p:cNvPr id="299" name="Google Shape;299;p23"/>
          <p:cNvGraphicFramePr/>
          <p:nvPr/>
        </p:nvGraphicFramePr>
        <p:xfrm>
          <a:off x="-9993" y="1139251"/>
          <a:ext cx="3000000" cy="3000000"/>
        </p:xfrm>
        <a:graphic>
          <a:graphicData uri="http://schemas.openxmlformats.org/drawingml/2006/table">
            <a:tbl>
              <a:tblPr bandRow="1" firstRow="1">
                <a:noFill/>
                <a:tableStyleId>{E73E3090-88B2-4E8C-A6E2-E0969ED46B26}</a:tableStyleId>
              </a:tblPr>
              <a:tblGrid>
                <a:gridCol w="1466850"/>
                <a:gridCol w="6667800"/>
                <a:gridCol w="4067325"/>
              </a:tblGrid>
              <a:tr h="378425">
                <a:tc>
                  <a:txBody>
                    <a:bodyPr/>
                    <a:lstStyle/>
                    <a:p>
                      <a:pPr indent="0" lvl="0" marL="0" marR="0" rtl="0" algn="l">
                        <a:spcBef>
                          <a:spcPts val="0"/>
                        </a:spcBef>
                        <a:spcAft>
                          <a:spcPts val="0"/>
                        </a:spcAft>
                        <a:buNone/>
                      </a:pPr>
                      <a:r>
                        <a:rPr lang="en-US" sz="1800"/>
                        <a:t>Competitor</a:t>
                      </a:r>
                      <a:endParaRPr/>
                    </a:p>
                  </a:txBody>
                  <a:tcPr marT="45725" marB="45725" marR="91450" marL="91450" anchor="ctr"/>
                </a:tc>
                <a:tc>
                  <a:txBody>
                    <a:bodyPr/>
                    <a:lstStyle/>
                    <a:p>
                      <a:pPr indent="0" lvl="0" marL="0" marR="0" rtl="0" algn="l">
                        <a:spcBef>
                          <a:spcPts val="0"/>
                        </a:spcBef>
                        <a:spcAft>
                          <a:spcPts val="0"/>
                        </a:spcAft>
                        <a:buNone/>
                      </a:pPr>
                      <a:r>
                        <a:rPr lang="en-US" sz="1800"/>
                        <a:t>Strategy</a:t>
                      </a:r>
                      <a:endParaRPr/>
                    </a:p>
                  </a:txBody>
                  <a:tcPr marT="45725" marB="45725" marR="91450" marL="91450" anchor="ctr"/>
                </a:tc>
                <a:tc>
                  <a:txBody>
                    <a:bodyPr/>
                    <a:lstStyle/>
                    <a:p>
                      <a:pPr indent="0" lvl="0" marL="0" marR="0" rtl="0" algn="l">
                        <a:spcBef>
                          <a:spcPts val="0"/>
                        </a:spcBef>
                        <a:spcAft>
                          <a:spcPts val="0"/>
                        </a:spcAft>
                        <a:buNone/>
                      </a:pPr>
                      <a:r>
                        <a:rPr lang="en-US" sz="1800"/>
                        <a:t>Positioning</a:t>
                      </a:r>
                      <a:endParaRPr/>
                    </a:p>
                  </a:txBody>
                  <a:tcPr marT="45725" marB="45725" marR="91450" marL="91450" anchor="ctr"/>
                </a:tc>
              </a:tr>
              <a:tr h="933125">
                <a:tc>
                  <a:txBody>
                    <a:bodyPr/>
                    <a:lstStyle/>
                    <a:p>
                      <a:pPr indent="0" lvl="0" marL="0" marR="0" rtl="0" algn="l">
                        <a:spcBef>
                          <a:spcPts val="0"/>
                        </a:spcBef>
                        <a:spcAft>
                          <a:spcPts val="0"/>
                        </a:spcAft>
                        <a:buNone/>
                      </a:pPr>
                      <a:r>
                        <a:rPr b="1" lang="en-US" sz="1800"/>
                        <a:t>Ola</a:t>
                      </a:r>
                      <a:endParaRPr sz="1800"/>
                    </a:p>
                  </a:txBody>
                  <a:tcPr marT="45725" marB="45725" marR="91450" marL="91450" anchor="ctr"/>
                </a:tc>
                <a:tc>
                  <a:txBody>
                    <a:bodyPr/>
                    <a:lstStyle/>
                    <a:p>
                      <a:pPr indent="0" lvl="0" marL="0" marR="0" rtl="0" algn="l">
                        <a:spcBef>
                          <a:spcPts val="0"/>
                        </a:spcBef>
                        <a:spcAft>
                          <a:spcPts val="0"/>
                        </a:spcAft>
                        <a:buNone/>
                      </a:pPr>
                      <a:r>
                        <a:rPr lang="en-US" sz="1800"/>
                        <a:t>Wide range of services including cabs, autos, and bike taxis</a:t>
                      </a:r>
                      <a:endParaRPr/>
                    </a:p>
                  </a:txBody>
                  <a:tcPr marT="45725" marB="45725" marR="91450" marL="91450" anchor="ctr"/>
                </a:tc>
                <a:tc>
                  <a:txBody>
                    <a:bodyPr/>
                    <a:lstStyle/>
                    <a:p>
                      <a:pPr indent="0" lvl="0" marL="0" marR="0" rtl="0" algn="l">
                        <a:spcBef>
                          <a:spcPts val="0"/>
                        </a:spcBef>
                        <a:spcAft>
                          <a:spcPts val="0"/>
                        </a:spcAft>
                        <a:buNone/>
                      </a:pPr>
                      <a:r>
                        <a:rPr lang="en-US" sz="1800"/>
                        <a:t>Comprehensive </a:t>
                      </a:r>
                      <a:r>
                        <a:rPr b="1" lang="en-US" sz="1800"/>
                        <a:t>one-stop transport solution</a:t>
                      </a:r>
                      <a:r>
                        <a:rPr lang="en-US" sz="1800"/>
                        <a:t> across urban and semi-urban areas in India.</a:t>
                      </a:r>
                      <a:endParaRPr sz="1800"/>
                    </a:p>
                  </a:txBody>
                  <a:tcPr marT="45725" marB="45725" marR="91450" marL="91450" anchor="ctr"/>
                </a:tc>
              </a:tr>
              <a:tr h="933125">
                <a:tc>
                  <a:txBody>
                    <a:bodyPr/>
                    <a:lstStyle/>
                    <a:p>
                      <a:pPr indent="0" lvl="0" marL="0" marR="0" rtl="0" algn="l">
                        <a:spcBef>
                          <a:spcPts val="0"/>
                        </a:spcBef>
                        <a:spcAft>
                          <a:spcPts val="0"/>
                        </a:spcAft>
                        <a:buNone/>
                      </a:pPr>
                      <a:r>
                        <a:rPr b="1" lang="en-US" sz="1800"/>
                        <a:t>Uber</a:t>
                      </a:r>
                      <a:endParaRPr sz="1800"/>
                    </a:p>
                  </a:txBody>
                  <a:tcPr marT="45725" marB="45725" marR="91450" marL="91450" anchor="ctr"/>
                </a:tc>
                <a:tc>
                  <a:txBody>
                    <a:bodyPr/>
                    <a:lstStyle/>
                    <a:p>
                      <a:pPr indent="0" lvl="0" marL="0" marR="0" rtl="0" algn="l">
                        <a:spcBef>
                          <a:spcPts val="0"/>
                        </a:spcBef>
                        <a:spcAft>
                          <a:spcPts val="0"/>
                        </a:spcAft>
                        <a:buNone/>
                      </a:pPr>
                      <a:r>
                        <a:rPr lang="en-US" sz="1800"/>
                        <a:t>Focus on premium services and safety</a:t>
                      </a:r>
                      <a:endParaRPr/>
                    </a:p>
                  </a:txBody>
                  <a:tcPr marT="45725" marB="45725" marR="91450" marL="91450" anchor="ctr"/>
                </a:tc>
                <a:tc>
                  <a:txBody>
                    <a:bodyPr/>
                    <a:lstStyle/>
                    <a:p>
                      <a:pPr indent="0" lvl="0" marL="0" marR="0" rtl="0" algn="l">
                        <a:spcBef>
                          <a:spcPts val="0"/>
                        </a:spcBef>
                        <a:spcAft>
                          <a:spcPts val="0"/>
                        </a:spcAft>
                        <a:buNone/>
                      </a:pPr>
                      <a:r>
                        <a:rPr b="1" lang="en-US" sz="1800"/>
                        <a:t>Reliable, premium service provider</a:t>
                      </a:r>
                      <a:r>
                        <a:rPr lang="en-US" sz="1800"/>
                        <a:t> with a focus on safety, tech integration, and global standards.</a:t>
                      </a:r>
                      <a:endParaRPr sz="1800"/>
                    </a:p>
                  </a:txBody>
                  <a:tcPr marT="45725" marB="45725" marR="91450" marL="91450"/>
                </a:tc>
              </a:tr>
              <a:tr h="933125">
                <a:tc>
                  <a:txBody>
                    <a:bodyPr/>
                    <a:lstStyle/>
                    <a:p>
                      <a:pPr indent="0" lvl="0" marL="0" marR="0" rtl="0" algn="l">
                        <a:spcBef>
                          <a:spcPts val="0"/>
                        </a:spcBef>
                        <a:spcAft>
                          <a:spcPts val="0"/>
                        </a:spcAft>
                        <a:buNone/>
                      </a:pPr>
                      <a:r>
                        <a:rPr b="1" lang="en-US" sz="1800"/>
                        <a:t>Namma Yatri</a:t>
                      </a:r>
                      <a:endParaRPr b="1" sz="1800"/>
                    </a:p>
                  </a:txBody>
                  <a:tcPr marT="45725" marB="45725" marR="91450" marL="91450"/>
                </a:tc>
                <a:tc>
                  <a:txBody>
                    <a:bodyPr/>
                    <a:lstStyle/>
                    <a:p>
                      <a:pPr indent="0" lvl="0" marL="0" marR="0" rtl="0" algn="l">
                        <a:spcBef>
                          <a:spcPts val="0"/>
                        </a:spcBef>
                        <a:spcAft>
                          <a:spcPts val="0"/>
                        </a:spcAft>
                        <a:buNone/>
                      </a:pPr>
                      <a:r>
                        <a:rPr lang="en-US" sz="1800"/>
                        <a:t>Localized focus, strong connection with local drivers, has subscription model service which is driver friendly</a:t>
                      </a:r>
                      <a:endParaRPr sz="1800"/>
                    </a:p>
                  </a:txBody>
                  <a:tcPr marT="45725" marB="45725" marR="91450" marL="91450"/>
                </a:tc>
                <a:tc>
                  <a:txBody>
                    <a:bodyPr/>
                    <a:lstStyle/>
                    <a:p>
                      <a:pPr indent="0" lvl="0" marL="0" marR="0" rtl="0" algn="l">
                        <a:spcBef>
                          <a:spcPts val="0"/>
                        </a:spcBef>
                        <a:spcAft>
                          <a:spcPts val="0"/>
                        </a:spcAft>
                        <a:buNone/>
                      </a:pPr>
                      <a:r>
                        <a:rPr b="1" lang="en-US" sz="1800"/>
                        <a:t>Community-centric service</a:t>
                      </a:r>
                      <a:r>
                        <a:rPr lang="en-US" sz="1800"/>
                        <a:t> offering cost-effective solutions tailored to local needs, especially in Tier I and II cities.</a:t>
                      </a:r>
                      <a:endParaRPr/>
                    </a:p>
                  </a:txBody>
                  <a:tcPr marT="45725" marB="45725" marR="91450" marL="91450" anchor="ctr"/>
                </a:tc>
              </a:tr>
              <a:tr h="933125">
                <a:tc>
                  <a:txBody>
                    <a:bodyPr/>
                    <a:lstStyle/>
                    <a:p>
                      <a:pPr indent="0" lvl="0" marL="0" marR="0" rtl="0" algn="l">
                        <a:spcBef>
                          <a:spcPts val="0"/>
                        </a:spcBef>
                        <a:spcAft>
                          <a:spcPts val="0"/>
                        </a:spcAft>
                        <a:buNone/>
                      </a:pPr>
                      <a:r>
                        <a:rPr b="1" lang="en-US" sz="1800"/>
                        <a:t>BluSmart</a:t>
                      </a:r>
                      <a:endParaRPr sz="1800"/>
                    </a:p>
                  </a:txBody>
                  <a:tcPr marT="45725" marB="45725" marR="91450" marL="91450" anchor="ctr"/>
                </a:tc>
                <a:tc>
                  <a:txBody>
                    <a:bodyPr/>
                    <a:lstStyle/>
                    <a:p>
                      <a:pPr indent="0" lvl="0" marL="0" marR="0" rtl="0" algn="l">
                        <a:spcBef>
                          <a:spcPts val="0"/>
                        </a:spcBef>
                        <a:spcAft>
                          <a:spcPts val="0"/>
                        </a:spcAft>
                        <a:buNone/>
                      </a:pPr>
                      <a:r>
                        <a:rPr lang="en-US" sz="1800"/>
                        <a:t>Electric cabs, eco-friendly positioning</a:t>
                      </a:r>
                      <a:endParaRPr/>
                    </a:p>
                  </a:txBody>
                  <a:tcPr marT="45725" marB="45725" marR="91450" marL="91450" anchor="ctr"/>
                </a:tc>
                <a:tc>
                  <a:txBody>
                    <a:bodyPr/>
                    <a:lstStyle/>
                    <a:p>
                      <a:pPr indent="0" lvl="0" marL="0" marR="0" rtl="0" algn="l">
                        <a:spcBef>
                          <a:spcPts val="0"/>
                        </a:spcBef>
                        <a:spcAft>
                          <a:spcPts val="0"/>
                        </a:spcAft>
                        <a:buNone/>
                      </a:pPr>
                      <a:r>
                        <a:rPr b="1" lang="en-US" sz="1800"/>
                        <a:t>Eco-friendly alternative</a:t>
                      </a:r>
                      <a:r>
                        <a:rPr lang="en-US" sz="1800"/>
                        <a:t> with confirmed rides, appealing to environmentally conscious users. &amp; gives confirmed rides</a:t>
                      </a:r>
                      <a:endParaRPr/>
                    </a:p>
                  </a:txBody>
                  <a:tcPr marT="45725" marB="45725" marR="91450" marL="91450" anchor="ctr"/>
                </a:tc>
              </a:tr>
              <a:tr h="1493000">
                <a:tc>
                  <a:txBody>
                    <a:bodyPr/>
                    <a:lstStyle/>
                    <a:p>
                      <a:pPr indent="0" lvl="0" marL="0" marR="0" rtl="0" algn="l">
                        <a:spcBef>
                          <a:spcPts val="0"/>
                        </a:spcBef>
                        <a:spcAft>
                          <a:spcPts val="0"/>
                        </a:spcAft>
                        <a:buNone/>
                      </a:pPr>
                      <a:r>
                        <a:rPr b="1" lang="en-US" sz="1800"/>
                        <a:t>inDrive</a:t>
                      </a:r>
                      <a:endParaRPr b="1" sz="1800"/>
                    </a:p>
                  </a:txBody>
                  <a:tcPr marT="45725" marB="45725" marR="91450" marL="91450" anchor="ctr"/>
                </a:tc>
                <a:tc>
                  <a:txBody>
                    <a:bodyPr/>
                    <a:lstStyle/>
                    <a:p>
                      <a:pPr indent="0" lvl="0" marL="0" marR="0" rtl="0" algn="l">
                        <a:spcBef>
                          <a:spcPts val="0"/>
                        </a:spcBef>
                        <a:spcAft>
                          <a:spcPts val="0"/>
                        </a:spcAft>
                        <a:buNone/>
                      </a:pPr>
                      <a:r>
                        <a:rPr lang="en-US" sz="1800"/>
                        <a:t>Ride-hailing with user-negotiated pricing model</a:t>
                      </a:r>
                      <a:endParaRPr sz="1800"/>
                    </a:p>
                  </a:txBody>
                  <a:tcPr marT="45725" marB="45725" marR="91450" marL="91450" anchor="ctr"/>
                </a:tc>
                <a:tc>
                  <a:txBody>
                    <a:bodyPr/>
                    <a:lstStyle/>
                    <a:p>
                      <a:pPr indent="0" lvl="0" marL="0" marR="0" rtl="0" algn="l">
                        <a:spcBef>
                          <a:spcPts val="0"/>
                        </a:spcBef>
                        <a:spcAft>
                          <a:spcPts val="0"/>
                        </a:spcAft>
                        <a:buNone/>
                      </a:pPr>
                      <a:r>
                        <a:rPr b="1" lang="en-US" sz="1800"/>
                        <a:t>Fair-price, user-driven</a:t>
                      </a:r>
                      <a:r>
                        <a:rPr lang="en-US" sz="1800"/>
                        <a:t> service that allows passengers to negotiate ride fares directly with drivers, positioning itself as a transparent and flexible alternative in the market</a:t>
                      </a:r>
                      <a:endParaRPr/>
                    </a:p>
                  </a:txBody>
                  <a:tcPr marT="45725" marB="45725" marR="91450" marL="91450"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304" name="Shape 304"/>
        <p:cNvGrpSpPr/>
        <p:nvPr/>
      </p:nvGrpSpPr>
      <p:grpSpPr>
        <a:xfrm>
          <a:off x="0" y="0"/>
          <a:ext cx="0" cy="0"/>
          <a:chOff x="0" y="0"/>
          <a:chExt cx="0" cy="0"/>
        </a:xfrm>
      </p:grpSpPr>
      <p:sp>
        <p:nvSpPr>
          <p:cNvPr id="305" name="Google Shape;305;p24"/>
          <p:cNvSpPr txBox="1"/>
          <p:nvPr>
            <p:ph type="title"/>
          </p:nvPr>
        </p:nvSpPr>
        <p:spPr>
          <a:xfrm>
            <a:off x="1201207" y="-8561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SWOT ANALYSIS</a:t>
            </a:r>
            <a:endParaRPr/>
          </a:p>
        </p:txBody>
      </p:sp>
      <p:grpSp>
        <p:nvGrpSpPr>
          <p:cNvPr id="306" name="Google Shape;306;p24"/>
          <p:cNvGrpSpPr/>
          <p:nvPr/>
        </p:nvGrpSpPr>
        <p:grpSpPr>
          <a:xfrm>
            <a:off x="1499020" y="4435800"/>
            <a:ext cx="2073696" cy="2138484"/>
            <a:chOff x="332936" y="2596988"/>
            <a:chExt cx="2926080" cy="1947262"/>
          </a:xfrm>
        </p:grpSpPr>
        <p:sp>
          <p:nvSpPr>
            <p:cNvPr id="307" name="Google Shape;307;p24"/>
            <p:cNvSpPr txBox="1"/>
            <p:nvPr/>
          </p:nvSpPr>
          <p:spPr>
            <a:xfrm>
              <a:off x="332936" y="2596988"/>
              <a:ext cx="2926080" cy="492442"/>
            </a:xfrm>
            <a:prstGeom prst="rect">
              <a:avLst/>
            </a:prstGeom>
            <a:noFill/>
            <a:ln>
              <a:noFill/>
            </a:ln>
          </p:spPr>
          <p:txBody>
            <a:bodyPr anchorCtr="0" anchor="b" bIns="45700" lIns="0" spcFirstLastPara="1" rIns="0" wrap="square" tIns="45700">
              <a:spAutoFit/>
            </a:bodyPr>
            <a:lstStyle/>
            <a:p>
              <a:pPr indent="0" lvl="0" marL="0" marR="0" rtl="0" algn="ctr">
                <a:spcBef>
                  <a:spcPts val="0"/>
                </a:spcBef>
                <a:spcAft>
                  <a:spcPts val="0"/>
                </a:spcAft>
                <a:buNone/>
              </a:pPr>
              <a:r>
                <a:rPr b="1" lang="en-US" sz="2000">
                  <a:solidFill>
                    <a:schemeClr val="dk1"/>
                  </a:solidFill>
                  <a:latin typeface="Geo"/>
                  <a:ea typeface="Geo"/>
                  <a:cs typeface="Geo"/>
                  <a:sym typeface="Geo"/>
                </a:rPr>
                <a:t>Strengths</a:t>
              </a:r>
              <a:endParaRPr/>
            </a:p>
          </p:txBody>
        </p:sp>
        <p:sp>
          <p:nvSpPr>
            <p:cNvPr id="308" name="Google Shape;308;p24"/>
            <p:cNvSpPr txBox="1"/>
            <p:nvPr/>
          </p:nvSpPr>
          <p:spPr>
            <a:xfrm>
              <a:off x="332936" y="3086922"/>
              <a:ext cx="2926080" cy="1457328"/>
            </a:xfrm>
            <a:prstGeom prst="rect">
              <a:avLst/>
            </a:prstGeom>
            <a:noFill/>
            <a:ln>
              <a:noFill/>
            </a:ln>
          </p:spPr>
          <p:txBody>
            <a:bodyPr anchorCtr="0" anchor="t" bIns="45700" lIns="0" spcFirstLastPara="1" rIns="0" wrap="square" tIns="45700">
              <a:spAutoFit/>
            </a:bodyPr>
            <a:lstStyle/>
            <a:p>
              <a:pPr indent="-171450" lvl="0" marL="171450" marR="0" rtl="0" algn="l">
                <a:spcBef>
                  <a:spcPts val="0"/>
                </a:spcBef>
                <a:spcAft>
                  <a:spcPts val="0"/>
                </a:spcAft>
                <a:buClr>
                  <a:schemeClr val="dk1"/>
                </a:buClr>
                <a:buSzPts val="1400"/>
                <a:buFont typeface="Geo"/>
                <a:buChar char="-"/>
              </a:pPr>
              <a:r>
                <a:rPr lang="en-US" sz="1400">
                  <a:solidFill>
                    <a:schemeClr val="dk1"/>
                  </a:solidFill>
                  <a:latin typeface="Geo"/>
                  <a:ea typeface="Geo"/>
                  <a:cs typeface="Geo"/>
                  <a:sym typeface="Geo"/>
                </a:rPr>
                <a:t>Strong market presence with 25M+ downloads	</a:t>
              </a:r>
              <a:endParaRPr/>
            </a:p>
            <a:p>
              <a:pPr indent="-171450" lvl="0" marL="171450" marR="0" rtl="0" algn="l">
                <a:spcBef>
                  <a:spcPts val="0"/>
                </a:spcBef>
                <a:spcAft>
                  <a:spcPts val="0"/>
                </a:spcAft>
                <a:buClr>
                  <a:schemeClr val="dk1"/>
                </a:buClr>
                <a:buSzPts val="1400"/>
                <a:buFont typeface="Geo"/>
                <a:buChar char="-"/>
              </a:pPr>
              <a:r>
                <a:rPr lang="en-US" sz="1400">
                  <a:solidFill>
                    <a:schemeClr val="dk1"/>
                  </a:solidFill>
                  <a:latin typeface="Geo"/>
                  <a:ea typeface="Geo"/>
                  <a:cs typeface="Geo"/>
                  <a:sym typeface="Geo"/>
                </a:rPr>
                <a:t>Affordable and quick transportation</a:t>
              </a:r>
              <a:endParaRPr/>
            </a:p>
            <a:p>
              <a:pPr indent="-171450" lvl="0" marL="171450" marR="0" rtl="0" algn="l">
                <a:spcBef>
                  <a:spcPts val="0"/>
                </a:spcBef>
                <a:spcAft>
                  <a:spcPts val="0"/>
                </a:spcAft>
                <a:buClr>
                  <a:schemeClr val="dk1"/>
                </a:buClr>
                <a:buSzPts val="1400"/>
                <a:buFont typeface="Geo"/>
                <a:buChar char="-"/>
              </a:pPr>
              <a:r>
                <a:rPr lang="en-US" sz="1400">
                  <a:solidFill>
                    <a:schemeClr val="dk1"/>
                  </a:solidFill>
                  <a:latin typeface="Geo"/>
                  <a:ea typeface="Geo"/>
                  <a:cs typeface="Geo"/>
                  <a:sym typeface="Geo"/>
                </a:rPr>
                <a:t>Localized focus with a strong network in Tier II and III cities</a:t>
              </a:r>
              <a:endParaRPr/>
            </a:p>
          </p:txBody>
        </p:sp>
      </p:grpSp>
      <p:grpSp>
        <p:nvGrpSpPr>
          <p:cNvPr id="309" name="Google Shape;309;p24"/>
          <p:cNvGrpSpPr/>
          <p:nvPr/>
        </p:nvGrpSpPr>
        <p:grpSpPr>
          <a:xfrm>
            <a:off x="3976190" y="4435802"/>
            <a:ext cx="1954920" cy="2138483"/>
            <a:chOff x="332936" y="2596988"/>
            <a:chExt cx="2926080" cy="1947263"/>
          </a:xfrm>
        </p:grpSpPr>
        <p:sp>
          <p:nvSpPr>
            <p:cNvPr id="310" name="Google Shape;310;p24"/>
            <p:cNvSpPr txBox="1"/>
            <p:nvPr/>
          </p:nvSpPr>
          <p:spPr>
            <a:xfrm>
              <a:off x="332936" y="2596988"/>
              <a:ext cx="2926080" cy="492442"/>
            </a:xfrm>
            <a:prstGeom prst="rect">
              <a:avLst/>
            </a:prstGeom>
            <a:noFill/>
            <a:ln>
              <a:noFill/>
            </a:ln>
          </p:spPr>
          <p:txBody>
            <a:bodyPr anchorCtr="0" anchor="b" bIns="45700" lIns="0" spcFirstLastPara="1" rIns="0" wrap="square" tIns="45700">
              <a:spAutoFit/>
            </a:bodyPr>
            <a:lstStyle/>
            <a:p>
              <a:pPr indent="0" lvl="0" marL="0" marR="0" rtl="0" algn="ctr">
                <a:spcBef>
                  <a:spcPts val="0"/>
                </a:spcBef>
                <a:spcAft>
                  <a:spcPts val="0"/>
                </a:spcAft>
                <a:buNone/>
              </a:pPr>
              <a:r>
                <a:rPr b="1" lang="en-US" sz="2000">
                  <a:solidFill>
                    <a:schemeClr val="dk1"/>
                  </a:solidFill>
                  <a:latin typeface="Geo"/>
                  <a:ea typeface="Geo"/>
                  <a:cs typeface="Geo"/>
                  <a:sym typeface="Geo"/>
                </a:rPr>
                <a:t>Weaknesses</a:t>
              </a:r>
              <a:endParaRPr/>
            </a:p>
          </p:txBody>
        </p:sp>
        <p:sp>
          <p:nvSpPr>
            <p:cNvPr id="311" name="Google Shape;311;p24"/>
            <p:cNvSpPr txBox="1"/>
            <p:nvPr/>
          </p:nvSpPr>
          <p:spPr>
            <a:xfrm>
              <a:off x="332936" y="3086922"/>
              <a:ext cx="2926080" cy="1457329"/>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dk1"/>
                  </a:solidFill>
                  <a:latin typeface="Geo"/>
                  <a:ea typeface="Geo"/>
                  <a:cs typeface="Geo"/>
                  <a:sym typeface="Geo"/>
                </a:rPr>
                <a:t>- Regulatory challenges in     different states</a:t>
              </a:r>
              <a:endParaRPr/>
            </a:p>
            <a:p>
              <a:pPr indent="0" lvl="0" marL="0" marR="0" rtl="0" algn="l">
                <a:spcBef>
                  <a:spcPts val="0"/>
                </a:spcBef>
                <a:spcAft>
                  <a:spcPts val="0"/>
                </a:spcAft>
                <a:buNone/>
              </a:pPr>
              <a:r>
                <a:rPr lang="en-US" sz="1400">
                  <a:solidFill>
                    <a:schemeClr val="dk1"/>
                  </a:solidFill>
                  <a:latin typeface="Geo"/>
                  <a:ea typeface="Geo"/>
                  <a:cs typeface="Geo"/>
                  <a:sym typeface="Geo"/>
                </a:rPr>
                <a:t>- Safety concerns with bike taxis</a:t>
              </a:r>
              <a:endParaRPr/>
            </a:p>
            <a:p>
              <a:pPr indent="0" lvl="0" marL="0" marR="0" rtl="0" algn="l">
                <a:spcBef>
                  <a:spcPts val="0"/>
                </a:spcBef>
                <a:spcAft>
                  <a:spcPts val="0"/>
                </a:spcAft>
                <a:buNone/>
              </a:pPr>
              <a:r>
                <a:rPr lang="en-US" sz="1400">
                  <a:solidFill>
                    <a:schemeClr val="dk1"/>
                  </a:solidFill>
                  <a:latin typeface="Geo"/>
                  <a:ea typeface="Geo"/>
                  <a:cs typeface="Geo"/>
                  <a:sym typeface="Geo"/>
                </a:rPr>
                <a:t>- Customer support issues, particularly with ineffective chatbots</a:t>
              </a:r>
              <a:endParaRPr/>
            </a:p>
          </p:txBody>
        </p:sp>
      </p:grpSp>
      <p:grpSp>
        <p:nvGrpSpPr>
          <p:cNvPr id="312" name="Google Shape;312;p24"/>
          <p:cNvGrpSpPr/>
          <p:nvPr/>
        </p:nvGrpSpPr>
        <p:grpSpPr>
          <a:xfrm>
            <a:off x="6096000" y="4435803"/>
            <a:ext cx="2193504" cy="2353928"/>
            <a:chOff x="164654" y="2596988"/>
            <a:chExt cx="3094362" cy="2143442"/>
          </a:xfrm>
        </p:grpSpPr>
        <p:sp>
          <p:nvSpPr>
            <p:cNvPr id="313" name="Google Shape;313;p24"/>
            <p:cNvSpPr txBox="1"/>
            <p:nvPr/>
          </p:nvSpPr>
          <p:spPr>
            <a:xfrm>
              <a:off x="332936" y="2596988"/>
              <a:ext cx="2926080" cy="492442"/>
            </a:xfrm>
            <a:prstGeom prst="rect">
              <a:avLst/>
            </a:prstGeom>
            <a:noFill/>
            <a:ln>
              <a:noFill/>
            </a:ln>
          </p:spPr>
          <p:txBody>
            <a:bodyPr anchorCtr="0" anchor="b" bIns="45700" lIns="0" spcFirstLastPara="1" rIns="0" wrap="square" tIns="45700">
              <a:spAutoFit/>
            </a:bodyPr>
            <a:lstStyle/>
            <a:p>
              <a:pPr indent="0" lvl="0" marL="0" marR="0" rtl="0" algn="ctr">
                <a:spcBef>
                  <a:spcPts val="0"/>
                </a:spcBef>
                <a:spcAft>
                  <a:spcPts val="0"/>
                </a:spcAft>
                <a:buNone/>
              </a:pPr>
              <a:r>
                <a:rPr b="1" lang="en-US" sz="2000">
                  <a:solidFill>
                    <a:schemeClr val="dk1"/>
                  </a:solidFill>
                  <a:latin typeface="Geo"/>
                  <a:ea typeface="Geo"/>
                  <a:cs typeface="Geo"/>
                  <a:sym typeface="Geo"/>
                </a:rPr>
                <a:t>Opportunities</a:t>
              </a:r>
              <a:endParaRPr/>
            </a:p>
          </p:txBody>
        </p:sp>
        <p:sp>
          <p:nvSpPr>
            <p:cNvPr id="314" name="Google Shape;314;p24"/>
            <p:cNvSpPr txBox="1"/>
            <p:nvPr/>
          </p:nvSpPr>
          <p:spPr>
            <a:xfrm>
              <a:off x="164654" y="3086922"/>
              <a:ext cx="3094362" cy="1653508"/>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dk1"/>
                  </a:solidFill>
                  <a:latin typeface="Geo"/>
                  <a:ea typeface="Geo"/>
                  <a:cs typeface="Geo"/>
                  <a:sym typeface="Geo"/>
                </a:rPr>
                <a:t>Expansion into Tier 2 and Tier 3 cities</a:t>
              </a:r>
              <a:endParaRPr/>
            </a:p>
            <a:p>
              <a:pPr indent="0" lvl="0" marL="0" marR="0" rtl="0" algn="l">
                <a:spcBef>
                  <a:spcPts val="0"/>
                </a:spcBef>
                <a:spcAft>
                  <a:spcPts val="0"/>
                </a:spcAft>
                <a:buNone/>
              </a:pPr>
              <a:r>
                <a:rPr lang="en-US" sz="1400">
                  <a:solidFill>
                    <a:schemeClr val="dk1"/>
                  </a:solidFill>
                  <a:latin typeface="Geo"/>
                  <a:ea typeface="Geo"/>
                  <a:cs typeface="Geo"/>
                  <a:sym typeface="Geo"/>
                </a:rPr>
                <a:t>-Introduction of new services like intercity bus booking and pet-friendly rides</a:t>
              </a:r>
              <a:endParaRPr/>
            </a:p>
            <a:p>
              <a:pPr indent="0" lvl="0" marL="0" marR="0" rtl="0" algn="l">
                <a:spcBef>
                  <a:spcPts val="0"/>
                </a:spcBef>
                <a:spcAft>
                  <a:spcPts val="0"/>
                </a:spcAft>
                <a:buNone/>
              </a:pPr>
              <a:r>
                <a:rPr lang="en-US" sz="1400">
                  <a:solidFill>
                    <a:schemeClr val="dk1"/>
                  </a:solidFill>
                  <a:latin typeface="Geo"/>
                  <a:ea typeface="Geo"/>
                  <a:cs typeface="Geo"/>
                  <a:sym typeface="Geo"/>
                </a:rPr>
                <a:t>- Partnerships for EV adoption to stay ahead in the eco-friendly segment</a:t>
              </a:r>
              <a:endParaRPr sz="1400">
                <a:solidFill>
                  <a:schemeClr val="dk1"/>
                </a:solidFill>
                <a:latin typeface="Geo"/>
                <a:ea typeface="Geo"/>
                <a:cs typeface="Geo"/>
                <a:sym typeface="Geo"/>
              </a:endParaRPr>
            </a:p>
          </p:txBody>
        </p:sp>
      </p:grpSp>
      <p:grpSp>
        <p:nvGrpSpPr>
          <p:cNvPr id="315" name="Google Shape;315;p24"/>
          <p:cNvGrpSpPr/>
          <p:nvPr/>
        </p:nvGrpSpPr>
        <p:grpSpPr>
          <a:xfrm>
            <a:off x="8618766" y="4568965"/>
            <a:ext cx="2178626" cy="2217394"/>
            <a:chOff x="332936" y="2596988"/>
            <a:chExt cx="3472843" cy="2705718"/>
          </a:xfrm>
        </p:grpSpPr>
        <p:sp>
          <p:nvSpPr>
            <p:cNvPr id="316" name="Google Shape;316;p24"/>
            <p:cNvSpPr txBox="1"/>
            <p:nvPr/>
          </p:nvSpPr>
          <p:spPr>
            <a:xfrm>
              <a:off x="332936" y="2596988"/>
              <a:ext cx="2926080" cy="492442"/>
            </a:xfrm>
            <a:prstGeom prst="rect">
              <a:avLst/>
            </a:prstGeom>
            <a:noFill/>
            <a:ln>
              <a:noFill/>
            </a:ln>
          </p:spPr>
          <p:txBody>
            <a:bodyPr anchorCtr="0" anchor="b" bIns="45700" lIns="0" spcFirstLastPara="1" rIns="0" wrap="square" tIns="45700">
              <a:spAutoFit/>
            </a:bodyPr>
            <a:lstStyle/>
            <a:p>
              <a:pPr indent="0" lvl="0" marL="0" marR="0" rtl="0" algn="ctr">
                <a:spcBef>
                  <a:spcPts val="0"/>
                </a:spcBef>
                <a:spcAft>
                  <a:spcPts val="0"/>
                </a:spcAft>
                <a:buNone/>
              </a:pPr>
              <a:r>
                <a:rPr b="1" lang="en-US" sz="2000">
                  <a:solidFill>
                    <a:schemeClr val="dk1"/>
                  </a:solidFill>
                  <a:latin typeface="Geo"/>
                  <a:ea typeface="Geo"/>
                  <a:cs typeface="Geo"/>
                  <a:sym typeface="Geo"/>
                </a:rPr>
                <a:t>Threats</a:t>
              </a:r>
              <a:endParaRPr/>
            </a:p>
          </p:txBody>
        </p:sp>
        <p:sp>
          <p:nvSpPr>
            <p:cNvPr id="317" name="Google Shape;317;p24"/>
            <p:cNvSpPr txBox="1"/>
            <p:nvPr/>
          </p:nvSpPr>
          <p:spPr>
            <a:xfrm>
              <a:off x="332936" y="3086923"/>
              <a:ext cx="3472843" cy="2215783"/>
            </a:xfrm>
            <a:prstGeom prst="rect">
              <a:avLst/>
            </a:prstGeom>
            <a:noFill/>
            <a:ln>
              <a:noFill/>
            </a:ln>
          </p:spPr>
          <p:txBody>
            <a:bodyPr anchorCtr="0" anchor="t" bIns="45700" lIns="0" spcFirstLastPara="1" rIns="0" wrap="square" tIns="45700">
              <a:spAutoFit/>
            </a:bodyPr>
            <a:lstStyle/>
            <a:p>
              <a:pPr indent="-171450" lvl="0" marL="171450" marR="0" rtl="0" algn="l">
                <a:spcBef>
                  <a:spcPts val="0"/>
                </a:spcBef>
                <a:spcAft>
                  <a:spcPts val="0"/>
                </a:spcAft>
                <a:buClr>
                  <a:schemeClr val="dk1"/>
                </a:buClr>
                <a:buSzPts val="1400"/>
                <a:buFont typeface="Geo"/>
                <a:buChar char="-"/>
              </a:pPr>
              <a:r>
                <a:rPr lang="en-US" sz="1400">
                  <a:solidFill>
                    <a:schemeClr val="dk1"/>
                  </a:solidFill>
                  <a:latin typeface="Geo"/>
                  <a:ea typeface="Geo"/>
                  <a:cs typeface="Geo"/>
                  <a:sym typeface="Geo"/>
                </a:rPr>
                <a:t>Intense competition from well-established players</a:t>
              </a:r>
              <a:endParaRPr/>
            </a:p>
            <a:p>
              <a:pPr indent="-171450" lvl="0" marL="171450" marR="0" rtl="0" algn="l">
                <a:spcBef>
                  <a:spcPts val="0"/>
                </a:spcBef>
                <a:spcAft>
                  <a:spcPts val="0"/>
                </a:spcAft>
                <a:buClr>
                  <a:schemeClr val="dk1"/>
                </a:buClr>
                <a:buSzPts val="1400"/>
                <a:buFont typeface="Geo"/>
                <a:buChar char="-"/>
              </a:pPr>
              <a:r>
                <a:rPr lang="en-US" sz="1400">
                  <a:solidFill>
                    <a:schemeClr val="dk1"/>
                  </a:solidFill>
                  <a:latin typeface="Geo"/>
                  <a:ea typeface="Geo"/>
                  <a:cs typeface="Geo"/>
                  <a:sym typeface="Geo"/>
                </a:rPr>
                <a:t>Harassment from local auto drivers</a:t>
              </a:r>
              <a:endParaRPr/>
            </a:p>
            <a:p>
              <a:pPr indent="0" lvl="0" marL="0" marR="0" rtl="0" algn="l">
                <a:spcBef>
                  <a:spcPts val="0"/>
                </a:spcBef>
                <a:spcAft>
                  <a:spcPts val="0"/>
                </a:spcAft>
                <a:buNone/>
              </a:pPr>
              <a:r>
                <a:rPr lang="en-US" sz="1400">
                  <a:solidFill>
                    <a:schemeClr val="dk1"/>
                  </a:solidFill>
                  <a:latin typeface="Geo"/>
                  <a:ea typeface="Geo"/>
                  <a:cs typeface="Geo"/>
                  <a:sym typeface="Geo"/>
                </a:rPr>
                <a:t>-  Technological disruptions from competitors offering advanced AI-based safety  services</a:t>
              </a:r>
              <a:endParaRPr/>
            </a:p>
          </p:txBody>
        </p:sp>
      </p:grpSp>
      <p:grpSp>
        <p:nvGrpSpPr>
          <p:cNvPr id="318" name="Google Shape;318;p24"/>
          <p:cNvGrpSpPr/>
          <p:nvPr/>
        </p:nvGrpSpPr>
        <p:grpSpPr>
          <a:xfrm>
            <a:off x="1980808" y="1011769"/>
            <a:ext cx="1348199" cy="3236749"/>
            <a:chOff x="786587" y="1011768"/>
            <a:chExt cx="1348199" cy="3236749"/>
          </a:xfrm>
        </p:grpSpPr>
        <p:sp>
          <p:nvSpPr>
            <p:cNvPr id="319" name="Google Shape;319;p24"/>
            <p:cNvSpPr/>
            <p:nvPr/>
          </p:nvSpPr>
          <p:spPr>
            <a:xfrm>
              <a:off x="1292161" y="2070658"/>
              <a:ext cx="337050" cy="155562"/>
            </a:xfrm>
            <a:custGeom>
              <a:rect b="b" l="l" r="r" t="t"/>
              <a:pathLst>
                <a:path extrusionOk="0" h="189820" w="411276">
                  <a:moveTo>
                    <a:pt x="205638" y="0"/>
                  </a:moveTo>
                  <a:cubicBezTo>
                    <a:pt x="313203" y="0"/>
                    <a:pt x="401785" y="82255"/>
                    <a:pt x="411276" y="189820"/>
                  </a:cubicBezTo>
                  <a:lnTo>
                    <a:pt x="0" y="189820"/>
                  </a:lnTo>
                  <a:cubicBezTo>
                    <a:pt x="9491" y="82255"/>
                    <a:pt x="98073" y="0"/>
                    <a:pt x="205638"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20" name="Google Shape;320;p24"/>
            <p:cNvSpPr/>
            <p:nvPr/>
          </p:nvSpPr>
          <p:spPr>
            <a:xfrm>
              <a:off x="1123637" y="2329927"/>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21" name="Google Shape;321;p24"/>
            <p:cNvSpPr/>
            <p:nvPr/>
          </p:nvSpPr>
          <p:spPr>
            <a:xfrm>
              <a:off x="1123637" y="2589195"/>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22" name="Google Shape;322;p24"/>
            <p:cNvSpPr/>
            <p:nvPr/>
          </p:nvSpPr>
          <p:spPr>
            <a:xfrm>
              <a:off x="786587" y="2848465"/>
              <a:ext cx="1348199" cy="1400052"/>
            </a:xfrm>
            <a:custGeom>
              <a:rect b="b" l="l" r="r" t="t"/>
              <a:pathLst>
                <a:path extrusionOk="0" h="1708378" w="1645105">
                  <a:moveTo>
                    <a:pt x="449241" y="0"/>
                  </a:moveTo>
                  <a:lnTo>
                    <a:pt x="1195865" y="0"/>
                  </a:lnTo>
                  <a:cubicBezTo>
                    <a:pt x="1221174" y="0"/>
                    <a:pt x="1243320" y="12655"/>
                    <a:pt x="1252811" y="34800"/>
                  </a:cubicBezTo>
                  <a:cubicBezTo>
                    <a:pt x="1287611" y="104401"/>
                    <a:pt x="1369866" y="265748"/>
                    <a:pt x="1445794" y="348003"/>
                  </a:cubicBezTo>
                  <a:cubicBezTo>
                    <a:pt x="1505904" y="417604"/>
                    <a:pt x="1553359" y="496695"/>
                    <a:pt x="1588159" y="582114"/>
                  </a:cubicBezTo>
                  <a:cubicBezTo>
                    <a:pt x="1622959" y="673860"/>
                    <a:pt x="1641941" y="768770"/>
                    <a:pt x="1645105" y="866844"/>
                  </a:cubicBezTo>
                  <a:lnTo>
                    <a:pt x="1645105" y="895317"/>
                  </a:lnTo>
                  <a:cubicBezTo>
                    <a:pt x="1635614" y="1344557"/>
                    <a:pt x="1271793" y="1705214"/>
                    <a:pt x="822553" y="1708378"/>
                  </a:cubicBezTo>
                  <a:cubicBezTo>
                    <a:pt x="373313" y="1705214"/>
                    <a:pt x="9492" y="1344557"/>
                    <a:pt x="0" y="895317"/>
                  </a:cubicBezTo>
                  <a:lnTo>
                    <a:pt x="0" y="866844"/>
                  </a:lnTo>
                  <a:cubicBezTo>
                    <a:pt x="3164" y="768770"/>
                    <a:pt x="22146" y="673860"/>
                    <a:pt x="56946" y="582114"/>
                  </a:cubicBezTo>
                  <a:cubicBezTo>
                    <a:pt x="88583" y="496695"/>
                    <a:pt x="139202" y="417604"/>
                    <a:pt x="199311" y="348003"/>
                  </a:cubicBezTo>
                  <a:cubicBezTo>
                    <a:pt x="275239" y="265748"/>
                    <a:pt x="357494" y="104401"/>
                    <a:pt x="392295" y="34800"/>
                  </a:cubicBezTo>
                  <a:cubicBezTo>
                    <a:pt x="401786" y="12655"/>
                    <a:pt x="423931" y="0"/>
                    <a:pt x="449241" y="0"/>
                  </a:cubicBezTo>
                  <a:close/>
                  <a:moveTo>
                    <a:pt x="525168" y="189820"/>
                  </a:moveTo>
                  <a:cubicBezTo>
                    <a:pt x="477713" y="291057"/>
                    <a:pt x="414440" y="385967"/>
                    <a:pt x="341676" y="474550"/>
                  </a:cubicBezTo>
                  <a:cubicBezTo>
                    <a:pt x="294221" y="525168"/>
                    <a:pt x="259421" y="585278"/>
                    <a:pt x="234112" y="648551"/>
                  </a:cubicBezTo>
                  <a:cubicBezTo>
                    <a:pt x="208802" y="718152"/>
                    <a:pt x="192984" y="794079"/>
                    <a:pt x="189820" y="870007"/>
                  </a:cubicBezTo>
                  <a:lnTo>
                    <a:pt x="186657" y="870007"/>
                  </a:lnTo>
                  <a:lnTo>
                    <a:pt x="186657" y="895317"/>
                  </a:lnTo>
                  <a:cubicBezTo>
                    <a:pt x="192984" y="1243320"/>
                    <a:pt x="474550" y="1518558"/>
                    <a:pt x="819389" y="1521722"/>
                  </a:cubicBezTo>
                  <a:cubicBezTo>
                    <a:pt x="1164228" y="1518558"/>
                    <a:pt x="1445794" y="1240156"/>
                    <a:pt x="1452122" y="895317"/>
                  </a:cubicBezTo>
                  <a:lnTo>
                    <a:pt x="1452122" y="870007"/>
                  </a:lnTo>
                  <a:cubicBezTo>
                    <a:pt x="1448958" y="794079"/>
                    <a:pt x="1436303" y="718152"/>
                    <a:pt x="1407830" y="648551"/>
                  </a:cubicBezTo>
                  <a:cubicBezTo>
                    <a:pt x="1382521" y="585278"/>
                    <a:pt x="1344557" y="525168"/>
                    <a:pt x="1300266" y="474550"/>
                  </a:cubicBezTo>
                  <a:cubicBezTo>
                    <a:pt x="1230665" y="385967"/>
                    <a:pt x="1167392" y="291057"/>
                    <a:pt x="1116773" y="189820"/>
                  </a:cubicBezTo>
                  <a:lnTo>
                    <a:pt x="822553" y="189820"/>
                  </a:lnTo>
                  <a:lnTo>
                    <a:pt x="525168" y="18982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23" name="Google Shape;323;p24"/>
            <p:cNvSpPr/>
            <p:nvPr/>
          </p:nvSpPr>
          <p:spPr>
            <a:xfrm>
              <a:off x="923613" y="2981079"/>
              <a:ext cx="1078217" cy="1134824"/>
            </a:xfrm>
            <a:custGeom>
              <a:rect b="b" l="l" r="r" t="t"/>
              <a:pathLst>
                <a:path extrusionOk="0" h="1331902" w="1265465">
                  <a:moveTo>
                    <a:pt x="338511" y="0"/>
                  </a:moveTo>
                  <a:lnTo>
                    <a:pt x="635896" y="0"/>
                  </a:lnTo>
                  <a:lnTo>
                    <a:pt x="930116" y="0"/>
                  </a:lnTo>
                  <a:cubicBezTo>
                    <a:pt x="980735" y="101237"/>
                    <a:pt x="1044008" y="196147"/>
                    <a:pt x="1113609" y="284730"/>
                  </a:cubicBezTo>
                  <a:cubicBezTo>
                    <a:pt x="1157900" y="335348"/>
                    <a:pt x="1195864" y="395458"/>
                    <a:pt x="1221173" y="458731"/>
                  </a:cubicBezTo>
                  <a:cubicBezTo>
                    <a:pt x="1249646" y="528332"/>
                    <a:pt x="1262301" y="604259"/>
                    <a:pt x="1265465" y="680187"/>
                  </a:cubicBezTo>
                  <a:lnTo>
                    <a:pt x="1265465" y="705497"/>
                  </a:lnTo>
                  <a:cubicBezTo>
                    <a:pt x="1259137" y="1050336"/>
                    <a:pt x="977571" y="1328738"/>
                    <a:pt x="632732" y="1331902"/>
                  </a:cubicBezTo>
                  <a:cubicBezTo>
                    <a:pt x="287893" y="1328738"/>
                    <a:pt x="6327" y="1053500"/>
                    <a:pt x="0" y="705497"/>
                  </a:cubicBezTo>
                  <a:lnTo>
                    <a:pt x="0" y="680187"/>
                  </a:lnTo>
                  <a:lnTo>
                    <a:pt x="3163" y="680187"/>
                  </a:lnTo>
                  <a:cubicBezTo>
                    <a:pt x="6327" y="604259"/>
                    <a:pt x="22145" y="528332"/>
                    <a:pt x="47455" y="458731"/>
                  </a:cubicBezTo>
                  <a:cubicBezTo>
                    <a:pt x="72764" y="395458"/>
                    <a:pt x="107564" y="335348"/>
                    <a:pt x="155019" y="284730"/>
                  </a:cubicBezTo>
                  <a:cubicBezTo>
                    <a:pt x="227783" y="196147"/>
                    <a:pt x="291056" y="101237"/>
                    <a:pt x="338511" y="0"/>
                  </a:cubicBezTo>
                  <a:close/>
                </a:path>
              </a:pathLst>
            </a:custGeom>
            <a:solidFill>
              <a:srgbClr val="C7ED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400">
                  <a:solidFill>
                    <a:srgbClr val="262626"/>
                  </a:solidFill>
                  <a:latin typeface="Geo"/>
                  <a:ea typeface="Geo"/>
                  <a:cs typeface="Geo"/>
                  <a:sym typeface="Geo"/>
                </a:rPr>
                <a:t>S</a:t>
              </a:r>
              <a:endParaRPr/>
            </a:p>
          </p:txBody>
        </p:sp>
        <p:sp>
          <p:nvSpPr>
            <p:cNvPr id="324" name="Google Shape;324;p24"/>
            <p:cNvSpPr/>
            <p:nvPr/>
          </p:nvSpPr>
          <p:spPr>
            <a:xfrm>
              <a:off x="1382904" y="1011768"/>
              <a:ext cx="155562" cy="955182"/>
            </a:xfrm>
            <a:custGeom>
              <a:rect b="b" l="l" r="r" t="t"/>
              <a:pathLst>
                <a:path extrusionOk="0" h="955182" w="155562">
                  <a:moveTo>
                    <a:pt x="77781" y="0"/>
                  </a:moveTo>
                  <a:cubicBezTo>
                    <a:pt x="121857" y="0"/>
                    <a:pt x="155562" y="33705"/>
                    <a:pt x="155562" y="77781"/>
                  </a:cubicBezTo>
                  <a:lnTo>
                    <a:pt x="155562" y="358864"/>
                  </a:lnTo>
                  <a:lnTo>
                    <a:pt x="155562" y="596318"/>
                  </a:lnTo>
                  <a:lnTo>
                    <a:pt x="155562" y="877401"/>
                  </a:lnTo>
                  <a:cubicBezTo>
                    <a:pt x="155562" y="921478"/>
                    <a:pt x="121857" y="955182"/>
                    <a:pt x="77781" y="955182"/>
                  </a:cubicBezTo>
                  <a:cubicBezTo>
                    <a:pt x="33705" y="955182"/>
                    <a:pt x="0" y="921478"/>
                    <a:pt x="0" y="877401"/>
                  </a:cubicBezTo>
                  <a:lnTo>
                    <a:pt x="0" y="596318"/>
                  </a:lnTo>
                  <a:lnTo>
                    <a:pt x="0" y="358864"/>
                  </a:lnTo>
                  <a:lnTo>
                    <a:pt x="0" y="77781"/>
                  </a:lnTo>
                  <a:cubicBezTo>
                    <a:pt x="0" y="33705"/>
                    <a:pt x="33705" y="0"/>
                    <a:pt x="7778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grpSp>
      <p:grpSp>
        <p:nvGrpSpPr>
          <p:cNvPr id="325" name="Google Shape;325;p24"/>
          <p:cNvGrpSpPr/>
          <p:nvPr/>
        </p:nvGrpSpPr>
        <p:grpSpPr>
          <a:xfrm>
            <a:off x="4219907" y="1011769"/>
            <a:ext cx="1348199" cy="3236749"/>
            <a:chOff x="2860796" y="1011768"/>
            <a:chExt cx="1348199" cy="3236749"/>
          </a:xfrm>
        </p:grpSpPr>
        <p:sp>
          <p:nvSpPr>
            <p:cNvPr id="326" name="Google Shape;326;p24"/>
            <p:cNvSpPr/>
            <p:nvPr/>
          </p:nvSpPr>
          <p:spPr>
            <a:xfrm>
              <a:off x="3366370" y="2070658"/>
              <a:ext cx="337050" cy="155562"/>
            </a:xfrm>
            <a:custGeom>
              <a:rect b="b" l="l" r="r" t="t"/>
              <a:pathLst>
                <a:path extrusionOk="0" h="189820" w="411276">
                  <a:moveTo>
                    <a:pt x="205638" y="0"/>
                  </a:moveTo>
                  <a:cubicBezTo>
                    <a:pt x="313203" y="0"/>
                    <a:pt x="401785" y="82255"/>
                    <a:pt x="411276" y="189820"/>
                  </a:cubicBezTo>
                  <a:lnTo>
                    <a:pt x="0" y="189820"/>
                  </a:lnTo>
                  <a:cubicBezTo>
                    <a:pt x="9491" y="82255"/>
                    <a:pt x="98073" y="0"/>
                    <a:pt x="205638"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27" name="Google Shape;327;p24"/>
            <p:cNvSpPr/>
            <p:nvPr/>
          </p:nvSpPr>
          <p:spPr>
            <a:xfrm>
              <a:off x="3197846" y="2329927"/>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28" name="Google Shape;328;p24"/>
            <p:cNvSpPr/>
            <p:nvPr/>
          </p:nvSpPr>
          <p:spPr>
            <a:xfrm>
              <a:off x="3197846" y="2589195"/>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29" name="Google Shape;329;p24"/>
            <p:cNvSpPr/>
            <p:nvPr/>
          </p:nvSpPr>
          <p:spPr>
            <a:xfrm>
              <a:off x="2860796" y="2848465"/>
              <a:ext cx="1348199" cy="1400052"/>
            </a:xfrm>
            <a:custGeom>
              <a:rect b="b" l="l" r="r" t="t"/>
              <a:pathLst>
                <a:path extrusionOk="0" h="1708378" w="1645105">
                  <a:moveTo>
                    <a:pt x="449241" y="0"/>
                  </a:moveTo>
                  <a:lnTo>
                    <a:pt x="1195865" y="0"/>
                  </a:lnTo>
                  <a:cubicBezTo>
                    <a:pt x="1221174" y="0"/>
                    <a:pt x="1243320" y="12655"/>
                    <a:pt x="1252811" y="34800"/>
                  </a:cubicBezTo>
                  <a:cubicBezTo>
                    <a:pt x="1287611" y="104401"/>
                    <a:pt x="1369866" y="265748"/>
                    <a:pt x="1445794" y="348003"/>
                  </a:cubicBezTo>
                  <a:cubicBezTo>
                    <a:pt x="1505904" y="417604"/>
                    <a:pt x="1553359" y="496695"/>
                    <a:pt x="1588159" y="582114"/>
                  </a:cubicBezTo>
                  <a:cubicBezTo>
                    <a:pt x="1622959" y="673860"/>
                    <a:pt x="1641941" y="768770"/>
                    <a:pt x="1645105" y="866844"/>
                  </a:cubicBezTo>
                  <a:lnTo>
                    <a:pt x="1645105" y="895317"/>
                  </a:lnTo>
                  <a:cubicBezTo>
                    <a:pt x="1635614" y="1344557"/>
                    <a:pt x="1271793" y="1705214"/>
                    <a:pt x="822553" y="1708378"/>
                  </a:cubicBezTo>
                  <a:cubicBezTo>
                    <a:pt x="373313" y="1705214"/>
                    <a:pt x="9492" y="1344557"/>
                    <a:pt x="0" y="895317"/>
                  </a:cubicBezTo>
                  <a:lnTo>
                    <a:pt x="0" y="866844"/>
                  </a:lnTo>
                  <a:cubicBezTo>
                    <a:pt x="3164" y="768770"/>
                    <a:pt x="22146" y="673860"/>
                    <a:pt x="56946" y="582114"/>
                  </a:cubicBezTo>
                  <a:cubicBezTo>
                    <a:pt x="88583" y="496695"/>
                    <a:pt x="139202" y="417604"/>
                    <a:pt x="199311" y="348003"/>
                  </a:cubicBezTo>
                  <a:cubicBezTo>
                    <a:pt x="275239" y="265748"/>
                    <a:pt x="357494" y="104401"/>
                    <a:pt x="392295" y="34800"/>
                  </a:cubicBezTo>
                  <a:cubicBezTo>
                    <a:pt x="401786" y="12655"/>
                    <a:pt x="423931" y="0"/>
                    <a:pt x="449241" y="0"/>
                  </a:cubicBezTo>
                  <a:close/>
                  <a:moveTo>
                    <a:pt x="525168" y="189820"/>
                  </a:moveTo>
                  <a:cubicBezTo>
                    <a:pt x="477713" y="291057"/>
                    <a:pt x="414440" y="385967"/>
                    <a:pt x="341676" y="474550"/>
                  </a:cubicBezTo>
                  <a:cubicBezTo>
                    <a:pt x="294221" y="525168"/>
                    <a:pt x="259421" y="585278"/>
                    <a:pt x="234112" y="648551"/>
                  </a:cubicBezTo>
                  <a:cubicBezTo>
                    <a:pt x="208802" y="718152"/>
                    <a:pt x="192984" y="794079"/>
                    <a:pt x="189820" y="870007"/>
                  </a:cubicBezTo>
                  <a:lnTo>
                    <a:pt x="186657" y="870007"/>
                  </a:lnTo>
                  <a:lnTo>
                    <a:pt x="186657" y="895317"/>
                  </a:lnTo>
                  <a:cubicBezTo>
                    <a:pt x="192984" y="1243320"/>
                    <a:pt x="474550" y="1518558"/>
                    <a:pt x="819389" y="1521722"/>
                  </a:cubicBezTo>
                  <a:cubicBezTo>
                    <a:pt x="1164228" y="1518558"/>
                    <a:pt x="1445794" y="1240156"/>
                    <a:pt x="1452122" y="895317"/>
                  </a:cubicBezTo>
                  <a:lnTo>
                    <a:pt x="1452122" y="870007"/>
                  </a:lnTo>
                  <a:cubicBezTo>
                    <a:pt x="1448958" y="794079"/>
                    <a:pt x="1436303" y="718152"/>
                    <a:pt x="1407830" y="648551"/>
                  </a:cubicBezTo>
                  <a:cubicBezTo>
                    <a:pt x="1382521" y="585278"/>
                    <a:pt x="1344557" y="525168"/>
                    <a:pt x="1300266" y="474550"/>
                  </a:cubicBezTo>
                  <a:cubicBezTo>
                    <a:pt x="1230665" y="385967"/>
                    <a:pt x="1167392" y="291057"/>
                    <a:pt x="1116773" y="189820"/>
                  </a:cubicBezTo>
                  <a:lnTo>
                    <a:pt x="822553" y="189820"/>
                  </a:lnTo>
                  <a:lnTo>
                    <a:pt x="525168" y="18982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30" name="Google Shape;330;p24"/>
            <p:cNvSpPr/>
            <p:nvPr/>
          </p:nvSpPr>
          <p:spPr>
            <a:xfrm>
              <a:off x="2997822" y="2981079"/>
              <a:ext cx="1078217" cy="1134824"/>
            </a:xfrm>
            <a:custGeom>
              <a:rect b="b" l="l" r="r" t="t"/>
              <a:pathLst>
                <a:path extrusionOk="0" h="1331902" w="1265465">
                  <a:moveTo>
                    <a:pt x="338511" y="0"/>
                  </a:moveTo>
                  <a:lnTo>
                    <a:pt x="635896" y="0"/>
                  </a:lnTo>
                  <a:lnTo>
                    <a:pt x="930116" y="0"/>
                  </a:lnTo>
                  <a:cubicBezTo>
                    <a:pt x="980735" y="101237"/>
                    <a:pt x="1044008" y="196147"/>
                    <a:pt x="1113609" y="284730"/>
                  </a:cubicBezTo>
                  <a:cubicBezTo>
                    <a:pt x="1157900" y="335348"/>
                    <a:pt x="1195864" y="395458"/>
                    <a:pt x="1221173" y="458731"/>
                  </a:cubicBezTo>
                  <a:cubicBezTo>
                    <a:pt x="1249646" y="528332"/>
                    <a:pt x="1262301" y="604259"/>
                    <a:pt x="1265465" y="680187"/>
                  </a:cubicBezTo>
                  <a:lnTo>
                    <a:pt x="1265465" y="705497"/>
                  </a:lnTo>
                  <a:cubicBezTo>
                    <a:pt x="1259137" y="1050336"/>
                    <a:pt x="977571" y="1328738"/>
                    <a:pt x="632732" y="1331902"/>
                  </a:cubicBezTo>
                  <a:cubicBezTo>
                    <a:pt x="287893" y="1328738"/>
                    <a:pt x="6327" y="1053500"/>
                    <a:pt x="0" y="705497"/>
                  </a:cubicBezTo>
                  <a:lnTo>
                    <a:pt x="0" y="680187"/>
                  </a:lnTo>
                  <a:lnTo>
                    <a:pt x="3163" y="680187"/>
                  </a:lnTo>
                  <a:cubicBezTo>
                    <a:pt x="6327" y="604259"/>
                    <a:pt x="22145" y="528332"/>
                    <a:pt x="47455" y="458731"/>
                  </a:cubicBezTo>
                  <a:cubicBezTo>
                    <a:pt x="72764" y="395458"/>
                    <a:pt x="107564" y="335348"/>
                    <a:pt x="155019" y="284730"/>
                  </a:cubicBezTo>
                  <a:cubicBezTo>
                    <a:pt x="227783" y="196147"/>
                    <a:pt x="291056" y="101237"/>
                    <a:pt x="338511" y="0"/>
                  </a:cubicBezTo>
                  <a:close/>
                </a:path>
              </a:pathLst>
            </a:custGeom>
            <a:solidFill>
              <a:srgbClr val="F6C5A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400" cap="none">
                  <a:solidFill>
                    <a:srgbClr val="262626"/>
                  </a:solidFill>
                  <a:latin typeface="Geo"/>
                  <a:ea typeface="Geo"/>
                  <a:cs typeface="Geo"/>
                  <a:sym typeface="Geo"/>
                </a:rPr>
                <a:t>W</a:t>
              </a:r>
              <a:endParaRPr/>
            </a:p>
          </p:txBody>
        </p:sp>
        <p:sp>
          <p:nvSpPr>
            <p:cNvPr id="331" name="Google Shape;331;p24"/>
            <p:cNvSpPr/>
            <p:nvPr/>
          </p:nvSpPr>
          <p:spPr>
            <a:xfrm>
              <a:off x="3457113" y="1011768"/>
              <a:ext cx="155562" cy="955182"/>
            </a:xfrm>
            <a:custGeom>
              <a:rect b="b" l="l" r="r" t="t"/>
              <a:pathLst>
                <a:path extrusionOk="0" h="955182" w="155562">
                  <a:moveTo>
                    <a:pt x="77781" y="0"/>
                  </a:moveTo>
                  <a:cubicBezTo>
                    <a:pt x="121857" y="0"/>
                    <a:pt x="155562" y="33705"/>
                    <a:pt x="155562" y="77781"/>
                  </a:cubicBezTo>
                  <a:lnTo>
                    <a:pt x="155562" y="358864"/>
                  </a:lnTo>
                  <a:lnTo>
                    <a:pt x="155562" y="596318"/>
                  </a:lnTo>
                  <a:lnTo>
                    <a:pt x="155562" y="877401"/>
                  </a:lnTo>
                  <a:cubicBezTo>
                    <a:pt x="155562" y="921478"/>
                    <a:pt x="121857" y="955182"/>
                    <a:pt x="77781" y="955182"/>
                  </a:cubicBezTo>
                  <a:cubicBezTo>
                    <a:pt x="33706" y="955182"/>
                    <a:pt x="0" y="921478"/>
                    <a:pt x="0" y="877401"/>
                  </a:cubicBezTo>
                  <a:lnTo>
                    <a:pt x="0" y="596318"/>
                  </a:lnTo>
                  <a:lnTo>
                    <a:pt x="0" y="358864"/>
                  </a:lnTo>
                  <a:lnTo>
                    <a:pt x="0" y="77781"/>
                  </a:lnTo>
                  <a:cubicBezTo>
                    <a:pt x="0" y="33705"/>
                    <a:pt x="33706" y="0"/>
                    <a:pt x="7778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grpSp>
      <p:grpSp>
        <p:nvGrpSpPr>
          <p:cNvPr id="332" name="Google Shape;332;p24"/>
          <p:cNvGrpSpPr/>
          <p:nvPr/>
        </p:nvGrpSpPr>
        <p:grpSpPr>
          <a:xfrm>
            <a:off x="6459007" y="1011769"/>
            <a:ext cx="1348199" cy="3236749"/>
            <a:chOff x="4935006" y="1011768"/>
            <a:chExt cx="1348199" cy="3236749"/>
          </a:xfrm>
        </p:grpSpPr>
        <p:sp>
          <p:nvSpPr>
            <p:cNvPr id="333" name="Google Shape;333;p24"/>
            <p:cNvSpPr/>
            <p:nvPr/>
          </p:nvSpPr>
          <p:spPr>
            <a:xfrm>
              <a:off x="5440580" y="2070658"/>
              <a:ext cx="337050" cy="155562"/>
            </a:xfrm>
            <a:custGeom>
              <a:rect b="b" l="l" r="r" t="t"/>
              <a:pathLst>
                <a:path extrusionOk="0" h="189820" w="411276">
                  <a:moveTo>
                    <a:pt x="205638" y="0"/>
                  </a:moveTo>
                  <a:cubicBezTo>
                    <a:pt x="313203" y="0"/>
                    <a:pt x="401785" y="82255"/>
                    <a:pt x="411276" y="189820"/>
                  </a:cubicBezTo>
                  <a:lnTo>
                    <a:pt x="0" y="189820"/>
                  </a:lnTo>
                  <a:cubicBezTo>
                    <a:pt x="9491" y="82255"/>
                    <a:pt x="98073" y="0"/>
                    <a:pt x="205638"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34" name="Google Shape;334;p24"/>
            <p:cNvSpPr/>
            <p:nvPr/>
          </p:nvSpPr>
          <p:spPr>
            <a:xfrm>
              <a:off x="5272056" y="2329927"/>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35" name="Google Shape;335;p24"/>
            <p:cNvSpPr/>
            <p:nvPr/>
          </p:nvSpPr>
          <p:spPr>
            <a:xfrm>
              <a:off x="5272056" y="2589195"/>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36" name="Google Shape;336;p24"/>
            <p:cNvSpPr/>
            <p:nvPr/>
          </p:nvSpPr>
          <p:spPr>
            <a:xfrm>
              <a:off x="4935006" y="2848465"/>
              <a:ext cx="1348199" cy="1400052"/>
            </a:xfrm>
            <a:custGeom>
              <a:rect b="b" l="l" r="r" t="t"/>
              <a:pathLst>
                <a:path extrusionOk="0" h="1708378" w="1645105">
                  <a:moveTo>
                    <a:pt x="449241" y="0"/>
                  </a:moveTo>
                  <a:lnTo>
                    <a:pt x="1195865" y="0"/>
                  </a:lnTo>
                  <a:cubicBezTo>
                    <a:pt x="1221174" y="0"/>
                    <a:pt x="1243320" y="12655"/>
                    <a:pt x="1252811" y="34800"/>
                  </a:cubicBezTo>
                  <a:cubicBezTo>
                    <a:pt x="1287611" y="104401"/>
                    <a:pt x="1369866" y="265748"/>
                    <a:pt x="1445794" y="348003"/>
                  </a:cubicBezTo>
                  <a:cubicBezTo>
                    <a:pt x="1505904" y="417604"/>
                    <a:pt x="1553359" y="496695"/>
                    <a:pt x="1588159" y="582114"/>
                  </a:cubicBezTo>
                  <a:cubicBezTo>
                    <a:pt x="1622959" y="673860"/>
                    <a:pt x="1641941" y="768770"/>
                    <a:pt x="1645105" y="866844"/>
                  </a:cubicBezTo>
                  <a:lnTo>
                    <a:pt x="1645105" y="895317"/>
                  </a:lnTo>
                  <a:cubicBezTo>
                    <a:pt x="1635614" y="1344557"/>
                    <a:pt x="1271793" y="1705214"/>
                    <a:pt x="822553" y="1708378"/>
                  </a:cubicBezTo>
                  <a:cubicBezTo>
                    <a:pt x="373313" y="1705214"/>
                    <a:pt x="9492" y="1344557"/>
                    <a:pt x="0" y="895317"/>
                  </a:cubicBezTo>
                  <a:lnTo>
                    <a:pt x="0" y="866844"/>
                  </a:lnTo>
                  <a:cubicBezTo>
                    <a:pt x="3164" y="768770"/>
                    <a:pt x="22146" y="673860"/>
                    <a:pt x="56946" y="582114"/>
                  </a:cubicBezTo>
                  <a:cubicBezTo>
                    <a:pt x="88583" y="496695"/>
                    <a:pt x="139202" y="417604"/>
                    <a:pt x="199311" y="348003"/>
                  </a:cubicBezTo>
                  <a:cubicBezTo>
                    <a:pt x="275239" y="265748"/>
                    <a:pt x="357494" y="104401"/>
                    <a:pt x="392295" y="34800"/>
                  </a:cubicBezTo>
                  <a:cubicBezTo>
                    <a:pt x="401786" y="12655"/>
                    <a:pt x="423931" y="0"/>
                    <a:pt x="449241" y="0"/>
                  </a:cubicBezTo>
                  <a:close/>
                  <a:moveTo>
                    <a:pt x="525168" y="189820"/>
                  </a:moveTo>
                  <a:cubicBezTo>
                    <a:pt x="477713" y="291057"/>
                    <a:pt x="414440" y="385967"/>
                    <a:pt x="341676" y="474550"/>
                  </a:cubicBezTo>
                  <a:cubicBezTo>
                    <a:pt x="294221" y="525168"/>
                    <a:pt x="259421" y="585278"/>
                    <a:pt x="234112" y="648551"/>
                  </a:cubicBezTo>
                  <a:cubicBezTo>
                    <a:pt x="208802" y="718152"/>
                    <a:pt x="192984" y="794079"/>
                    <a:pt x="189820" y="870007"/>
                  </a:cubicBezTo>
                  <a:lnTo>
                    <a:pt x="186657" y="870007"/>
                  </a:lnTo>
                  <a:lnTo>
                    <a:pt x="186657" y="895317"/>
                  </a:lnTo>
                  <a:cubicBezTo>
                    <a:pt x="192984" y="1243320"/>
                    <a:pt x="474550" y="1518558"/>
                    <a:pt x="819389" y="1521722"/>
                  </a:cubicBezTo>
                  <a:cubicBezTo>
                    <a:pt x="1164228" y="1518558"/>
                    <a:pt x="1445794" y="1240156"/>
                    <a:pt x="1452122" y="895317"/>
                  </a:cubicBezTo>
                  <a:lnTo>
                    <a:pt x="1452122" y="870007"/>
                  </a:lnTo>
                  <a:cubicBezTo>
                    <a:pt x="1448958" y="794079"/>
                    <a:pt x="1436303" y="718152"/>
                    <a:pt x="1407830" y="648551"/>
                  </a:cubicBezTo>
                  <a:cubicBezTo>
                    <a:pt x="1382521" y="585278"/>
                    <a:pt x="1344557" y="525168"/>
                    <a:pt x="1300266" y="474550"/>
                  </a:cubicBezTo>
                  <a:cubicBezTo>
                    <a:pt x="1230665" y="385967"/>
                    <a:pt x="1167392" y="291057"/>
                    <a:pt x="1116773" y="189820"/>
                  </a:cubicBezTo>
                  <a:lnTo>
                    <a:pt x="822553" y="189820"/>
                  </a:lnTo>
                  <a:lnTo>
                    <a:pt x="525168" y="189820"/>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37" name="Google Shape;337;p24"/>
            <p:cNvSpPr/>
            <p:nvPr/>
          </p:nvSpPr>
          <p:spPr>
            <a:xfrm>
              <a:off x="5072032" y="2981079"/>
              <a:ext cx="1078217" cy="1134824"/>
            </a:xfrm>
            <a:custGeom>
              <a:rect b="b" l="l" r="r" t="t"/>
              <a:pathLst>
                <a:path extrusionOk="0" h="1331902" w="1265465">
                  <a:moveTo>
                    <a:pt x="338511" y="0"/>
                  </a:moveTo>
                  <a:lnTo>
                    <a:pt x="635896" y="0"/>
                  </a:lnTo>
                  <a:lnTo>
                    <a:pt x="930116" y="0"/>
                  </a:lnTo>
                  <a:cubicBezTo>
                    <a:pt x="980735" y="101237"/>
                    <a:pt x="1044008" y="196147"/>
                    <a:pt x="1113609" y="284730"/>
                  </a:cubicBezTo>
                  <a:cubicBezTo>
                    <a:pt x="1157900" y="335348"/>
                    <a:pt x="1195864" y="395458"/>
                    <a:pt x="1221173" y="458731"/>
                  </a:cubicBezTo>
                  <a:cubicBezTo>
                    <a:pt x="1249646" y="528332"/>
                    <a:pt x="1262301" y="604259"/>
                    <a:pt x="1265465" y="680187"/>
                  </a:cubicBezTo>
                  <a:lnTo>
                    <a:pt x="1265465" y="705497"/>
                  </a:lnTo>
                  <a:cubicBezTo>
                    <a:pt x="1259137" y="1050336"/>
                    <a:pt x="977571" y="1328738"/>
                    <a:pt x="632732" y="1331902"/>
                  </a:cubicBezTo>
                  <a:cubicBezTo>
                    <a:pt x="287893" y="1328738"/>
                    <a:pt x="6327" y="1053500"/>
                    <a:pt x="0" y="705497"/>
                  </a:cubicBezTo>
                  <a:lnTo>
                    <a:pt x="0" y="680187"/>
                  </a:lnTo>
                  <a:lnTo>
                    <a:pt x="3163" y="680187"/>
                  </a:lnTo>
                  <a:cubicBezTo>
                    <a:pt x="6327" y="604259"/>
                    <a:pt x="22145" y="528332"/>
                    <a:pt x="47455" y="458731"/>
                  </a:cubicBezTo>
                  <a:cubicBezTo>
                    <a:pt x="72764" y="395458"/>
                    <a:pt x="107564" y="335348"/>
                    <a:pt x="155019" y="284730"/>
                  </a:cubicBezTo>
                  <a:cubicBezTo>
                    <a:pt x="227783" y="196147"/>
                    <a:pt x="291056" y="101237"/>
                    <a:pt x="338511" y="0"/>
                  </a:cubicBezTo>
                  <a:close/>
                </a:path>
              </a:pathLst>
            </a:custGeom>
            <a:solidFill>
              <a:srgbClr val="E59DD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400" cap="none">
                  <a:solidFill>
                    <a:srgbClr val="262626"/>
                  </a:solidFill>
                  <a:latin typeface="Geo"/>
                  <a:ea typeface="Geo"/>
                  <a:cs typeface="Geo"/>
                  <a:sym typeface="Geo"/>
                </a:rPr>
                <a:t>O</a:t>
              </a:r>
              <a:endParaRPr b="1" sz="5400" cap="none">
                <a:solidFill>
                  <a:srgbClr val="262626"/>
                </a:solidFill>
                <a:latin typeface="Geo"/>
                <a:ea typeface="Geo"/>
                <a:cs typeface="Geo"/>
                <a:sym typeface="Geo"/>
              </a:endParaRPr>
            </a:p>
          </p:txBody>
        </p:sp>
        <p:sp>
          <p:nvSpPr>
            <p:cNvPr id="338" name="Google Shape;338;p24"/>
            <p:cNvSpPr/>
            <p:nvPr/>
          </p:nvSpPr>
          <p:spPr>
            <a:xfrm>
              <a:off x="5531323" y="1011768"/>
              <a:ext cx="155562" cy="955182"/>
            </a:xfrm>
            <a:custGeom>
              <a:rect b="b" l="l" r="r" t="t"/>
              <a:pathLst>
                <a:path extrusionOk="0" h="955182" w="155562">
                  <a:moveTo>
                    <a:pt x="77781" y="0"/>
                  </a:moveTo>
                  <a:cubicBezTo>
                    <a:pt x="121857" y="0"/>
                    <a:pt x="155562" y="33705"/>
                    <a:pt x="155562" y="77781"/>
                  </a:cubicBezTo>
                  <a:lnTo>
                    <a:pt x="155562" y="358864"/>
                  </a:lnTo>
                  <a:lnTo>
                    <a:pt x="155562" y="596318"/>
                  </a:lnTo>
                  <a:lnTo>
                    <a:pt x="155562" y="877401"/>
                  </a:lnTo>
                  <a:cubicBezTo>
                    <a:pt x="155562" y="921478"/>
                    <a:pt x="121857" y="955182"/>
                    <a:pt x="77781" y="955182"/>
                  </a:cubicBezTo>
                  <a:cubicBezTo>
                    <a:pt x="33706" y="955182"/>
                    <a:pt x="0" y="921478"/>
                    <a:pt x="0" y="877401"/>
                  </a:cubicBezTo>
                  <a:lnTo>
                    <a:pt x="0" y="596318"/>
                  </a:lnTo>
                  <a:lnTo>
                    <a:pt x="0" y="358864"/>
                  </a:lnTo>
                  <a:lnTo>
                    <a:pt x="0" y="77781"/>
                  </a:lnTo>
                  <a:cubicBezTo>
                    <a:pt x="0" y="33705"/>
                    <a:pt x="33706" y="0"/>
                    <a:pt x="7778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grpSp>
      <p:grpSp>
        <p:nvGrpSpPr>
          <p:cNvPr id="339" name="Google Shape;339;p24"/>
          <p:cNvGrpSpPr/>
          <p:nvPr/>
        </p:nvGrpSpPr>
        <p:grpSpPr>
          <a:xfrm>
            <a:off x="8758067" y="1011769"/>
            <a:ext cx="1348199" cy="3236749"/>
            <a:chOff x="7009216" y="1011768"/>
            <a:chExt cx="1348199" cy="3236749"/>
          </a:xfrm>
        </p:grpSpPr>
        <p:sp>
          <p:nvSpPr>
            <p:cNvPr id="340" name="Google Shape;340;p24"/>
            <p:cNvSpPr/>
            <p:nvPr/>
          </p:nvSpPr>
          <p:spPr>
            <a:xfrm>
              <a:off x="7514790" y="2070658"/>
              <a:ext cx="337050" cy="155562"/>
            </a:xfrm>
            <a:custGeom>
              <a:rect b="b" l="l" r="r" t="t"/>
              <a:pathLst>
                <a:path extrusionOk="0" h="189820" w="411276">
                  <a:moveTo>
                    <a:pt x="205638" y="0"/>
                  </a:moveTo>
                  <a:cubicBezTo>
                    <a:pt x="313203" y="0"/>
                    <a:pt x="401785" y="82255"/>
                    <a:pt x="411276" y="189820"/>
                  </a:cubicBezTo>
                  <a:lnTo>
                    <a:pt x="0" y="189820"/>
                  </a:lnTo>
                  <a:cubicBezTo>
                    <a:pt x="9491" y="82255"/>
                    <a:pt x="98073" y="0"/>
                    <a:pt x="205638"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41" name="Google Shape;341;p24"/>
            <p:cNvSpPr/>
            <p:nvPr/>
          </p:nvSpPr>
          <p:spPr>
            <a:xfrm>
              <a:off x="7346266" y="2329927"/>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42" name="Google Shape;342;p24"/>
            <p:cNvSpPr/>
            <p:nvPr/>
          </p:nvSpPr>
          <p:spPr>
            <a:xfrm>
              <a:off x="7346266" y="2589195"/>
              <a:ext cx="674099" cy="155562"/>
            </a:xfrm>
            <a:custGeom>
              <a:rect b="b" l="l" r="r" t="t"/>
              <a:pathLst>
                <a:path extrusionOk="0" h="189820" w="822552">
                  <a:moveTo>
                    <a:pt x="94910" y="0"/>
                  </a:moveTo>
                  <a:lnTo>
                    <a:pt x="727642" y="0"/>
                  </a:lnTo>
                  <a:cubicBezTo>
                    <a:pt x="781424" y="0"/>
                    <a:pt x="822552" y="41128"/>
                    <a:pt x="822552" y="94910"/>
                  </a:cubicBezTo>
                  <a:cubicBezTo>
                    <a:pt x="822552" y="148692"/>
                    <a:pt x="781424" y="189820"/>
                    <a:pt x="727642" y="189820"/>
                  </a:cubicBezTo>
                  <a:lnTo>
                    <a:pt x="94910" y="189820"/>
                  </a:lnTo>
                  <a:cubicBezTo>
                    <a:pt x="41127" y="189820"/>
                    <a:pt x="0" y="148692"/>
                    <a:pt x="0" y="94910"/>
                  </a:cubicBezTo>
                  <a:cubicBezTo>
                    <a:pt x="0" y="41128"/>
                    <a:pt x="41127" y="0"/>
                    <a:pt x="94910" y="0"/>
                  </a:cubicBezTo>
                  <a:close/>
                </a:path>
              </a:pathLst>
            </a:custGeom>
            <a:solidFill>
              <a:srgbClr val="AEAE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43" name="Google Shape;343;p24"/>
            <p:cNvSpPr/>
            <p:nvPr/>
          </p:nvSpPr>
          <p:spPr>
            <a:xfrm>
              <a:off x="7009216" y="2848465"/>
              <a:ext cx="1348199" cy="1400052"/>
            </a:xfrm>
            <a:custGeom>
              <a:rect b="b" l="l" r="r" t="t"/>
              <a:pathLst>
                <a:path extrusionOk="0" h="1708378" w="1645105">
                  <a:moveTo>
                    <a:pt x="449241" y="0"/>
                  </a:moveTo>
                  <a:lnTo>
                    <a:pt x="1195865" y="0"/>
                  </a:lnTo>
                  <a:cubicBezTo>
                    <a:pt x="1221174" y="0"/>
                    <a:pt x="1243320" y="12655"/>
                    <a:pt x="1252811" y="34800"/>
                  </a:cubicBezTo>
                  <a:cubicBezTo>
                    <a:pt x="1287611" y="104401"/>
                    <a:pt x="1369866" y="265748"/>
                    <a:pt x="1445794" y="348003"/>
                  </a:cubicBezTo>
                  <a:cubicBezTo>
                    <a:pt x="1505904" y="417604"/>
                    <a:pt x="1553359" y="496695"/>
                    <a:pt x="1588159" y="582114"/>
                  </a:cubicBezTo>
                  <a:cubicBezTo>
                    <a:pt x="1622959" y="673860"/>
                    <a:pt x="1641941" y="768770"/>
                    <a:pt x="1645105" y="866844"/>
                  </a:cubicBezTo>
                  <a:lnTo>
                    <a:pt x="1645105" y="895317"/>
                  </a:lnTo>
                  <a:cubicBezTo>
                    <a:pt x="1635614" y="1344557"/>
                    <a:pt x="1271793" y="1705214"/>
                    <a:pt x="822553" y="1708378"/>
                  </a:cubicBezTo>
                  <a:cubicBezTo>
                    <a:pt x="373313" y="1705214"/>
                    <a:pt x="9492" y="1344557"/>
                    <a:pt x="0" y="895317"/>
                  </a:cubicBezTo>
                  <a:lnTo>
                    <a:pt x="0" y="866844"/>
                  </a:lnTo>
                  <a:cubicBezTo>
                    <a:pt x="3164" y="768770"/>
                    <a:pt x="22146" y="673860"/>
                    <a:pt x="56946" y="582114"/>
                  </a:cubicBezTo>
                  <a:cubicBezTo>
                    <a:pt x="88583" y="496695"/>
                    <a:pt x="139202" y="417604"/>
                    <a:pt x="199311" y="348003"/>
                  </a:cubicBezTo>
                  <a:cubicBezTo>
                    <a:pt x="275239" y="265748"/>
                    <a:pt x="357494" y="104401"/>
                    <a:pt x="392295" y="34800"/>
                  </a:cubicBezTo>
                  <a:cubicBezTo>
                    <a:pt x="401786" y="12655"/>
                    <a:pt x="423931" y="0"/>
                    <a:pt x="449241" y="0"/>
                  </a:cubicBezTo>
                  <a:close/>
                  <a:moveTo>
                    <a:pt x="525168" y="189820"/>
                  </a:moveTo>
                  <a:cubicBezTo>
                    <a:pt x="477713" y="291057"/>
                    <a:pt x="414440" y="385967"/>
                    <a:pt x="341676" y="474550"/>
                  </a:cubicBezTo>
                  <a:cubicBezTo>
                    <a:pt x="294221" y="525168"/>
                    <a:pt x="259421" y="585278"/>
                    <a:pt x="234112" y="648551"/>
                  </a:cubicBezTo>
                  <a:cubicBezTo>
                    <a:pt x="208802" y="718152"/>
                    <a:pt x="192984" y="794079"/>
                    <a:pt x="189820" y="870007"/>
                  </a:cubicBezTo>
                  <a:lnTo>
                    <a:pt x="186657" y="870007"/>
                  </a:lnTo>
                  <a:lnTo>
                    <a:pt x="186657" y="895317"/>
                  </a:lnTo>
                  <a:cubicBezTo>
                    <a:pt x="192984" y="1243320"/>
                    <a:pt x="474550" y="1518558"/>
                    <a:pt x="819389" y="1521722"/>
                  </a:cubicBezTo>
                  <a:cubicBezTo>
                    <a:pt x="1164228" y="1518558"/>
                    <a:pt x="1445794" y="1240156"/>
                    <a:pt x="1452122" y="895317"/>
                  </a:cubicBezTo>
                  <a:lnTo>
                    <a:pt x="1452122" y="870007"/>
                  </a:lnTo>
                  <a:cubicBezTo>
                    <a:pt x="1448958" y="794079"/>
                    <a:pt x="1436303" y="718152"/>
                    <a:pt x="1407830" y="648551"/>
                  </a:cubicBezTo>
                  <a:cubicBezTo>
                    <a:pt x="1382521" y="585278"/>
                    <a:pt x="1344557" y="525168"/>
                    <a:pt x="1300266" y="474550"/>
                  </a:cubicBezTo>
                  <a:cubicBezTo>
                    <a:pt x="1230665" y="385967"/>
                    <a:pt x="1167392" y="291057"/>
                    <a:pt x="1116773" y="189820"/>
                  </a:cubicBezTo>
                  <a:lnTo>
                    <a:pt x="822553" y="189820"/>
                  </a:lnTo>
                  <a:lnTo>
                    <a:pt x="525168" y="189820"/>
                  </a:lnTo>
                  <a:close/>
                </a:path>
              </a:pathLst>
            </a:custGeom>
            <a:solidFill>
              <a:srgbClr val="3A7D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sp>
          <p:nvSpPr>
            <p:cNvPr id="344" name="Google Shape;344;p24"/>
            <p:cNvSpPr/>
            <p:nvPr/>
          </p:nvSpPr>
          <p:spPr>
            <a:xfrm>
              <a:off x="7146242" y="2981079"/>
              <a:ext cx="1078217" cy="1134824"/>
            </a:xfrm>
            <a:custGeom>
              <a:rect b="b" l="l" r="r" t="t"/>
              <a:pathLst>
                <a:path extrusionOk="0" h="1331902" w="1265465">
                  <a:moveTo>
                    <a:pt x="338511" y="0"/>
                  </a:moveTo>
                  <a:lnTo>
                    <a:pt x="635896" y="0"/>
                  </a:lnTo>
                  <a:lnTo>
                    <a:pt x="930116" y="0"/>
                  </a:lnTo>
                  <a:cubicBezTo>
                    <a:pt x="980735" y="101237"/>
                    <a:pt x="1044008" y="196147"/>
                    <a:pt x="1113609" y="284730"/>
                  </a:cubicBezTo>
                  <a:cubicBezTo>
                    <a:pt x="1157900" y="335348"/>
                    <a:pt x="1195864" y="395458"/>
                    <a:pt x="1221173" y="458731"/>
                  </a:cubicBezTo>
                  <a:cubicBezTo>
                    <a:pt x="1249646" y="528332"/>
                    <a:pt x="1262301" y="604259"/>
                    <a:pt x="1265465" y="680187"/>
                  </a:cubicBezTo>
                  <a:lnTo>
                    <a:pt x="1265465" y="705497"/>
                  </a:lnTo>
                  <a:cubicBezTo>
                    <a:pt x="1259137" y="1050336"/>
                    <a:pt x="977571" y="1328738"/>
                    <a:pt x="632732" y="1331902"/>
                  </a:cubicBezTo>
                  <a:cubicBezTo>
                    <a:pt x="287893" y="1328738"/>
                    <a:pt x="6327" y="1053500"/>
                    <a:pt x="0" y="705497"/>
                  </a:cubicBezTo>
                  <a:lnTo>
                    <a:pt x="0" y="680187"/>
                  </a:lnTo>
                  <a:lnTo>
                    <a:pt x="3163" y="680187"/>
                  </a:lnTo>
                  <a:cubicBezTo>
                    <a:pt x="6327" y="604259"/>
                    <a:pt x="22145" y="528332"/>
                    <a:pt x="47455" y="458731"/>
                  </a:cubicBezTo>
                  <a:cubicBezTo>
                    <a:pt x="72764" y="395458"/>
                    <a:pt x="107564" y="335348"/>
                    <a:pt x="155019" y="284730"/>
                  </a:cubicBezTo>
                  <a:cubicBezTo>
                    <a:pt x="227783" y="196147"/>
                    <a:pt x="291056" y="101237"/>
                    <a:pt x="338511" y="0"/>
                  </a:cubicBezTo>
                  <a:close/>
                </a:path>
              </a:pathLst>
            </a:custGeom>
            <a:solidFill>
              <a:srgbClr val="B3E5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5400" cap="none">
                  <a:solidFill>
                    <a:srgbClr val="262626"/>
                  </a:solidFill>
                  <a:latin typeface="Geo"/>
                  <a:ea typeface="Geo"/>
                  <a:cs typeface="Geo"/>
                  <a:sym typeface="Geo"/>
                </a:rPr>
                <a:t>T</a:t>
              </a:r>
              <a:endParaRPr/>
            </a:p>
          </p:txBody>
        </p:sp>
        <p:sp>
          <p:nvSpPr>
            <p:cNvPr id="345" name="Google Shape;345;p24"/>
            <p:cNvSpPr/>
            <p:nvPr/>
          </p:nvSpPr>
          <p:spPr>
            <a:xfrm>
              <a:off x="7605533" y="1011768"/>
              <a:ext cx="155562" cy="955182"/>
            </a:xfrm>
            <a:custGeom>
              <a:rect b="b" l="l" r="r" t="t"/>
              <a:pathLst>
                <a:path extrusionOk="0" h="955182" w="155562">
                  <a:moveTo>
                    <a:pt x="77781" y="0"/>
                  </a:moveTo>
                  <a:cubicBezTo>
                    <a:pt x="121857" y="0"/>
                    <a:pt x="155562" y="33705"/>
                    <a:pt x="155562" y="77781"/>
                  </a:cubicBezTo>
                  <a:lnTo>
                    <a:pt x="155562" y="358864"/>
                  </a:lnTo>
                  <a:lnTo>
                    <a:pt x="155562" y="596318"/>
                  </a:lnTo>
                  <a:lnTo>
                    <a:pt x="155562" y="877401"/>
                  </a:lnTo>
                  <a:cubicBezTo>
                    <a:pt x="155562" y="921478"/>
                    <a:pt x="121857" y="955182"/>
                    <a:pt x="77781" y="955182"/>
                  </a:cubicBezTo>
                  <a:cubicBezTo>
                    <a:pt x="33706" y="955182"/>
                    <a:pt x="0" y="921478"/>
                    <a:pt x="0" y="877401"/>
                  </a:cubicBezTo>
                  <a:lnTo>
                    <a:pt x="0" y="596318"/>
                  </a:lnTo>
                  <a:lnTo>
                    <a:pt x="0" y="358864"/>
                  </a:lnTo>
                  <a:lnTo>
                    <a:pt x="0" y="77781"/>
                  </a:lnTo>
                  <a:cubicBezTo>
                    <a:pt x="0" y="33705"/>
                    <a:pt x="33706" y="0"/>
                    <a:pt x="7778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lt1"/>
                </a:solidFill>
                <a:latin typeface="Geo"/>
                <a:ea typeface="Geo"/>
                <a:cs typeface="Geo"/>
                <a:sym typeface="Geo"/>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5"/>
          <p:cNvSpPr/>
          <p:nvPr/>
        </p:nvSpPr>
        <p:spPr>
          <a:xfrm>
            <a:off x="49478" y="1802498"/>
            <a:ext cx="6406285" cy="3985474"/>
          </a:xfrm>
          <a:custGeom>
            <a:rect b="b" l="l" r="r" t="t"/>
            <a:pathLst>
              <a:path extrusionOk="0" h="4176913" w="3964270">
                <a:moveTo>
                  <a:pt x="0" y="0"/>
                </a:moveTo>
                <a:lnTo>
                  <a:pt x="3964269" y="0"/>
                </a:lnTo>
                <a:lnTo>
                  <a:pt x="3964269" y="4176913"/>
                </a:lnTo>
                <a:lnTo>
                  <a:pt x="0" y="417691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1" name="Google Shape;351;p25"/>
          <p:cNvSpPr/>
          <p:nvPr/>
        </p:nvSpPr>
        <p:spPr>
          <a:xfrm>
            <a:off x="4112494" y="1299607"/>
            <a:ext cx="1171636" cy="1171636"/>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A5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2" name="Google Shape;352;p25"/>
          <p:cNvSpPr/>
          <p:nvPr/>
        </p:nvSpPr>
        <p:spPr>
          <a:xfrm>
            <a:off x="4224842" y="1411956"/>
            <a:ext cx="946937" cy="94693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5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3" name="Google Shape;353;p25"/>
          <p:cNvSpPr/>
          <p:nvPr/>
        </p:nvSpPr>
        <p:spPr>
          <a:xfrm>
            <a:off x="5284129" y="2174818"/>
            <a:ext cx="1171636" cy="1171636"/>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A5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4" name="Google Shape;354;p25"/>
          <p:cNvSpPr/>
          <p:nvPr/>
        </p:nvSpPr>
        <p:spPr>
          <a:xfrm>
            <a:off x="5396478" y="2297322"/>
            <a:ext cx="946937" cy="94693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5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5" name="Google Shape;355;p25"/>
          <p:cNvSpPr/>
          <p:nvPr/>
        </p:nvSpPr>
        <p:spPr>
          <a:xfrm>
            <a:off x="4328335" y="3184027"/>
            <a:ext cx="1171636" cy="1171636"/>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A5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6" name="Google Shape;356;p25"/>
          <p:cNvSpPr/>
          <p:nvPr/>
        </p:nvSpPr>
        <p:spPr>
          <a:xfrm>
            <a:off x="4440684" y="3296376"/>
            <a:ext cx="946937" cy="94693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5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7" name="Google Shape;357;p25"/>
          <p:cNvSpPr/>
          <p:nvPr/>
        </p:nvSpPr>
        <p:spPr>
          <a:xfrm>
            <a:off x="5284129" y="4156013"/>
            <a:ext cx="1171636" cy="1171636"/>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A5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8" name="Google Shape;358;p25"/>
          <p:cNvSpPr/>
          <p:nvPr/>
        </p:nvSpPr>
        <p:spPr>
          <a:xfrm>
            <a:off x="5396478" y="4268362"/>
            <a:ext cx="946937" cy="94693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5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59" name="Google Shape;359;p25"/>
          <p:cNvSpPr/>
          <p:nvPr/>
        </p:nvSpPr>
        <p:spPr>
          <a:xfrm>
            <a:off x="4112494" y="5046319"/>
            <a:ext cx="1171636" cy="1171636"/>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A5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60" name="Google Shape;360;p25"/>
          <p:cNvSpPr/>
          <p:nvPr/>
        </p:nvSpPr>
        <p:spPr>
          <a:xfrm>
            <a:off x="4224842" y="5158667"/>
            <a:ext cx="946937" cy="946937"/>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5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61" name="Google Shape;361;p25"/>
          <p:cNvSpPr/>
          <p:nvPr/>
        </p:nvSpPr>
        <p:spPr>
          <a:xfrm>
            <a:off x="4380751" y="1541472"/>
            <a:ext cx="687904" cy="687904"/>
          </a:xfrm>
          <a:custGeom>
            <a:rect b="b" l="l" r="r" t="t"/>
            <a:pathLst>
              <a:path extrusionOk="0" h="733764" w="733764">
                <a:moveTo>
                  <a:pt x="0" y="0"/>
                </a:moveTo>
                <a:lnTo>
                  <a:pt x="733763" y="0"/>
                </a:lnTo>
                <a:lnTo>
                  <a:pt x="733763" y="733764"/>
                </a:lnTo>
                <a:lnTo>
                  <a:pt x="0" y="73376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62" name="Google Shape;362;p25"/>
          <p:cNvSpPr/>
          <p:nvPr/>
        </p:nvSpPr>
        <p:spPr>
          <a:xfrm>
            <a:off x="8570878" y="1960375"/>
            <a:ext cx="440949" cy="269530"/>
          </a:xfrm>
          <a:custGeom>
            <a:rect b="b" l="l" r="r" t="t"/>
            <a:pathLst>
              <a:path extrusionOk="0" h="287499" w="470346">
                <a:moveTo>
                  <a:pt x="0" y="0"/>
                </a:moveTo>
                <a:lnTo>
                  <a:pt x="470346" y="0"/>
                </a:lnTo>
                <a:lnTo>
                  <a:pt x="470346" y="287499"/>
                </a:lnTo>
                <a:lnTo>
                  <a:pt x="0" y="28749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63" name="Google Shape;363;p25"/>
          <p:cNvSpPr/>
          <p:nvPr/>
        </p:nvSpPr>
        <p:spPr>
          <a:xfrm>
            <a:off x="8291824" y="773396"/>
            <a:ext cx="413991" cy="242184"/>
          </a:xfrm>
          <a:custGeom>
            <a:rect b="b" l="l" r="r" t="t"/>
            <a:pathLst>
              <a:path extrusionOk="0" h="258330" w="441590">
                <a:moveTo>
                  <a:pt x="0" y="0"/>
                </a:moveTo>
                <a:lnTo>
                  <a:pt x="441590" y="0"/>
                </a:lnTo>
                <a:lnTo>
                  <a:pt x="441590" y="258330"/>
                </a:lnTo>
                <a:lnTo>
                  <a:pt x="0" y="25833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64" name="Google Shape;364;p25"/>
          <p:cNvSpPr/>
          <p:nvPr/>
        </p:nvSpPr>
        <p:spPr>
          <a:xfrm>
            <a:off x="8291824" y="3418134"/>
            <a:ext cx="511091" cy="298988"/>
          </a:xfrm>
          <a:custGeom>
            <a:rect b="b" l="l" r="r" t="t"/>
            <a:pathLst>
              <a:path extrusionOk="0" h="318921" w="545164">
                <a:moveTo>
                  <a:pt x="0" y="0"/>
                </a:moveTo>
                <a:lnTo>
                  <a:pt x="545165" y="0"/>
                </a:lnTo>
                <a:lnTo>
                  <a:pt x="545165" y="318921"/>
                </a:lnTo>
                <a:lnTo>
                  <a:pt x="0" y="31892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65" name="Google Shape;365;p25"/>
          <p:cNvSpPr txBox="1"/>
          <p:nvPr/>
        </p:nvSpPr>
        <p:spPr>
          <a:xfrm>
            <a:off x="6075946" y="3748528"/>
            <a:ext cx="4141659" cy="635110"/>
          </a:xfrm>
          <a:prstGeom prst="rect">
            <a:avLst/>
          </a:prstGeom>
          <a:noFill/>
          <a:ln>
            <a:noFill/>
          </a:ln>
        </p:spPr>
        <p:txBody>
          <a:bodyPr anchorCtr="0" anchor="t" bIns="0" lIns="0" spcFirstLastPara="1" rIns="0" wrap="square" tIns="0">
            <a:spAutoFit/>
          </a:bodyPr>
          <a:lstStyle/>
          <a:p>
            <a:pPr indent="0" lvl="0" marL="0" marR="0" rtl="0" algn="l">
              <a:lnSpc>
                <a:spcPct val="139950"/>
              </a:lnSpc>
              <a:spcBef>
                <a:spcPts val="0"/>
              </a:spcBef>
              <a:spcAft>
                <a:spcPts val="0"/>
              </a:spcAft>
              <a:buNone/>
            </a:pPr>
            <a:r>
              <a:rPr lang="en-US" sz="1219">
                <a:solidFill>
                  <a:srgbClr val="545454"/>
                </a:solidFill>
                <a:latin typeface="Inter"/>
                <a:ea typeface="Inter"/>
                <a:cs typeface="Inter"/>
                <a:sym typeface="Inter"/>
              </a:rPr>
              <a:t>Barriers to entry include regulatory challenges and high initial investment costs.</a:t>
            </a:r>
            <a:endParaRPr/>
          </a:p>
          <a:p>
            <a:pPr indent="0" lvl="0" marL="0" marR="0" rtl="0" algn="l">
              <a:lnSpc>
                <a:spcPct val="139950"/>
              </a:lnSpc>
              <a:spcBef>
                <a:spcPts val="0"/>
              </a:spcBef>
              <a:spcAft>
                <a:spcPts val="0"/>
              </a:spcAft>
              <a:buNone/>
            </a:pPr>
            <a:r>
              <a:t/>
            </a:r>
            <a:endParaRPr sz="1219">
              <a:solidFill>
                <a:srgbClr val="545454"/>
              </a:solidFill>
              <a:latin typeface="Inter"/>
              <a:ea typeface="Inter"/>
              <a:cs typeface="Inter"/>
              <a:sym typeface="Inter"/>
            </a:endParaRPr>
          </a:p>
        </p:txBody>
      </p:sp>
      <p:sp>
        <p:nvSpPr>
          <p:cNvPr id="366" name="Google Shape;366;p25"/>
          <p:cNvSpPr txBox="1"/>
          <p:nvPr/>
        </p:nvSpPr>
        <p:spPr>
          <a:xfrm>
            <a:off x="6482022" y="4678180"/>
            <a:ext cx="3619605" cy="853119"/>
          </a:xfrm>
          <a:prstGeom prst="rect">
            <a:avLst/>
          </a:prstGeom>
          <a:noFill/>
          <a:ln>
            <a:noFill/>
          </a:ln>
        </p:spPr>
        <p:txBody>
          <a:bodyPr anchorCtr="0" anchor="t" bIns="0" lIns="0" spcFirstLastPara="1" rIns="0" wrap="square" tIns="0">
            <a:spAutoFit/>
          </a:bodyPr>
          <a:lstStyle/>
          <a:p>
            <a:pPr indent="0" lvl="0" marL="0" marR="0" rtl="0" algn="l">
              <a:lnSpc>
                <a:spcPct val="139950"/>
              </a:lnSpc>
              <a:spcBef>
                <a:spcPts val="0"/>
              </a:spcBef>
              <a:spcAft>
                <a:spcPts val="0"/>
              </a:spcAft>
              <a:buNone/>
            </a:pPr>
            <a:r>
              <a:rPr lang="en-US" sz="1219">
                <a:solidFill>
                  <a:srgbClr val="545454"/>
                </a:solidFill>
                <a:latin typeface="Inter"/>
                <a:ea typeface="Inter"/>
                <a:cs typeface="Inter"/>
                <a:sym typeface="Inter"/>
              </a:rPr>
              <a:t>Multiple suppliers for bikes and maintenance services. However, any significant changes in fuel prices or vehicle maintenance costs could impact operational expenses.</a:t>
            </a:r>
            <a:endParaRPr/>
          </a:p>
        </p:txBody>
      </p:sp>
      <p:sp>
        <p:nvSpPr>
          <p:cNvPr id="367" name="Google Shape;367;p25"/>
          <p:cNvSpPr txBox="1"/>
          <p:nvPr/>
        </p:nvSpPr>
        <p:spPr>
          <a:xfrm>
            <a:off x="6455764" y="4335375"/>
            <a:ext cx="3495246" cy="587853"/>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1687">
                <a:solidFill>
                  <a:srgbClr val="FBB812"/>
                </a:solidFill>
                <a:latin typeface="Inter"/>
                <a:ea typeface="Inter"/>
                <a:cs typeface="Inter"/>
                <a:sym typeface="Inter"/>
              </a:rPr>
              <a:t>Bargaining Power of Suppliers</a:t>
            </a:r>
            <a:endParaRPr/>
          </a:p>
          <a:p>
            <a:pPr indent="0" lvl="0" marL="0" marR="0" rtl="0" algn="l">
              <a:lnSpc>
                <a:spcPct val="140011"/>
              </a:lnSpc>
              <a:spcBef>
                <a:spcPts val="0"/>
              </a:spcBef>
              <a:spcAft>
                <a:spcPts val="0"/>
              </a:spcAft>
              <a:buNone/>
            </a:pPr>
            <a:r>
              <a:t/>
            </a:r>
            <a:endParaRPr b="1" sz="1687">
              <a:solidFill>
                <a:srgbClr val="FBB812"/>
              </a:solidFill>
              <a:latin typeface="Inter"/>
              <a:ea typeface="Inter"/>
              <a:cs typeface="Inter"/>
              <a:sym typeface="Inter"/>
            </a:endParaRPr>
          </a:p>
        </p:txBody>
      </p:sp>
      <p:sp>
        <p:nvSpPr>
          <p:cNvPr id="368" name="Google Shape;368;p25"/>
          <p:cNvSpPr txBox="1"/>
          <p:nvPr/>
        </p:nvSpPr>
        <p:spPr>
          <a:xfrm>
            <a:off x="5580874" y="5927038"/>
            <a:ext cx="5131802" cy="635110"/>
          </a:xfrm>
          <a:prstGeom prst="rect">
            <a:avLst/>
          </a:prstGeom>
          <a:noFill/>
          <a:ln>
            <a:noFill/>
          </a:ln>
        </p:spPr>
        <p:txBody>
          <a:bodyPr anchorCtr="0" anchor="t" bIns="0" lIns="0" spcFirstLastPara="1" rIns="0" wrap="square" tIns="0">
            <a:spAutoFit/>
          </a:bodyPr>
          <a:lstStyle/>
          <a:p>
            <a:pPr indent="0" lvl="0" marL="0" marR="0" rtl="0" algn="l">
              <a:lnSpc>
                <a:spcPct val="139950"/>
              </a:lnSpc>
              <a:spcBef>
                <a:spcPts val="0"/>
              </a:spcBef>
              <a:spcAft>
                <a:spcPts val="0"/>
              </a:spcAft>
              <a:buNone/>
            </a:pPr>
            <a:r>
              <a:rPr lang="en-US" sz="1219">
                <a:solidFill>
                  <a:srgbClr val="545454"/>
                </a:solidFill>
                <a:latin typeface="Inter"/>
                <a:ea typeface="Inter"/>
                <a:cs typeface="Inter"/>
                <a:sym typeface="Inter"/>
              </a:rPr>
              <a:t>Presence of multiple strong competitors like Ola, Uber, and local services</a:t>
            </a:r>
            <a:endParaRPr/>
          </a:p>
          <a:p>
            <a:pPr indent="0" lvl="0" marL="0" marR="0" rtl="0" algn="l">
              <a:lnSpc>
                <a:spcPct val="139950"/>
              </a:lnSpc>
              <a:spcBef>
                <a:spcPts val="0"/>
              </a:spcBef>
              <a:spcAft>
                <a:spcPts val="0"/>
              </a:spcAft>
              <a:buNone/>
            </a:pPr>
            <a:r>
              <a:rPr lang="en-US" sz="1219">
                <a:solidFill>
                  <a:srgbClr val="545454"/>
                </a:solidFill>
                <a:latin typeface="Inter"/>
                <a:ea typeface="Inter"/>
                <a:cs typeface="Inter"/>
                <a:sym typeface="Inter"/>
              </a:rPr>
              <a:t>Companies are competing on price, service quality, safety, and technological innovation</a:t>
            </a:r>
            <a:endParaRPr/>
          </a:p>
        </p:txBody>
      </p:sp>
      <p:sp>
        <p:nvSpPr>
          <p:cNvPr id="369" name="Google Shape;369;p25"/>
          <p:cNvSpPr txBox="1"/>
          <p:nvPr/>
        </p:nvSpPr>
        <p:spPr>
          <a:xfrm>
            <a:off x="5525481" y="5658512"/>
            <a:ext cx="2309383" cy="587853"/>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1687">
                <a:solidFill>
                  <a:srgbClr val="E3001B"/>
                </a:solidFill>
                <a:latin typeface="Inter"/>
                <a:ea typeface="Inter"/>
                <a:cs typeface="Inter"/>
                <a:sym typeface="Inter"/>
              </a:rPr>
              <a:t>Competitive Rivalry </a:t>
            </a:r>
            <a:endParaRPr/>
          </a:p>
          <a:p>
            <a:pPr indent="0" lvl="0" marL="0" marR="0" rtl="0" algn="l">
              <a:lnSpc>
                <a:spcPct val="140011"/>
              </a:lnSpc>
              <a:spcBef>
                <a:spcPts val="0"/>
              </a:spcBef>
              <a:spcAft>
                <a:spcPts val="0"/>
              </a:spcAft>
              <a:buNone/>
            </a:pPr>
            <a:r>
              <a:t/>
            </a:r>
            <a:endParaRPr b="1" sz="1687">
              <a:solidFill>
                <a:srgbClr val="E3001B"/>
              </a:solidFill>
              <a:latin typeface="Inter"/>
              <a:ea typeface="Inter"/>
              <a:cs typeface="Inter"/>
              <a:sym typeface="Inter"/>
            </a:endParaRPr>
          </a:p>
        </p:txBody>
      </p:sp>
      <p:sp>
        <p:nvSpPr>
          <p:cNvPr id="370" name="Google Shape;370;p25"/>
          <p:cNvSpPr/>
          <p:nvPr/>
        </p:nvSpPr>
        <p:spPr>
          <a:xfrm>
            <a:off x="9481849" y="4319353"/>
            <a:ext cx="440949" cy="269530"/>
          </a:xfrm>
          <a:custGeom>
            <a:rect b="b" l="l" r="r" t="t"/>
            <a:pathLst>
              <a:path extrusionOk="0" h="287499" w="470346">
                <a:moveTo>
                  <a:pt x="0" y="0"/>
                </a:moveTo>
                <a:lnTo>
                  <a:pt x="470346" y="0"/>
                </a:lnTo>
                <a:lnTo>
                  <a:pt x="470346" y="287499"/>
                </a:lnTo>
                <a:lnTo>
                  <a:pt x="0" y="28749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71" name="Google Shape;371;p25"/>
          <p:cNvSpPr/>
          <p:nvPr/>
        </p:nvSpPr>
        <p:spPr>
          <a:xfrm>
            <a:off x="7789396" y="5571562"/>
            <a:ext cx="413991" cy="242184"/>
          </a:xfrm>
          <a:custGeom>
            <a:rect b="b" l="l" r="r" t="t"/>
            <a:pathLst>
              <a:path extrusionOk="0" h="258330" w="441590">
                <a:moveTo>
                  <a:pt x="0" y="0"/>
                </a:moveTo>
                <a:lnTo>
                  <a:pt x="441590" y="0"/>
                </a:lnTo>
                <a:lnTo>
                  <a:pt x="441590" y="258330"/>
                </a:lnTo>
                <a:lnTo>
                  <a:pt x="0" y="25833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72" name="Google Shape;372;p25"/>
          <p:cNvSpPr/>
          <p:nvPr/>
        </p:nvSpPr>
        <p:spPr>
          <a:xfrm>
            <a:off x="5525481" y="2539145"/>
            <a:ext cx="604116" cy="492354"/>
          </a:xfrm>
          <a:custGeom>
            <a:rect b="b" l="l" r="r" t="t"/>
            <a:pathLst>
              <a:path extrusionOk="0" h="525178" w="644390">
                <a:moveTo>
                  <a:pt x="0" y="0"/>
                </a:moveTo>
                <a:lnTo>
                  <a:pt x="644390" y="0"/>
                </a:lnTo>
                <a:lnTo>
                  <a:pt x="644390" y="525178"/>
                </a:lnTo>
                <a:lnTo>
                  <a:pt x="0" y="525178"/>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73" name="Google Shape;373;p25"/>
          <p:cNvSpPr/>
          <p:nvPr/>
        </p:nvSpPr>
        <p:spPr>
          <a:xfrm>
            <a:off x="4620060" y="3461693"/>
            <a:ext cx="616303" cy="616303"/>
          </a:xfrm>
          <a:custGeom>
            <a:rect b="b" l="l" r="r" t="t"/>
            <a:pathLst>
              <a:path extrusionOk="0" h="657390" w="657390">
                <a:moveTo>
                  <a:pt x="0" y="0"/>
                </a:moveTo>
                <a:lnTo>
                  <a:pt x="657390" y="0"/>
                </a:lnTo>
                <a:lnTo>
                  <a:pt x="657390" y="657390"/>
                </a:lnTo>
                <a:lnTo>
                  <a:pt x="0" y="657390"/>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74" name="Google Shape;374;p25"/>
          <p:cNvSpPr/>
          <p:nvPr/>
        </p:nvSpPr>
        <p:spPr>
          <a:xfrm>
            <a:off x="5525481" y="4522704"/>
            <a:ext cx="735015" cy="438253"/>
          </a:xfrm>
          <a:custGeom>
            <a:rect b="b" l="l" r="r" t="t"/>
            <a:pathLst>
              <a:path extrusionOk="0" h="467470" w="784016">
                <a:moveTo>
                  <a:pt x="0" y="0"/>
                </a:moveTo>
                <a:lnTo>
                  <a:pt x="784016" y="0"/>
                </a:lnTo>
                <a:lnTo>
                  <a:pt x="784016" y="467470"/>
                </a:lnTo>
                <a:lnTo>
                  <a:pt x="0" y="467470"/>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75" name="Google Shape;375;p25"/>
          <p:cNvSpPr/>
          <p:nvPr/>
        </p:nvSpPr>
        <p:spPr>
          <a:xfrm>
            <a:off x="4388422" y="5339506"/>
            <a:ext cx="672563" cy="581768"/>
          </a:xfrm>
          <a:custGeom>
            <a:rect b="b" l="l" r="r" t="t"/>
            <a:pathLst>
              <a:path extrusionOk="0" h="620552" w="717401">
                <a:moveTo>
                  <a:pt x="0" y="0"/>
                </a:moveTo>
                <a:lnTo>
                  <a:pt x="717401" y="0"/>
                </a:lnTo>
                <a:lnTo>
                  <a:pt x="717401" y="620552"/>
                </a:lnTo>
                <a:lnTo>
                  <a:pt x="0" y="620552"/>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chemeClr val="dk1"/>
              </a:solidFill>
              <a:latin typeface="Geo"/>
              <a:ea typeface="Geo"/>
              <a:cs typeface="Geo"/>
              <a:sym typeface="Geo"/>
            </a:endParaRPr>
          </a:p>
        </p:txBody>
      </p:sp>
      <p:sp>
        <p:nvSpPr>
          <p:cNvPr id="376" name="Google Shape;376;p25"/>
          <p:cNvSpPr txBox="1"/>
          <p:nvPr/>
        </p:nvSpPr>
        <p:spPr>
          <a:xfrm>
            <a:off x="5171779" y="1136655"/>
            <a:ext cx="5285098" cy="634084"/>
          </a:xfrm>
          <a:prstGeom prst="rect">
            <a:avLst/>
          </a:prstGeom>
          <a:noFill/>
          <a:ln>
            <a:noFill/>
          </a:ln>
        </p:spPr>
        <p:txBody>
          <a:bodyPr anchorCtr="0" anchor="t" bIns="0" lIns="0" spcFirstLastPara="1" rIns="0" wrap="square" tIns="0">
            <a:spAutoFit/>
          </a:bodyPr>
          <a:lstStyle/>
          <a:p>
            <a:pPr indent="0" lvl="0" marL="0" marR="0" rtl="0" algn="l">
              <a:lnSpc>
                <a:spcPct val="140033"/>
              </a:lnSpc>
              <a:spcBef>
                <a:spcPts val="0"/>
              </a:spcBef>
              <a:spcAft>
                <a:spcPts val="0"/>
              </a:spcAft>
              <a:buNone/>
            </a:pPr>
            <a:r>
              <a:rPr lang="en-US" sz="1184">
                <a:solidFill>
                  <a:srgbClr val="545454"/>
                </a:solidFill>
                <a:latin typeface="Inter"/>
                <a:ea typeface="Inter"/>
                <a:cs typeface="Inter"/>
                <a:sym typeface="Inter"/>
              </a:rPr>
              <a:t>Customers have multiple options to choose from</a:t>
            </a:r>
            <a:endParaRPr/>
          </a:p>
          <a:p>
            <a:pPr indent="0" lvl="0" marL="0" marR="0" rtl="0" algn="l">
              <a:lnSpc>
                <a:spcPct val="140033"/>
              </a:lnSpc>
              <a:spcBef>
                <a:spcPts val="0"/>
              </a:spcBef>
              <a:spcAft>
                <a:spcPts val="0"/>
              </a:spcAft>
              <a:buNone/>
            </a:pPr>
            <a:r>
              <a:rPr lang="en-US" sz="1184">
                <a:solidFill>
                  <a:srgbClr val="545454"/>
                </a:solidFill>
                <a:latin typeface="Inter"/>
                <a:ea typeface="Inter"/>
                <a:cs typeface="Inter"/>
                <a:sym typeface="Inter"/>
              </a:rPr>
              <a:t>Price sensitivity is a major factor, which prompts users to try other apps</a:t>
            </a:r>
            <a:endParaRPr/>
          </a:p>
          <a:p>
            <a:pPr indent="0" lvl="0" marL="0" marR="0" rtl="0" algn="l">
              <a:lnSpc>
                <a:spcPct val="140033"/>
              </a:lnSpc>
              <a:spcBef>
                <a:spcPts val="0"/>
              </a:spcBef>
              <a:spcAft>
                <a:spcPts val="0"/>
              </a:spcAft>
              <a:buNone/>
            </a:pPr>
            <a:r>
              <a:t/>
            </a:r>
            <a:endParaRPr sz="1184">
              <a:solidFill>
                <a:srgbClr val="545454"/>
              </a:solidFill>
              <a:latin typeface="Inter"/>
              <a:ea typeface="Inter"/>
              <a:cs typeface="Inter"/>
              <a:sym typeface="Inter"/>
            </a:endParaRPr>
          </a:p>
        </p:txBody>
      </p:sp>
      <p:sp>
        <p:nvSpPr>
          <p:cNvPr id="377" name="Google Shape;377;p25"/>
          <p:cNvSpPr txBox="1"/>
          <p:nvPr/>
        </p:nvSpPr>
        <p:spPr>
          <a:xfrm>
            <a:off x="5166554" y="806010"/>
            <a:ext cx="3590501" cy="587853"/>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1687">
                <a:solidFill>
                  <a:srgbClr val="E3001B"/>
                </a:solidFill>
                <a:latin typeface="Inter"/>
                <a:ea typeface="Inter"/>
                <a:cs typeface="Inter"/>
                <a:sym typeface="Inter"/>
              </a:rPr>
              <a:t>Bargaining Power of Customers</a:t>
            </a:r>
            <a:endParaRPr/>
          </a:p>
          <a:p>
            <a:pPr indent="0" lvl="0" marL="0" marR="0" rtl="0" algn="l">
              <a:lnSpc>
                <a:spcPct val="140011"/>
              </a:lnSpc>
              <a:spcBef>
                <a:spcPts val="0"/>
              </a:spcBef>
              <a:spcAft>
                <a:spcPts val="0"/>
              </a:spcAft>
              <a:buNone/>
            </a:pPr>
            <a:r>
              <a:t/>
            </a:r>
            <a:endParaRPr b="1" sz="1687">
              <a:solidFill>
                <a:srgbClr val="E3001B"/>
              </a:solidFill>
              <a:latin typeface="Inter"/>
              <a:ea typeface="Inter"/>
              <a:cs typeface="Inter"/>
              <a:sym typeface="Inter"/>
            </a:endParaRPr>
          </a:p>
        </p:txBody>
      </p:sp>
      <p:sp>
        <p:nvSpPr>
          <p:cNvPr id="378" name="Google Shape;378;p25"/>
          <p:cNvSpPr txBox="1"/>
          <p:nvPr/>
        </p:nvSpPr>
        <p:spPr>
          <a:xfrm>
            <a:off x="6672213" y="2332104"/>
            <a:ext cx="3545393" cy="635110"/>
          </a:xfrm>
          <a:prstGeom prst="rect">
            <a:avLst/>
          </a:prstGeom>
          <a:noFill/>
          <a:ln>
            <a:noFill/>
          </a:ln>
        </p:spPr>
        <p:txBody>
          <a:bodyPr anchorCtr="0" anchor="t" bIns="0" lIns="0" spcFirstLastPara="1" rIns="0" wrap="square" tIns="0">
            <a:spAutoFit/>
          </a:bodyPr>
          <a:lstStyle/>
          <a:p>
            <a:pPr indent="0" lvl="0" marL="0" marR="0" rtl="0" algn="l">
              <a:lnSpc>
                <a:spcPct val="139950"/>
              </a:lnSpc>
              <a:spcBef>
                <a:spcPts val="0"/>
              </a:spcBef>
              <a:spcAft>
                <a:spcPts val="0"/>
              </a:spcAft>
              <a:buNone/>
            </a:pPr>
            <a:r>
              <a:rPr lang="en-US" sz="1219">
                <a:solidFill>
                  <a:srgbClr val="545454"/>
                </a:solidFill>
                <a:latin typeface="Inter"/>
                <a:ea typeface="Inter"/>
                <a:cs typeface="Inter"/>
                <a:sym typeface="Inter"/>
              </a:rPr>
              <a:t>Alternative transports like cabs, autos, and public transport like metro a moderate threat.</a:t>
            </a:r>
            <a:endParaRPr/>
          </a:p>
          <a:p>
            <a:pPr indent="0" lvl="0" marL="0" marR="0" rtl="0" algn="l">
              <a:lnSpc>
                <a:spcPct val="139950"/>
              </a:lnSpc>
              <a:spcBef>
                <a:spcPts val="0"/>
              </a:spcBef>
              <a:spcAft>
                <a:spcPts val="0"/>
              </a:spcAft>
              <a:buNone/>
            </a:pPr>
            <a:r>
              <a:t/>
            </a:r>
            <a:endParaRPr sz="1219">
              <a:solidFill>
                <a:srgbClr val="545454"/>
              </a:solidFill>
              <a:latin typeface="Inter"/>
              <a:ea typeface="Inter"/>
              <a:cs typeface="Inter"/>
              <a:sym typeface="Inter"/>
            </a:endParaRPr>
          </a:p>
        </p:txBody>
      </p:sp>
      <p:sp>
        <p:nvSpPr>
          <p:cNvPr id="379" name="Google Shape;379;p25"/>
          <p:cNvSpPr txBox="1"/>
          <p:nvPr/>
        </p:nvSpPr>
        <p:spPr>
          <a:xfrm>
            <a:off x="6387358" y="1977663"/>
            <a:ext cx="2804075" cy="587853"/>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US" sz="1687">
                <a:solidFill>
                  <a:srgbClr val="FBB812"/>
                </a:solidFill>
                <a:latin typeface="Inter"/>
                <a:ea typeface="Inter"/>
                <a:cs typeface="Inter"/>
                <a:sym typeface="Inter"/>
              </a:rPr>
              <a:t>Threat of Substitutes</a:t>
            </a:r>
            <a:endParaRPr/>
          </a:p>
          <a:p>
            <a:pPr indent="0" lvl="0" marL="0" marR="0" rtl="0" algn="l">
              <a:lnSpc>
                <a:spcPct val="140011"/>
              </a:lnSpc>
              <a:spcBef>
                <a:spcPts val="0"/>
              </a:spcBef>
              <a:spcAft>
                <a:spcPts val="0"/>
              </a:spcAft>
              <a:buNone/>
            </a:pPr>
            <a:r>
              <a:t/>
            </a:r>
            <a:endParaRPr b="1" sz="1687">
              <a:solidFill>
                <a:srgbClr val="FBB812"/>
              </a:solidFill>
              <a:latin typeface="Inter"/>
              <a:ea typeface="Inter"/>
              <a:cs typeface="Inter"/>
              <a:sym typeface="Inter"/>
            </a:endParaRPr>
          </a:p>
        </p:txBody>
      </p:sp>
      <p:sp>
        <p:nvSpPr>
          <p:cNvPr id="380" name="Google Shape;380;p25"/>
          <p:cNvSpPr txBox="1"/>
          <p:nvPr/>
        </p:nvSpPr>
        <p:spPr>
          <a:xfrm>
            <a:off x="5931116" y="3442290"/>
            <a:ext cx="2481018" cy="58868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715">
                <a:solidFill>
                  <a:srgbClr val="40A528"/>
                </a:solidFill>
                <a:latin typeface="Inter"/>
                <a:ea typeface="Inter"/>
                <a:cs typeface="Inter"/>
                <a:sym typeface="Inter"/>
              </a:rPr>
              <a:t>Threat of New Entrants </a:t>
            </a:r>
            <a:endParaRPr/>
          </a:p>
          <a:p>
            <a:pPr indent="0" lvl="0" marL="0" marR="0" rtl="0" algn="l">
              <a:lnSpc>
                <a:spcPct val="140000"/>
              </a:lnSpc>
              <a:spcBef>
                <a:spcPts val="0"/>
              </a:spcBef>
              <a:spcAft>
                <a:spcPts val="0"/>
              </a:spcAft>
              <a:buNone/>
            </a:pPr>
            <a:r>
              <a:t/>
            </a:r>
            <a:endParaRPr b="1" sz="1715">
              <a:solidFill>
                <a:srgbClr val="40A528"/>
              </a:solidFill>
              <a:latin typeface="Inter"/>
              <a:ea typeface="Inter"/>
              <a:cs typeface="Inter"/>
              <a:sym typeface="Inter"/>
            </a:endParaRPr>
          </a:p>
        </p:txBody>
      </p:sp>
      <p:sp>
        <p:nvSpPr>
          <p:cNvPr id="381" name="Google Shape;381;p25"/>
          <p:cNvSpPr txBox="1"/>
          <p:nvPr/>
        </p:nvSpPr>
        <p:spPr>
          <a:xfrm>
            <a:off x="8846938" y="805435"/>
            <a:ext cx="392069" cy="199093"/>
          </a:xfrm>
          <a:prstGeom prst="rect">
            <a:avLst/>
          </a:prstGeom>
          <a:noFill/>
          <a:ln>
            <a:noFill/>
          </a:ln>
        </p:spPr>
        <p:txBody>
          <a:bodyPr anchorCtr="0" anchor="t" bIns="0" lIns="0" spcFirstLastPara="1" rIns="0" wrap="square" tIns="0">
            <a:spAutoFit/>
          </a:bodyPr>
          <a:lstStyle/>
          <a:p>
            <a:pPr indent="0" lvl="0" marL="0" marR="0" rtl="0" algn="ctr">
              <a:lnSpc>
                <a:spcPct val="139950"/>
              </a:lnSpc>
              <a:spcBef>
                <a:spcPts val="0"/>
              </a:spcBef>
              <a:spcAft>
                <a:spcPts val="0"/>
              </a:spcAft>
              <a:buNone/>
            </a:pPr>
            <a:r>
              <a:rPr b="1" lang="en-US" sz="1219">
                <a:solidFill>
                  <a:srgbClr val="E3001B"/>
                </a:solidFill>
                <a:latin typeface="Inter"/>
                <a:ea typeface="Inter"/>
                <a:cs typeface="Inter"/>
                <a:sym typeface="Inter"/>
              </a:rPr>
              <a:t>HIGH</a:t>
            </a:r>
            <a:endParaRPr/>
          </a:p>
        </p:txBody>
      </p:sp>
      <p:sp>
        <p:nvSpPr>
          <p:cNvPr id="382" name="Google Shape;382;p25"/>
          <p:cNvSpPr txBox="1"/>
          <p:nvPr/>
        </p:nvSpPr>
        <p:spPr>
          <a:xfrm>
            <a:off x="9079079" y="1958305"/>
            <a:ext cx="649635" cy="199093"/>
          </a:xfrm>
          <a:prstGeom prst="rect">
            <a:avLst/>
          </a:prstGeom>
          <a:noFill/>
          <a:ln>
            <a:noFill/>
          </a:ln>
        </p:spPr>
        <p:txBody>
          <a:bodyPr anchorCtr="0" anchor="t" bIns="0" lIns="0" spcFirstLastPara="1" rIns="0" wrap="square" tIns="0">
            <a:spAutoFit/>
          </a:bodyPr>
          <a:lstStyle/>
          <a:p>
            <a:pPr indent="0" lvl="0" marL="0" marR="0" rtl="0" algn="ctr">
              <a:lnSpc>
                <a:spcPct val="139950"/>
              </a:lnSpc>
              <a:spcBef>
                <a:spcPts val="0"/>
              </a:spcBef>
              <a:spcAft>
                <a:spcPts val="0"/>
              </a:spcAft>
              <a:buNone/>
            </a:pPr>
            <a:r>
              <a:rPr b="1" lang="en-US" sz="1219">
                <a:solidFill>
                  <a:srgbClr val="FBB812"/>
                </a:solidFill>
                <a:latin typeface="Inter"/>
                <a:ea typeface="Inter"/>
                <a:cs typeface="Inter"/>
                <a:sym typeface="Inter"/>
              </a:rPr>
              <a:t>MEDIUM</a:t>
            </a:r>
            <a:endParaRPr/>
          </a:p>
        </p:txBody>
      </p:sp>
      <p:sp>
        <p:nvSpPr>
          <p:cNvPr id="383" name="Google Shape;383;p25"/>
          <p:cNvSpPr txBox="1"/>
          <p:nvPr/>
        </p:nvSpPr>
        <p:spPr>
          <a:xfrm>
            <a:off x="8914189" y="3473376"/>
            <a:ext cx="369187" cy="199093"/>
          </a:xfrm>
          <a:prstGeom prst="rect">
            <a:avLst/>
          </a:prstGeom>
          <a:noFill/>
          <a:ln>
            <a:noFill/>
          </a:ln>
        </p:spPr>
        <p:txBody>
          <a:bodyPr anchorCtr="0" anchor="t" bIns="0" lIns="0" spcFirstLastPara="1" rIns="0" wrap="square" tIns="0">
            <a:spAutoFit/>
          </a:bodyPr>
          <a:lstStyle/>
          <a:p>
            <a:pPr indent="0" lvl="0" marL="0" marR="0" rtl="0" algn="ctr">
              <a:lnSpc>
                <a:spcPct val="139950"/>
              </a:lnSpc>
              <a:spcBef>
                <a:spcPts val="0"/>
              </a:spcBef>
              <a:spcAft>
                <a:spcPts val="0"/>
              </a:spcAft>
              <a:buNone/>
            </a:pPr>
            <a:r>
              <a:rPr b="1" lang="en-US" sz="1219">
                <a:solidFill>
                  <a:srgbClr val="40A528"/>
                </a:solidFill>
                <a:latin typeface="Inter"/>
                <a:ea typeface="Inter"/>
                <a:cs typeface="Inter"/>
                <a:sym typeface="Inter"/>
              </a:rPr>
              <a:t>LOW</a:t>
            </a:r>
            <a:endParaRPr/>
          </a:p>
        </p:txBody>
      </p:sp>
      <p:sp>
        <p:nvSpPr>
          <p:cNvPr id="384" name="Google Shape;384;p25"/>
          <p:cNvSpPr txBox="1"/>
          <p:nvPr/>
        </p:nvSpPr>
        <p:spPr>
          <a:xfrm>
            <a:off x="9992755" y="4369809"/>
            <a:ext cx="649635" cy="199093"/>
          </a:xfrm>
          <a:prstGeom prst="rect">
            <a:avLst/>
          </a:prstGeom>
          <a:noFill/>
          <a:ln>
            <a:noFill/>
          </a:ln>
        </p:spPr>
        <p:txBody>
          <a:bodyPr anchorCtr="0" anchor="t" bIns="0" lIns="0" spcFirstLastPara="1" rIns="0" wrap="square" tIns="0">
            <a:spAutoFit/>
          </a:bodyPr>
          <a:lstStyle/>
          <a:p>
            <a:pPr indent="0" lvl="0" marL="0" marR="0" rtl="0" algn="ctr">
              <a:lnSpc>
                <a:spcPct val="139950"/>
              </a:lnSpc>
              <a:spcBef>
                <a:spcPts val="0"/>
              </a:spcBef>
              <a:spcAft>
                <a:spcPts val="0"/>
              </a:spcAft>
              <a:buNone/>
            </a:pPr>
            <a:r>
              <a:rPr b="1" lang="en-US" sz="1219">
                <a:solidFill>
                  <a:srgbClr val="FBB812"/>
                </a:solidFill>
                <a:latin typeface="Inter"/>
                <a:ea typeface="Inter"/>
                <a:cs typeface="Inter"/>
                <a:sym typeface="Inter"/>
              </a:rPr>
              <a:t>MEDIUM</a:t>
            </a:r>
            <a:endParaRPr/>
          </a:p>
        </p:txBody>
      </p:sp>
      <p:sp>
        <p:nvSpPr>
          <p:cNvPr id="385" name="Google Shape;385;p25"/>
          <p:cNvSpPr txBox="1"/>
          <p:nvPr/>
        </p:nvSpPr>
        <p:spPr>
          <a:xfrm>
            <a:off x="8302786" y="5603601"/>
            <a:ext cx="392069" cy="199093"/>
          </a:xfrm>
          <a:prstGeom prst="rect">
            <a:avLst/>
          </a:prstGeom>
          <a:noFill/>
          <a:ln>
            <a:noFill/>
          </a:ln>
        </p:spPr>
        <p:txBody>
          <a:bodyPr anchorCtr="0" anchor="t" bIns="0" lIns="0" spcFirstLastPara="1" rIns="0" wrap="square" tIns="0">
            <a:spAutoFit/>
          </a:bodyPr>
          <a:lstStyle/>
          <a:p>
            <a:pPr indent="0" lvl="0" marL="0" marR="0" rtl="0" algn="ctr">
              <a:lnSpc>
                <a:spcPct val="139950"/>
              </a:lnSpc>
              <a:spcBef>
                <a:spcPts val="0"/>
              </a:spcBef>
              <a:spcAft>
                <a:spcPts val="0"/>
              </a:spcAft>
              <a:buNone/>
            </a:pPr>
            <a:r>
              <a:rPr b="1" lang="en-US" sz="1219">
                <a:solidFill>
                  <a:srgbClr val="E3001B"/>
                </a:solidFill>
                <a:latin typeface="Inter"/>
                <a:ea typeface="Inter"/>
                <a:cs typeface="Inter"/>
                <a:sym typeface="Inter"/>
              </a:rPr>
              <a:t>HIGH</a:t>
            </a:r>
            <a:endParaRPr/>
          </a:p>
        </p:txBody>
      </p:sp>
      <p:sp>
        <p:nvSpPr>
          <p:cNvPr id="386" name="Google Shape;386;p25"/>
          <p:cNvSpPr txBox="1"/>
          <p:nvPr/>
        </p:nvSpPr>
        <p:spPr>
          <a:xfrm>
            <a:off x="0" y="0"/>
            <a:ext cx="12192000" cy="661045"/>
          </a:xfrm>
          <a:prstGeom prst="rect">
            <a:avLst/>
          </a:prstGeom>
          <a:solidFill>
            <a:srgbClr val="FFC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C0C0C"/>
              </a:buClr>
              <a:buSzPts val="4400"/>
              <a:buFont typeface="Georgia"/>
              <a:buNone/>
            </a:pPr>
            <a:r>
              <a:rPr lang="en-US" sz="4400">
                <a:solidFill>
                  <a:srgbClr val="0C0C0C"/>
                </a:solidFill>
                <a:latin typeface="Georgia"/>
                <a:ea typeface="Georgia"/>
                <a:cs typeface="Georgia"/>
                <a:sym typeface="Georgia"/>
              </a:rPr>
              <a:t>Porter Five Forces Analysis</a:t>
            </a:r>
            <a:r>
              <a:rPr lang="en-US" sz="4400">
                <a:solidFill>
                  <a:schemeClr val="dk1"/>
                </a:solidFill>
                <a:latin typeface="Georgia"/>
                <a:ea typeface="Georgia"/>
                <a:cs typeface="Georgia"/>
                <a:sym typeface="Georgia"/>
              </a:rPr>
              <a:t> </a:t>
            </a:r>
            <a:endParaRPr sz="4400">
              <a:solidFill>
                <a:schemeClr val="dk1"/>
              </a:solidFill>
              <a:latin typeface="ADLaM Display"/>
              <a:ea typeface="ADLaM Display"/>
              <a:cs typeface="ADLaM Display"/>
              <a:sym typeface="ADLaM Displ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aphicFrame>
        <p:nvGraphicFramePr>
          <p:cNvPr id="391" name="Google Shape;391;p26"/>
          <p:cNvGraphicFramePr/>
          <p:nvPr/>
        </p:nvGraphicFramePr>
        <p:xfrm>
          <a:off x="1" y="487181"/>
          <a:ext cx="3000000" cy="3000000"/>
        </p:xfrm>
        <a:graphic>
          <a:graphicData uri="http://schemas.openxmlformats.org/drawingml/2006/table">
            <a:tbl>
              <a:tblPr bandCol="1" bandRow="1" firstRow="1">
                <a:noFill/>
                <a:tableStyleId>{E73E3090-88B2-4E8C-A6E2-E0969ED46B26}</a:tableStyleId>
              </a:tblPr>
              <a:tblGrid>
                <a:gridCol w="2726525"/>
                <a:gridCol w="3095625"/>
                <a:gridCol w="2726525"/>
                <a:gridCol w="3643300"/>
              </a:tblGrid>
              <a:tr h="240675">
                <a:tc>
                  <a:txBody>
                    <a:bodyPr/>
                    <a:lstStyle/>
                    <a:p>
                      <a:pPr indent="0" lvl="0" marL="0" marR="0" rtl="0" algn="l">
                        <a:spcBef>
                          <a:spcPts val="0"/>
                        </a:spcBef>
                        <a:spcAft>
                          <a:spcPts val="0"/>
                        </a:spcAft>
                        <a:buNone/>
                      </a:pPr>
                      <a:r>
                        <a:rPr b="1" lang="en-US" sz="1400"/>
                        <a:t>Job</a:t>
                      </a:r>
                      <a:endParaRPr/>
                    </a:p>
                  </a:txBody>
                  <a:tcPr marT="7675" marB="7675" marR="11500" marL="11500" anchor="b"/>
                </a:tc>
                <a:tc>
                  <a:txBody>
                    <a:bodyPr/>
                    <a:lstStyle/>
                    <a:p>
                      <a:pPr indent="0" lvl="0" marL="0" marR="0" rtl="0" algn="l">
                        <a:spcBef>
                          <a:spcPts val="0"/>
                        </a:spcBef>
                        <a:spcAft>
                          <a:spcPts val="0"/>
                        </a:spcAft>
                        <a:buNone/>
                      </a:pPr>
                      <a:r>
                        <a:rPr b="1" lang="en-US" sz="1400"/>
                        <a:t>When</a:t>
                      </a:r>
                      <a:endParaRPr/>
                    </a:p>
                  </a:txBody>
                  <a:tcPr marT="7675" marB="7675" marR="11500" marL="11500" anchor="b"/>
                </a:tc>
                <a:tc>
                  <a:txBody>
                    <a:bodyPr/>
                    <a:lstStyle/>
                    <a:p>
                      <a:pPr indent="0" lvl="0" marL="0" marR="0" rtl="0" algn="l">
                        <a:spcBef>
                          <a:spcPts val="0"/>
                        </a:spcBef>
                        <a:spcAft>
                          <a:spcPts val="0"/>
                        </a:spcAft>
                        <a:buNone/>
                      </a:pPr>
                      <a:r>
                        <a:rPr b="1" lang="en-US" sz="1400"/>
                        <a:t>Goal</a:t>
                      </a:r>
                      <a:endParaRPr/>
                    </a:p>
                  </a:txBody>
                  <a:tcPr marT="7675" marB="7675" marR="11500" marL="11500" anchor="b"/>
                </a:tc>
                <a:tc>
                  <a:txBody>
                    <a:bodyPr/>
                    <a:lstStyle/>
                    <a:p>
                      <a:pPr indent="0" lvl="0" marL="0" marR="0" rtl="0" algn="l">
                        <a:spcBef>
                          <a:spcPts val="0"/>
                        </a:spcBef>
                        <a:spcAft>
                          <a:spcPts val="0"/>
                        </a:spcAft>
                        <a:buNone/>
                      </a:pPr>
                      <a:r>
                        <a:rPr b="1" lang="en-US" sz="1400"/>
                        <a:t>Outcome</a:t>
                      </a:r>
                      <a:endParaRPr/>
                    </a:p>
                  </a:txBody>
                  <a:tcPr marT="7675" marB="7675" marR="11500" marL="11500" anchor="b"/>
                </a:tc>
              </a:tr>
              <a:tr h="689750">
                <a:tc>
                  <a:txBody>
                    <a:bodyPr/>
                    <a:lstStyle/>
                    <a:p>
                      <a:pPr indent="0" lvl="0" marL="0" marR="0" rtl="0" algn="l">
                        <a:spcBef>
                          <a:spcPts val="0"/>
                        </a:spcBef>
                        <a:spcAft>
                          <a:spcPts val="0"/>
                        </a:spcAft>
                        <a:buNone/>
                      </a:pPr>
                      <a:r>
                        <a:rPr lang="en-US" sz="1400"/>
                        <a:t>Book a Quick Ride</a:t>
                      </a:r>
                      <a:endParaRPr/>
                    </a:p>
                  </a:txBody>
                  <a:tcPr marT="7675" marB="7675" marR="11500" marL="11500"/>
                </a:tc>
                <a:tc>
                  <a:txBody>
                    <a:bodyPr/>
                    <a:lstStyle/>
                    <a:p>
                      <a:pPr indent="0" lvl="0" marL="0" marR="0" rtl="0" algn="l">
                        <a:spcBef>
                          <a:spcPts val="0"/>
                        </a:spcBef>
                        <a:spcAft>
                          <a:spcPts val="0"/>
                        </a:spcAft>
                        <a:buNone/>
                      </a:pPr>
                      <a:r>
                        <a:rPr lang="en-US" sz="1400"/>
                        <a:t>Users need to reach their destination swiftly, especially during peak hours or in emergencies.</a:t>
                      </a:r>
                      <a:endParaRPr/>
                    </a:p>
                  </a:txBody>
                  <a:tcPr marT="7675" marB="7675" marR="11500" marL="11500"/>
                </a:tc>
                <a:tc>
                  <a:txBody>
                    <a:bodyPr/>
                    <a:lstStyle/>
                    <a:p>
                      <a:pPr indent="0" lvl="0" marL="0" marR="0" rtl="0" algn="l">
                        <a:spcBef>
                          <a:spcPts val="0"/>
                        </a:spcBef>
                        <a:spcAft>
                          <a:spcPts val="0"/>
                        </a:spcAft>
                        <a:buNone/>
                      </a:pPr>
                      <a:r>
                        <a:rPr lang="en-US" sz="1400"/>
                        <a:t>To book a ride instantly and reduce travel time through congested areas.</a:t>
                      </a:r>
                      <a:endParaRPr/>
                    </a:p>
                  </a:txBody>
                  <a:tcPr marT="7675" marB="7675" marR="11500" marL="11500"/>
                </a:tc>
                <a:tc>
                  <a:txBody>
                    <a:bodyPr/>
                    <a:lstStyle/>
                    <a:p>
                      <a:pPr indent="0" lvl="0" marL="0" marR="0" rtl="0" algn="l">
                        <a:spcBef>
                          <a:spcPts val="0"/>
                        </a:spcBef>
                        <a:spcAft>
                          <a:spcPts val="0"/>
                        </a:spcAft>
                        <a:buNone/>
                      </a:pPr>
                      <a:r>
                        <a:rPr lang="en-US" sz="1400"/>
                        <a:t>Arrive at the destination on time, minimizing delays and stress.</a:t>
                      </a:r>
                      <a:endParaRPr/>
                    </a:p>
                  </a:txBody>
                  <a:tcPr marT="7675" marB="7675" marR="11500" marL="11500"/>
                </a:tc>
              </a:tr>
              <a:tr h="798550">
                <a:tc>
                  <a:txBody>
                    <a:bodyPr/>
                    <a:lstStyle/>
                    <a:p>
                      <a:pPr indent="0" lvl="0" marL="0" marR="0" rtl="0" algn="l">
                        <a:spcBef>
                          <a:spcPts val="0"/>
                        </a:spcBef>
                        <a:spcAft>
                          <a:spcPts val="0"/>
                        </a:spcAft>
                        <a:buNone/>
                      </a:pPr>
                      <a:r>
                        <a:rPr lang="en-US" sz="1400"/>
                        <a:t>Ensure Safety During Rides</a:t>
                      </a:r>
                      <a:endParaRPr/>
                    </a:p>
                  </a:txBody>
                  <a:tcPr marT="7675" marB="7675" marR="11500" marL="11500"/>
                </a:tc>
                <a:tc>
                  <a:txBody>
                    <a:bodyPr/>
                    <a:lstStyle/>
                    <a:p>
                      <a:pPr indent="0" lvl="0" marL="0" marR="0" rtl="0" algn="l">
                        <a:spcBef>
                          <a:spcPts val="0"/>
                        </a:spcBef>
                        <a:spcAft>
                          <a:spcPts val="0"/>
                        </a:spcAft>
                        <a:buNone/>
                      </a:pPr>
                      <a:r>
                        <a:rPr lang="en-US" sz="1400"/>
                        <a:t>Users feel concerned about their safety, especially during late hours or when traveling alone.</a:t>
                      </a:r>
                      <a:endParaRPr/>
                    </a:p>
                  </a:txBody>
                  <a:tcPr marT="7675" marB="7675" marR="11500" marL="11500"/>
                </a:tc>
                <a:tc>
                  <a:txBody>
                    <a:bodyPr/>
                    <a:lstStyle/>
                    <a:p>
                      <a:pPr indent="0" lvl="0" marL="0" marR="0" rtl="0" algn="l">
                        <a:spcBef>
                          <a:spcPts val="0"/>
                        </a:spcBef>
                        <a:spcAft>
                          <a:spcPts val="0"/>
                        </a:spcAft>
                        <a:buNone/>
                      </a:pPr>
                      <a:r>
                        <a:rPr lang="en-US" sz="1400"/>
                        <a:t>To ride with a highly rated driver and track the ride in real-time.</a:t>
                      </a:r>
                      <a:endParaRPr/>
                    </a:p>
                  </a:txBody>
                  <a:tcPr marT="7675" marB="7675" marR="11500" marL="11500"/>
                </a:tc>
                <a:tc>
                  <a:txBody>
                    <a:bodyPr/>
                    <a:lstStyle/>
                    <a:p>
                      <a:pPr indent="0" lvl="0" marL="0" marR="0" rtl="0" algn="l">
                        <a:spcBef>
                          <a:spcPts val="0"/>
                        </a:spcBef>
                        <a:spcAft>
                          <a:spcPts val="0"/>
                        </a:spcAft>
                        <a:buNone/>
                      </a:pPr>
                      <a:r>
                        <a:rPr lang="en-US" sz="1400"/>
                        <a:t>Feel secure and confident throughout the journey, with peace of mind for themselves and their loved ones.</a:t>
                      </a:r>
                      <a:endParaRPr/>
                    </a:p>
                  </a:txBody>
                  <a:tcPr marT="7675" marB="7675" marR="11500" marL="11500"/>
                </a:tc>
              </a:tr>
              <a:tr h="643150">
                <a:tc>
                  <a:txBody>
                    <a:bodyPr/>
                    <a:lstStyle/>
                    <a:p>
                      <a:pPr indent="0" lvl="0" marL="0" marR="0" rtl="0" algn="l">
                        <a:spcBef>
                          <a:spcPts val="0"/>
                        </a:spcBef>
                        <a:spcAft>
                          <a:spcPts val="0"/>
                        </a:spcAft>
                        <a:buNone/>
                      </a:pPr>
                      <a:r>
                        <a:rPr lang="en-US" sz="1400"/>
                        <a:t>Schedule Rides in Advance</a:t>
                      </a:r>
                      <a:endParaRPr/>
                    </a:p>
                  </a:txBody>
                  <a:tcPr marT="7675" marB="7675" marR="11500" marL="11500"/>
                </a:tc>
                <a:tc>
                  <a:txBody>
                    <a:bodyPr/>
                    <a:lstStyle/>
                    <a:p>
                      <a:pPr indent="0" lvl="0" marL="0" marR="0" rtl="0" algn="l">
                        <a:spcBef>
                          <a:spcPts val="0"/>
                        </a:spcBef>
                        <a:spcAft>
                          <a:spcPts val="0"/>
                        </a:spcAft>
                        <a:buNone/>
                      </a:pPr>
                      <a:r>
                        <a:rPr lang="en-US" sz="1400"/>
                        <a:t>Users have a planned trip, like catching a flight or attending an important event.</a:t>
                      </a:r>
                      <a:endParaRPr/>
                    </a:p>
                  </a:txBody>
                  <a:tcPr marT="7675" marB="7675" marR="11500" marL="11500"/>
                </a:tc>
                <a:tc>
                  <a:txBody>
                    <a:bodyPr/>
                    <a:lstStyle/>
                    <a:p>
                      <a:pPr indent="0" lvl="0" marL="0" marR="0" rtl="0" algn="l">
                        <a:spcBef>
                          <a:spcPts val="0"/>
                        </a:spcBef>
                        <a:spcAft>
                          <a:spcPts val="0"/>
                        </a:spcAft>
                        <a:buNone/>
                      </a:pPr>
                      <a:r>
                        <a:rPr lang="en-US" sz="1400"/>
                        <a:t>To schedule a ride ahead of time and guarantee punctuality.</a:t>
                      </a:r>
                      <a:endParaRPr/>
                    </a:p>
                  </a:txBody>
                  <a:tcPr marT="7675" marB="7675" marR="11500" marL="11500"/>
                </a:tc>
                <a:tc>
                  <a:txBody>
                    <a:bodyPr/>
                    <a:lstStyle/>
                    <a:p>
                      <a:pPr indent="0" lvl="0" marL="0" marR="0" rtl="0" algn="l">
                        <a:spcBef>
                          <a:spcPts val="0"/>
                        </a:spcBef>
                        <a:spcAft>
                          <a:spcPts val="0"/>
                        </a:spcAft>
                        <a:buNone/>
                      </a:pPr>
                      <a:r>
                        <a:rPr lang="en-US" sz="1400"/>
                        <a:t>Arrive punctually at the destination, with the assurance that the ride is confirmed and reliable.</a:t>
                      </a:r>
                      <a:endParaRPr/>
                    </a:p>
                  </a:txBody>
                  <a:tcPr marT="7675" marB="7675" marR="11500" marL="11500"/>
                </a:tc>
              </a:tr>
              <a:tr h="689750">
                <a:tc>
                  <a:txBody>
                    <a:bodyPr/>
                    <a:lstStyle/>
                    <a:p>
                      <a:pPr indent="0" lvl="0" marL="0" marR="0" rtl="0" algn="l">
                        <a:spcBef>
                          <a:spcPts val="0"/>
                        </a:spcBef>
                        <a:spcAft>
                          <a:spcPts val="0"/>
                        </a:spcAft>
                        <a:buNone/>
                      </a:pPr>
                      <a:r>
                        <a:rPr lang="en-US" sz="1400"/>
                        <a:t>Avoid High Costs During Peak Times</a:t>
                      </a:r>
                      <a:endParaRPr/>
                    </a:p>
                  </a:txBody>
                  <a:tcPr marT="7675" marB="7675" marR="11500" marL="11500"/>
                </a:tc>
                <a:tc>
                  <a:txBody>
                    <a:bodyPr/>
                    <a:lstStyle/>
                    <a:p>
                      <a:pPr indent="0" lvl="0" marL="0" marR="0" rtl="0" algn="l">
                        <a:spcBef>
                          <a:spcPts val="0"/>
                        </a:spcBef>
                        <a:spcAft>
                          <a:spcPts val="0"/>
                        </a:spcAft>
                        <a:buNone/>
                      </a:pPr>
                      <a:r>
                        <a:rPr lang="en-US" sz="1400"/>
                        <a:t>Users need to travel during peak hours but want to avoid surge pricing.</a:t>
                      </a:r>
                      <a:endParaRPr/>
                    </a:p>
                  </a:txBody>
                  <a:tcPr marT="7675" marB="7675" marR="11500" marL="11500"/>
                </a:tc>
                <a:tc>
                  <a:txBody>
                    <a:bodyPr/>
                    <a:lstStyle/>
                    <a:p>
                      <a:pPr indent="0" lvl="0" marL="0" marR="0" rtl="0" algn="l">
                        <a:spcBef>
                          <a:spcPts val="0"/>
                        </a:spcBef>
                        <a:spcAft>
                          <a:spcPts val="0"/>
                        </a:spcAft>
                        <a:buNone/>
                      </a:pPr>
                      <a:r>
                        <a:rPr lang="en-US" sz="1400"/>
                        <a:t>To find an affordable ride option that doesn’t break the bank.</a:t>
                      </a:r>
                      <a:endParaRPr/>
                    </a:p>
                  </a:txBody>
                  <a:tcPr marT="7675" marB="7675" marR="11500" marL="11500"/>
                </a:tc>
                <a:tc>
                  <a:txBody>
                    <a:bodyPr/>
                    <a:lstStyle/>
                    <a:p>
                      <a:pPr indent="0" lvl="0" marL="0" marR="0" rtl="0" algn="l">
                        <a:spcBef>
                          <a:spcPts val="0"/>
                        </a:spcBef>
                        <a:spcAft>
                          <a:spcPts val="0"/>
                        </a:spcAft>
                        <a:buNone/>
                      </a:pPr>
                      <a:r>
                        <a:rPr lang="en-US" sz="1400"/>
                        <a:t>Save money while still reaching the destination on time, without worrying about exorbitant surge prices.</a:t>
                      </a:r>
                      <a:endParaRPr/>
                    </a:p>
                  </a:txBody>
                  <a:tcPr marT="7675" marB="7675" marR="11500" marL="11500"/>
                </a:tc>
              </a:tr>
              <a:tr h="643150">
                <a:tc>
                  <a:txBody>
                    <a:bodyPr/>
                    <a:lstStyle/>
                    <a:p>
                      <a:pPr indent="0" lvl="0" marL="0" marR="0" rtl="0" algn="l">
                        <a:spcBef>
                          <a:spcPts val="0"/>
                        </a:spcBef>
                        <a:spcAft>
                          <a:spcPts val="0"/>
                        </a:spcAft>
                        <a:buNone/>
                      </a:pPr>
                      <a:r>
                        <a:rPr lang="en-US" sz="1400"/>
                        <a:t>Access Reliable Customer Support</a:t>
                      </a:r>
                      <a:endParaRPr/>
                    </a:p>
                  </a:txBody>
                  <a:tcPr marT="7675" marB="7675" marR="11500" marL="11500"/>
                </a:tc>
                <a:tc>
                  <a:txBody>
                    <a:bodyPr/>
                    <a:lstStyle/>
                    <a:p>
                      <a:pPr indent="0" lvl="0" marL="0" marR="0" rtl="0" algn="l">
                        <a:spcBef>
                          <a:spcPts val="0"/>
                        </a:spcBef>
                        <a:spcAft>
                          <a:spcPts val="0"/>
                        </a:spcAft>
                        <a:buNone/>
                      </a:pPr>
                      <a:r>
                        <a:rPr lang="en-US" sz="1400"/>
                        <a:t>Users encounter issues with their ride, such as cancellations or driver behavior.</a:t>
                      </a:r>
                      <a:endParaRPr/>
                    </a:p>
                  </a:txBody>
                  <a:tcPr marT="7675" marB="7675" marR="11500" marL="11500"/>
                </a:tc>
                <a:tc>
                  <a:txBody>
                    <a:bodyPr/>
                    <a:lstStyle/>
                    <a:p>
                      <a:pPr indent="0" lvl="0" marL="0" marR="0" rtl="0" algn="l">
                        <a:spcBef>
                          <a:spcPts val="0"/>
                        </a:spcBef>
                        <a:spcAft>
                          <a:spcPts val="0"/>
                        </a:spcAft>
                        <a:buNone/>
                      </a:pPr>
                      <a:r>
                        <a:rPr lang="en-US" sz="1400"/>
                        <a:t>To quickly contact a helpful customer support representative for resolution.</a:t>
                      </a:r>
                      <a:endParaRPr/>
                    </a:p>
                  </a:txBody>
                  <a:tcPr marT="7675" marB="7675" marR="11500" marL="11500"/>
                </a:tc>
                <a:tc>
                  <a:txBody>
                    <a:bodyPr/>
                    <a:lstStyle/>
                    <a:p>
                      <a:pPr indent="0" lvl="0" marL="0" marR="0" rtl="0" algn="l">
                        <a:spcBef>
                          <a:spcPts val="0"/>
                        </a:spcBef>
                        <a:spcAft>
                          <a:spcPts val="0"/>
                        </a:spcAft>
                        <a:buNone/>
                      </a:pPr>
                      <a:r>
                        <a:rPr lang="en-US" sz="1400"/>
                        <a:t>Resolve ride issues swiftly, ensuring a smooth and hassle-free experience.</a:t>
                      </a:r>
                      <a:endParaRPr/>
                    </a:p>
                  </a:txBody>
                  <a:tcPr marT="7675" marB="7675" marR="11500" marL="11500"/>
                </a:tc>
              </a:tr>
              <a:tr h="689750">
                <a:tc>
                  <a:txBody>
                    <a:bodyPr/>
                    <a:lstStyle/>
                    <a:p>
                      <a:pPr indent="0" lvl="0" marL="0" marR="0" rtl="0" algn="l">
                        <a:spcBef>
                          <a:spcPts val="0"/>
                        </a:spcBef>
                        <a:spcAft>
                          <a:spcPts val="0"/>
                        </a:spcAft>
                        <a:buNone/>
                      </a:pPr>
                      <a:r>
                        <a:rPr lang="en-US" sz="1400"/>
                        <a:t>Get Pet-Friendly Rides</a:t>
                      </a:r>
                      <a:endParaRPr/>
                    </a:p>
                  </a:txBody>
                  <a:tcPr marT="7675" marB="7675" marR="11500" marL="11500"/>
                </a:tc>
                <a:tc>
                  <a:txBody>
                    <a:bodyPr/>
                    <a:lstStyle/>
                    <a:p>
                      <a:pPr indent="0" lvl="0" marL="0" marR="0" rtl="0" algn="l">
                        <a:spcBef>
                          <a:spcPts val="0"/>
                        </a:spcBef>
                        <a:spcAft>
                          <a:spcPts val="0"/>
                        </a:spcAft>
                        <a:buNone/>
                      </a:pPr>
                      <a:r>
                        <a:rPr lang="en-US" sz="1400"/>
                        <a:t>Users are traveling with pets and need a service that accommodates them.</a:t>
                      </a:r>
                      <a:endParaRPr/>
                    </a:p>
                  </a:txBody>
                  <a:tcPr marT="7675" marB="7675" marR="11500" marL="11500"/>
                </a:tc>
                <a:tc>
                  <a:txBody>
                    <a:bodyPr/>
                    <a:lstStyle/>
                    <a:p>
                      <a:pPr indent="0" lvl="0" marL="0" marR="0" rtl="0" algn="l">
                        <a:spcBef>
                          <a:spcPts val="0"/>
                        </a:spcBef>
                        <a:spcAft>
                          <a:spcPts val="0"/>
                        </a:spcAft>
                        <a:buNone/>
                      </a:pPr>
                      <a:r>
                        <a:rPr lang="en-US" sz="1400"/>
                        <a:t>To book a ride that allows pets, ensuring comfort for both the user and the pet.</a:t>
                      </a:r>
                      <a:endParaRPr/>
                    </a:p>
                  </a:txBody>
                  <a:tcPr marT="7675" marB="7675" marR="11500" marL="11500"/>
                </a:tc>
                <a:tc>
                  <a:txBody>
                    <a:bodyPr/>
                    <a:lstStyle/>
                    <a:p>
                      <a:pPr indent="0" lvl="0" marL="0" marR="0" rtl="0" algn="l">
                        <a:spcBef>
                          <a:spcPts val="0"/>
                        </a:spcBef>
                        <a:spcAft>
                          <a:spcPts val="0"/>
                        </a:spcAft>
                        <a:buNone/>
                      </a:pPr>
                      <a:r>
                        <a:rPr lang="en-US" sz="1400"/>
                        <a:t>Enjoy a stress-free ride with pets, knowing that the service accommodates their specific needs.</a:t>
                      </a:r>
                      <a:endParaRPr/>
                    </a:p>
                  </a:txBody>
                  <a:tcPr marT="7675" marB="7675" marR="11500" marL="11500"/>
                </a:tc>
              </a:tr>
              <a:tr h="643150">
                <a:tc>
                  <a:txBody>
                    <a:bodyPr/>
                    <a:lstStyle/>
                    <a:p>
                      <a:pPr indent="0" lvl="0" marL="0" marR="0" rtl="0" algn="l">
                        <a:spcBef>
                          <a:spcPts val="0"/>
                        </a:spcBef>
                        <a:spcAft>
                          <a:spcPts val="0"/>
                        </a:spcAft>
                        <a:buNone/>
                      </a:pPr>
                      <a:r>
                        <a:rPr lang="en-US" sz="1400"/>
                        <a:t>Book a Safe Ride for Loved Ones</a:t>
                      </a:r>
                      <a:endParaRPr/>
                    </a:p>
                  </a:txBody>
                  <a:tcPr marT="7675" marB="7675" marR="11500" marL="11500"/>
                </a:tc>
                <a:tc>
                  <a:txBody>
                    <a:bodyPr/>
                    <a:lstStyle/>
                    <a:p>
                      <a:pPr indent="0" lvl="0" marL="0" marR="0" rtl="0" algn="l">
                        <a:spcBef>
                          <a:spcPts val="0"/>
                        </a:spcBef>
                        <a:spcAft>
                          <a:spcPts val="0"/>
                        </a:spcAft>
                        <a:buNone/>
                      </a:pPr>
                      <a:r>
                        <a:rPr lang="en-US" sz="1400"/>
                        <a:t>Users need to book a ride for someone else, like a family member or friend.</a:t>
                      </a:r>
                      <a:endParaRPr/>
                    </a:p>
                  </a:txBody>
                  <a:tcPr marT="7675" marB="7675" marR="11500" marL="11500"/>
                </a:tc>
                <a:tc>
                  <a:txBody>
                    <a:bodyPr/>
                    <a:lstStyle/>
                    <a:p>
                      <a:pPr indent="0" lvl="0" marL="0" marR="0" rtl="0" algn="l">
                        <a:spcBef>
                          <a:spcPts val="0"/>
                        </a:spcBef>
                        <a:spcAft>
                          <a:spcPts val="0"/>
                        </a:spcAft>
                        <a:buNone/>
                      </a:pPr>
                      <a:r>
                        <a:rPr lang="en-US" sz="1400"/>
                        <a:t>To ensure that the ride is safe and that the driver is reliable.</a:t>
                      </a:r>
                      <a:endParaRPr/>
                    </a:p>
                  </a:txBody>
                  <a:tcPr marT="7675" marB="7675" marR="11500" marL="11500"/>
                </a:tc>
                <a:tc>
                  <a:txBody>
                    <a:bodyPr/>
                    <a:lstStyle/>
                    <a:p>
                      <a:pPr indent="0" lvl="0" marL="0" marR="0" rtl="0" algn="l">
                        <a:spcBef>
                          <a:spcPts val="0"/>
                        </a:spcBef>
                        <a:spcAft>
                          <a:spcPts val="0"/>
                        </a:spcAft>
                        <a:buNone/>
                      </a:pPr>
                      <a:r>
                        <a:rPr lang="en-US" sz="1400"/>
                        <a:t>Feel assured that loved ones are in safe hands, with the ability to monitor the ride remotely.</a:t>
                      </a:r>
                      <a:endParaRPr/>
                    </a:p>
                  </a:txBody>
                  <a:tcPr marT="7675" marB="7675" marR="11500" marL="11500"/>
                </a:tc>
              </a:tr>
              <a:tr h="643150">
                <a:tc>
                  <a:txBody>
                    <a:bodyPr/>
                    <a:lstStyle/>
                    <a:p>
                      <a:pPr indent="0" lvl="0" marL="0" marR="0" rtl="0" algn="l">
                        <a:spcBef>
                          <a:spcPts val="0"/>
                        </a:spcBef>
                        <a:spcAft>
                          <a:spcPts val="0"/>
                        </a:spcAft>
                        <a:buNone/>
                      </a:pPr>
                      <a:r>
                        <a:rPr lang="en-US" sz="1400"/>
                        <a:t>Handle Ride Cancellations Efficiently</a:t>
                      </a:r>
                      <a:endParaRPr/>
                    </a:p>
                  </a:txBody>
                  <a:tcPr marT="7675" marB="7675" marR="11500" marL="11500"/>
                </a:tc>
                <a:tc>
                  <a:txBody>
                    <a:bodyPr/>
                    <a:lstStyle/>
                    <a:p>
                      <a:pPr indent="0" lvl="0" marL="0" marR="0" rtl="0" algn="l">
                        <a:spcBef>
                          <a:spcPts val="0"/>
                        </a:spcBef>
                        <a:spcAft>
                          <a:spcPts val="0"/>
                        </a:spcAft>
                        <a:buNone/>
                      </a:pPr>
                      <a:r>
                        <a:rPr lang="en-US" sz="1400"/>
                        <a:t>Users face frequent ride cancellations and need to quickly find an alternative.</a:t>
                      </a:r>
                      <a:endParaRPr/>
                    </a:p>
                  </a:txBody>
                  <a:tcPr marT="7675" marB="7675" marR="11500" marL="11500"/>
                </a:tc>
                <a:tc>
                  <a:txBody>
                    <a:bodyPr/>
                    <a:lstStyle/>
                    <a:p>
                      <a:pPr indent="0" lvl="0" marL="0" marR="0" rtl="0" algn="l">
                        <a:spcBef>
                          <a:spcPts val="0"/>
                        </a:spcBef>
                        <a:spcAft>
                          <a:spcPts val="0"/>
                        </a:spcAft>
                        <a:buNone/>
                      </a:pPr>
                      <a:r>
                        <a:rPr lang="en-US" sz="1400"/>
                        <a:t>To rebook a ride quickly without hassle.</a:t>
                      </a:r>
                      <a:endParaRPr/>
                    </a:p>
                  </a:txBody>
                  <a:tcPr marT="7675" marB="7675" marR="11500" marL="11500"/>
                </a:tc>
                <a:tc>
                  <a:txBody>
                    <a:bodyPr/>
                    <a:lstStyle/>
                    <a:p>
                      <a:pPr indent="0" lvl="0" marL="0" marR="0" rtl="0" algn="l">
                        <a:spcBef>
                          <a:spcPts val="0"/>
                        </a:spcBef>
                        <a:spcAft>
                          <a:spcPts val="0"/>
                        </a:spcAft>
                        <a:buNone/>
                      </a:pPr>
                      <a:r>
                        <a:rPr lang="en-US" sz="1400"/>
                        <a:t>Minimize delays and frustration by securing a new ride swiftly, reducing the impact of cancellations.</a:t>
                      </a:r>
                      <a:endParaRPr/>
                    </a:p>
                  </a:txBody>
                  <a:tcPr marT="7675" marB="7675" marR="11500" marL="11500"/>
                </a:tc>
              </a:tr>
              <a:tr h="689750">
                <a:tc>
                  <a:txBody>
                    <a:bodyPr/>
                    <a:lstStyle/>
                    <a:p>
                      <a:pPr indent="0" lvl="0" marL="0" marR="0" rtl="0" algn="l">
                        <a:spcBef>
                          <a:spcPts val="0"/>
                        </a:spcBef>
                        <a:spcAft>
                          <a:spcPts val="0"/>
                        </a:spcAft>
                        <a:buNone/>
                      </a:pPr>
                      <a:r>
                        <a:rPr lang="en-US" sz="1400"/>
                        <a:t>Receive Ride Notifications</a:t>
                      </a:r>
                      <a:endParaRPr/>
                    </a:p>
                  </a:txBody>
                  <a:tcPr marT="7675" marB="7675" marR="11500" marL="11500"/>
                </a:tc>
                <a:tc>
                  <a:txBody>
                    <a:bodyPr/>
                    <a:lstStyle/>
                    <a:p>
                      <a:pPr indent="0" lvl="0" marL="0" marR="0" rtl="0" algn="l">
                        <a:spcBef>
                          <a:spcPts val="0"/>
                        </a:spcBef>
                        <a:spcAft>
                          <a:spcPts val="0"/>
                        </a:spcAft>
                        <a:buNone/>
                      </a:pPr>
                      <a:r>
                        <a:rPr lang="en-US" sz="1400"/>
                        <a:t>Users are busy and need timely reminders for their scheduled rides.</a:t>
                      </a:r>
                      <a:endParaRPr/>
                    </a:p>
                  </a:txBody>
                  <a:tcPr marT="7675" marB="7675" marR="11500" marL="11500"/>
                </a:tc>
                <a:tc>
                  <a:txBody>
                    <a:bodyPr/>
                    <a:lstStyle/>
                    <a:p>
                      <a:pPr indent="0" lvl="0" marL="0" marR="0" rtl="0" algn="l">
                        <a:spcBef>
                          <a:spcPts val="0"/>
                        </a:spcBef>
                        <a:spcAft>
                          <a:spcPts val="0"/>
                        </a:spcAft>
                        <a:buNone/>
                      </a:pPr>
                      <a:r>
                        <a:rPr lang="en-US" sz="1400"/>
                        <a:t>To get notifications for upcoming rides or changes to the booking.</a:t>
                      </a:r>
                      <a:endParaRPr/>
                    </a:p>
                  </a:txBody>
                  <a:tcPr marT="7675" marB="7675" marR="11500" marL="11500"/>
                </a:tc>
                <a:tc>
                  <a:txBody>
                    <a:bodyPr/>
                    <a:lstStyle/>
                    <a:p>
                      <a:pPr indent="0" lvl="0" marL="0" marR="0" rtl="0" algn="l">
                        <a:spcBef>
                          <a:spcPts val="0"/>
                        </a:spcBef>
                        <a:spcAft>
                          <a:spcPts val="0"/>
                        </a:spcAft>
                        <a:buNone/>
                      </a:pPr>
                      <a:r>
                        <a:rPr lang="en-US" sz="1400"/>
                        <a:t>Stay informed and on schedule with timely updates, reducing the chances of missing or delaying the ride.</a:t>
                      </a:r>
                      <a:endParaRPr/>
                    </a:p>
                  </a:txBody>
                  <a:tcPr marT="7675" marB="7675" marR="11500" marL="11500"/>
                </a:tc>
              </a:tr>
            </a:tbl>
          </a:graphicData>
        </a:graphic>
      </p:graphicFrame>
      <p:sp>
        <p:nvSpPr>
          <p:cNvPr id="392" name="Google Shape;392;p26"/>
          <p:cNvSpPr txBox="1"/>
          <p:nvPr/>
        </p:nvSpPr>
        <p:spPr>
          <a:xfrm>
            <a:off x="0" y="1"/>
            <a:ext cx="12192000" cy="487180"/>
          </a:xfrm>
          <a:prstGeom prst="rect">
            <a:avLst/>
          </a:prstGeom>
          <a:solidFill>
            <a:srgbClr val="FFC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C0C0C"/>
              </a:buClr>
              <a:buSzPts val="2800"/>
              <a:buFont typeface="Georgia"/>
              <a:buNone/>
            </a:pPr>
            <a:r>
              <a:rPr lang="en-US" sz="2800">
                <a:solidFill>
                  <a:srgbClr val="0C0C0C"/>
                </a:solidFill>
                <a:latin typeface="Georgia"/>
                <a:ea typeface="Georgia"/>
                <a:cs typeface="Georgia"/>
                <a:sym typeface="Georgia"/>
              </a:rPr>
              <a:t>JOBS TO BE DONE</a:t>
            </a:r>
            <a:endParaRPr sz="2800">
              <a:solidFill>
                <a:schemeClr val="dk1"/>
              </a:solidFill>
              <a:latin typeface="ADLaM Display"/>
              <a:ea typeface="ADLaM Display"/>
              <a:cs typeface="ADLaM Display"/>
              <a:sym typeface="ADLaM Displa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6" name="Shape 396"/>
        <p:cNvGrpSpPr/>
        <p:nvPr/>
      </p:nvGrpSpPr>
      <p:grpSpPr>
        <a:xfrm>
          <a:off x="0" y="0"/>
          <a:ext cx="0" cy="0"/>
          <a:chOff x="0" y="0"/>
          <a:chExt cx="0" cy="0"/>
        </a:xfrm>
      </p:grpSpPr>
      <p:sp>
        <p:nvSpPr>
          <p:cNvPr id="397" name="Google Shape;397;p27"/>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close-up of triangles&#10;&#10;Description automatically generated" id="398" name="Google Shape;398;p27"/>
          <p:cNvPicPr preferRelativeResize="0"/>
          <p:nvPr/>
        </p:nvPicPr>
        <p:blipFill rotWithShape="1">
          <a:blip r:embed="rId3">
            <a:alphaModFix amt="50000"/>
          </a:blip>
          <a:srcRect b="7455" l="0" r="0" t="8275"/>
          <a:stretch/>
        </p:blipFill>
        <p:spPr>
          <a:xfrm>
            <a:off x="0" y="1"/>
            <a:ext cx="12191980" cy="6857999"/>
          </a:xfrm>
          <a:prstGeom prst="rect">
            <a:avLst/>
          </a:prstGeom>
          <a:solidFill>
            <a:srgbClr val="FFC000"/>
          </a:solidFill>
          <a:ln>
            <a:noFill/>
          </a:ln>
        </p:spPr>
      </p:pic>
      <p:sp>
        <p:nvSpPr>
          <p:cNvPr id="399" name="Google Shape;399;p27"/>
          <p:cNvSpPr txBox="1"/>
          <p:nvPr>
            <p:ph type="title"/>
          </p:nvPr>
        </p:nvSpPr>
        <p:spPr>
          <a:xfrm>
            <a:off x="1523990" y="1843790"/>
            <a:ext cx="9144000" cy="188122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ARTICULATING THE VALUE PROPOSITION</a:t>
            </a: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99"/>
                                        </p:tgtEl>
                                        <p:attrNameLst>
                                          <p:attrName>style.visibility</p:attrName>
                                        </p:attrNameLst>
                                      </p:cBhvr>
                                      <p:to>
                                        <p:strVal val="visible"/>
                                      </p:to>
                                    </p:set>
                                    <p:animEffect filter="fade" transition="in">
                                      <p:cBhvr>
                                        <p:cTn dur="4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403" name="Shape 403"/>
        <p:cNvGrpSpPr/>
        <p:nvPr/>
      </p:nvGrpSpPr>
      <p:grpSpPr>
        <a:xfrm>
          <a:off x="0" y="0"/>
          <a:ext cx="0" cy="0"/>
          <a:chOff x="0" y="0"/>
          <a:chExt cx="0" cy="0"/>
        </a:xfrm>
      </p:grpSpPr>
      <p:sp>
        <p:nvSpPr>
          <p:cNvPr id="404" name="Google Shape;404;p28"/>
          <p:cNvSpPr txBox="1"/>
          <p:nvPr>
            <p:ph type="title"/>
          </p:nvPr>
        </p:nvSpPr>
        <p:spPr>
          <a:xfrm>
            <a:off x="-83270" y="56561"/>
            <a:ext cx="12358540" cy="8136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Product Vision: Future of Urban Mobility</a:t>
            </a:r>
            <a:endParaRPr/>
          </a:p>
        </p:txBody>
      </p:sp>
      <p:sp>
        <p:nvSpPr>
          <p:cNvPr id="405" name="Google Shape;405;p28"/>
          <p:cNvSpPr txBox="1"/>
          <p:nvPr/>
        </p:nvSpPr>
        <p:spPr>
          <a:xfrm>
            <a:off x="0" y="747698"/>
            <a:ext cx="12192000" cy="60016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Geo"/>
                <a:ea typeface="Geo"/>
                <a:cs typeface="Geo"/>
                <a:sym typeface="Geo"/>
              </a:rPr>
              <a:t>Vision Statement:</a:t>
            </a:r>
            <a:r>
              <a:rPr lang="en-US" sz="2000">
                <a:solidFill>
                  <a:schemeClr val="dk1"/>
                </a:solidFill>
                <a:latin typeface="Geo"/>
                <a:ea typeface="Geo"/>
                <a:cs typeface="Geo"/>
                <a:sym typeface="Geo"/>
              </a:rPr>
              <a:t> To be the most trusted and preferred urban mobility platform in India, offering seamless, safe, and affordable ride-sharing solutions that cater to the diverse needs of our users, while pioneering sustainable and innovative transportation options.</a:t>
            </a:r>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a:p>
            <a:pPr indent="0" lvl="0" marL="0" marR="0" rtl="0" algn="l">
              <a:spcBef>
                <a:spcPts val="0"/>
              </a:spcBef>
              <a:spcAft>
                <a:spcPts val="0"/>
              </a:spcAft>
              <a:buNone/>
            </a:pPr>
            <a:r>
              <a:rPr b="1" lang="en-US" sz="1800">
                <a:solidFill>
                  <a:schemeClr val="dk1"/>
                </a:solidFill>
                <a:latin typeface="Geo"/>
                <a:ea typeface="Geo"/>
                <a:cs typeface="Geo"/>
                <a:sym typeface="Geo"/>
              </a:rPr>
              <a:t>Core Principles:</a:t>
            </a:r>
            <a:endParaRPr sz="1800">
              <a:solidFill>
                <a:schemeClr val="dk1"/>
              </a:solidFill>
              <a:latin typeface="Geo"/>
              <a:ea typeface="Geo"/>
              <a:cs typeface="Geo"/>
              <a:sym typeface="Geo"/>
            </a:endParaRPr>
          </a:p>
          <a:p>
            <a:pPr indent="-342900" lvl="0" marL="34290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User-Centric Experience:</a:t>
            </a:r>
            <a:r>
              <a:rPr lang="en-US" sz="1800">
                <a:solidFill>
                  <a:schemeClr val="dk1"/>
                </a:solidFill>
                <a:latin typeface="Geo"/>
                <a:ea typeface="Geo"/>
                <a:cs typeface="Geo"/>
                <a:sym typeface="Geo"/>
              </a:rPr>
              <a:t> Deliver unparalleled convenience and reliability, ensuring every ride meets our users' safety, affordability, and efficiency expectations.</a:t>
            </a:r>
            <a:endParaRPr/>
          </a:p>
          <a:p>
            <a:pPr indent="-342900" lvl="0" marL="34290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Safety First:</a:t>
            </a:r>
            <a:r>
              <a:rPr lang="en-US" sz="1800">
                <a:solidFill>
                  <a:schemeClr val="dk1"/>
                </a:solidFill>
                <a:latin typeface="Geo"/>
                <a:ea typeface="Geo"/>
                <a:cs typeface="Geo"/>
                <a:sym typeface="Geo"/>
              </a:rPr>
              <a:t> Commit to the highest safety standards through continuous innovation in driver safety features, real-time monitoring, and proactive customer support. </a:t>
            </a:r>
            <a:endParaRPr/>
          </a:p>
          <a:p>
            <a:pPr indent="-342900" lvl="0" marL="34290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Inclusivity &amp; Accessibility:</a:t>
            </a:r>
            <a:r>
              <a:rPr lang="en-US" sz="1800">
                <a:solidFill>
                  <a:schemeClr val="dk1"/>
                </a:solidFill>
                <a:latin typeface="Geo"/>
                <a:ea typeface="Geo"/>
                <a:cs typeface="Geo"/>
                <a:sym typeface="Geo"/>
              </a:rPr>
              <a:t> Ensure our services are accessible to all users, regardless of their economic background, by providing flexible pricing models and a lightweight, user-friendly app.</a:t>
            </a:r>
            <a:endParaRPr/>
          </a:p>
          <a:p>
            <a:pPr indent="-228600" lvl="0" marL="342900" marR="0" rtl="0" algn="l">
              <a:spcBef>
                <a:spcPts val="0"/>
              </a:spcBef>
              <a:spcAft>
                <a:spcPts val="0"/>
              </a:spcAft>
              <a:buClr>
                <a:schemeClr val="dk1"/>
              </a:buClr>
              <a:buSzPts val="1800"/>
              <a:buFont typeface="Arial"/>
              <a:buNone/>
            </a:pPr>
            <a:r>
              <a:t/>
            </a:r>
            <a:endParaRPr sz="1800">
              <a:solidFill>
                <a:schemeClr val="dk1"/>
              </a:solidFill>
              <a:latin typeface="Geo"/>
              <a:ea typeface="Geo"/>
              <a:cs typeface="Geo"/>
              <a:sym typeface="Geo"/>
            </a:endParaRPr>
          </a:p>
          <a:p>
            <a:pPr indent="0" lvl="0" marL="0" marR="0" rtl="0" algn="l">
              <a:spcBef>
                <a:spcPts val="0"/>
              </a:spcBef>
              <a:spcAft>
                <a:spcPts val="0"/>
              </a:spcAft>
              <a:buNone/>
            </a:pPr>
            <a:r>
              <a:rPr b="1" lang="en-US" sz="1800">
                <a:solidFill>
                  <a:schemeClr val="dk1"/>
                </a:solidFill>
                <a:latin typeface="Geo"/>
                <a:ea typeface="Geo"/>
                <a:cs typeface="Geo"/>
                <a:sym typeface="Geo"/>
              </a:rPr>
              <a:t>Long-Term Aspirations:</a:t>
            </a:r>
            <a:endParaRPr sz="1800">
              <a:solidFill>
                <a:schemeClr val="dk1"/>
              </a:solidFill>
              <a:latin typeface="Geo"/>
              <a:ea typeface="Geo"/>
              <a:cs typeface="Geo"/>
              <a:sym typeface="Geo"/>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Geo"/>
                <a:ea typeface="Geo"/>
                <a:cs typeface="Geo"/>
                <a:sym typeface="Geo"/>
              </a:rPr>
              <a:t>To expand Rapido’s presence across every major city in India, becoming synonymous with dependable urban mobility.</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Geo"/>
                <a:ea typeface="Geo"/>
                <a:cs typeface="Geo"/>
                <a:sym typeface="Geo"/>
              </a:rPr>
              <a:t>To build a robust ecosystem that integrates multiple transportation modes, including bikes, autos, and cabs creating a one-stop solution for all urban commuters.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Geo"/>
                <a:ea typeface="Geo"/>
                <a:cs typeface="Geo"/>
                <a:sym typeface="Geo"/>
              </a:rPr>
              <a:t>To continually leverage cutting-edge technology, such as AI and machine learning, to enhance route optimization, driver safety, and personalized user experiences.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Geo"/>
                <a:ea typeface="Geo"/>
                <a:cs typeface="Geo"/>
                <a:sym typeface="Geo"/>
              </a:rPr>
              <a:t>To foster strong partnerships with local governments and communities, advocating for safe, sustainable, and regulated urban transportation systems.</a:t>
            </a:r>
            <a:endParaRPr b="0" i="0" sz="2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409" name="Shape 409"/>
        <p:cNvGrpSpPr/>
        <p:nvPr/>
      </p:nvGrpSpPr>
      <p:grpSpPr>
        <a:xfrm>
          <a:off x="0" y="0"/>
          <a:ext cx="0" cy="0"/>
          <a:chOff x="0" y="0"/>
          <a:chExt cx="0" cy="0"/>
        </a:xfrm>
      </p:grpSpPr>
      <p:sp>
        <p:nvSpPr>
          <p:cNvPr id="410" name="Google Shape;410;p29"/>
          <p:cNvSpPr txBox="1"/>
          <p:nvPr>
            <p:ph type="title"/>
          </p:nvPr>
        </p:nvSpPr>
        <p:spPr>
          <a:xfrm>
            <a:off x="0" y="-97098"/>
            <a:ext cx="121920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Core Value Proposition</a:t>
            </a:r>
            <a:endParaRPr/>
          </a:p>
        </p:txBody>
      </p:sp>
      <p:sp>
        <p:nvSpPr>
          <p:cNvPr id="411" name="Google Shape;411;p29"/>
          <p:cNvSpPr txBox="1"/>
          <p:nvPr/>
        </p:nvSpPr>
        <p:spPr>
          <a:xfrm>
            <a:off x="154474" y="1435855"/>
            <a:ext cx="11013197" cy="52322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Geo"/>
                <a:ea typeface="Geo"/>
                <a:cs typeface="Geo"/>
                <a:sym typeface="Geo"/>
              </a:rPr>
              <a:t>Rapido is the only ride-sharing service in India that offers a comprehensive focus on </a:t>
            </a:r>
            <a:r>
              <a:rPr b="1" lang="en-US" sz="2000">
                <a:solidFill>
                  <a:schemeClr val="dk1"/>
                </a:solidFill>
                <a:latin typeface="Geo"/>
                <a:ea typeface="Geo"/>
                <a:cs typeface="Geo"/>
                <a:sym typeface="Geo"/>
              </a:rPr>
              <a:t>quick bike taxi solutions</a:t>
            </a:r>
            <a:r>
              <a:rPr lang="en-US" sz="2000">
                <a:solidFill>
                  <a:schemeClr val="dk1"/>
                </a:solidFill>
                <a:latin typeface="Geo"/>
                <a:ea typeface="Geo"/>
                <a:cs typeface="Geo"/>
                <a:sym typeface="Geo"/>
              </a:rPr>
              <a:t>. Perfect for urban commuters, it allows users to swiftly navigate through city traffic without the usual delays of traditional transport</a:t>
            </a:r>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a:p>
            <a:pPr indent="0" lvl="0" marL="0" marR="0" rtl="0" algn="l">
              <a:spcBef>
                <a:spcPts val="0"/>
              </a:spcBef>
              <a:spcAft>
                <a:spcPts val="0"/>
              </a:spcAft>
              <a:buNone/>
            </a:pPr>
            <a:r>
              <a:rPr b="1" lang="en-US" sz="2000">
                <a:solidFill>
                  <a:schemeClr val="dk1"/>
                </a:solidFill>
                <a:latin typeface="Geo"/>
                <a:ea typeface="Geo"/>
                <a:cs typeface="Geo"/>
                <a:sym typeface="Geo"/>
              </a:rPr>
              <a:t>Why Rapido Stands Out:</a:t>
            </a:r>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Quick Rides: </a:t>
            </a:r>
            <a:r>
              <a:rPr lang="en-US" sz="1800">
                <a:solidFill>
                  <a:schemeClr val="dk1"/>
                </a:solidFill>
                <a:latin typeface="Geo"/>
                <a:ea typeface="Geo"/>
                <a:cs typeface="Geo"/>
                <a:sym typeface="Geo"/>
              </a:rPr>
              <a:t>Navigate city traffic fast with our </a:t>
            </a:r>
            <a:r>
              <a:rPr b="1" lang="en-US" sz="1800">
                <a:solidFill>
                  <a:schemeClr val="dk1"/>
                </a:solidFill>
                <a:latin typeface="Geo"/>
                <a:ea typeface="Geo"/>
                <a:cs typeface="Geo"/>
                <a:sym typeface="Geo"/>
              </a:rPr>
              <a:t>bike taxi solutions</a:t>
            </a:r>
            <a:r>
              <a:rPr lang="en-US" sz="1800">
                <a:solidFill>
                  <a:schemeClr val="dk1"/>
                </a:solidFill>
                <a:latin typeface="Geo"/>
                <a:ea typeface="Geo"/>
                <a:cs typeface="Geo"/>
                <a:sym typeface="Geo"/>
              </a:rPr>
              <a:t>.</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Safety First: </a:t>
            </a:r>
            <a:r>
              <a:rPr lang="en-US" sz="1800">
                <a:solidFill>
                  <a:schemeClr val="dk1"/>
                </a:solidFill>
                <a:latin typeface="Geo"/>
                <a:ea typeface="Geo"/>
                <a:cs typeface="Geo"/>
                <a:sym typeface="Geo"/>
              </a:rPr>
              <a:t>Ride with confidence, thanks to </a:t>
            </a:r>
            <a:r>
              <a:rPr b="1" lang="en-US" sz="1800">
                <a:solidFill>
                  <a:schemeClr val="dk1"/>
                </a:solidFill>
                <a:latin typeface="Geo"/>
                <a:ea typeface="Geo"/>
                <a:cs typeface="Geo"/>
                <a:sym typeface="Geo"/>
              </a:rPr>
              <a:t>real-time tracking</a:t>
            </a:r>
            <a:r>
              <a:rPr lang="en-US" sz="1800">
                <a:solidFill>
                  <a:schemeClr val="dk1"/>
                </a:solidFill>
                <a:latin typeface="Geo"/>
                <a:ea typeface="Geo"/>
                <a:cs typeface="Geo"/>
                <a:sym typeface="Geo"/>
              </a:rPr>
              <a:t> and </a:t>
            </a:r>
            <a:r>
              <a:rPr b="1" lang="en-US" sz="1800">
                <a:solidFill>
                  <a:schemeClr val="dk1"/>
                </a:solidFill>
                <a:latin typeface="Geo"/>
                <a:ea typeface="Geo"/>
                <a:cs typeface="Geo"/>
                <a:sym typeface="Geo"/>
              </a:rPr>
              <a:t>advanced safety protocols</a:t>
            </a:r>
            <a:r>
              <a:rPr lang="en-US" sz="1800">
                <a:solidFill>
                  <a:schemeClr val="dk1"/>
                </a:solidFill>
                <a:latin typeface="Geo"/>
                <a:ea typeface="Geo"/>
                <a:cs typeface="Geo"/>
                <a:sym typeface="Geo"/>
              </a:rPr>
              <a:t>.</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Affordable Options: </a:t>
            </a:r>
            <a:r>
              <a:rPr lang="en-US" sz="1800">
                <a:solidFill>
                  <a:schemeClr val="dk1"/>
                </a:solidFill>
                <a:latin typeface="Geo"/>
                <a:ea typeface="Geo"/>
                <a:cs typeface="Geo"/>
                <a:sym typeface="Geo"/>
              </a:rPr>
              <a:t>Get cost-effective transport without compromising quality. Perfect for daily commutes.</a:t>
            </a:r>
            <a:endParaRPr/>
          </a:p>
          <a:p>
            <a:pPr indent="0" lvl="0" marL="0" marR="0" rtl="0" algn="l">
              <a:spcBef>
                <a:spcPts val="0"/>
              </a:spcBef>
              <a:spcAft>
                <a:spcPts val="0"/>
              </a:spcAft>
              <a:buNone/>
            </a:pPr>
            <a:r>
              <a:t/>
            </a:r>
            <a:endParaRPr b="1" sz="1800">
              <a:solidFill>
                <a:schemeClr val="dk1"/>
              </a:solidFill>
              <a:latin typeface="Geo"/>
              <a:ea typeface="Geo"/>
              <a:cs typeface="Geo"/>
              <a:sym typeface="Geo"/>
            </a:endParaRPr>
          </a:p>
          <a:p>
            <a:pPr indent="0" lvl="0" marL="0" marR="0" rtl="0" algn="l">
              <a:spcBef>
                <a:spcPts val="0"/>
              </a:spcBef>
              <a:spcAft>
                <a:spcPts val="0"/>
              </a:spcAft>
              <a:buNone/>
            </a:pPr>
            <a:r>
              <a:rPr b="1" lang="en-US" sz="2000">
                <a:solidFill>
                  <a:schemeClr val="dk1"/>
                </a:solidFill>
                <a:latin typeface="Geo"/>
                <a:ea typeface="Geo"/>
                <a:cs typeface="Geo"/>
                <a:sym typeface="Geo"/>
              </a:rPr>
              <a:t>What Sets Rapido Apart:</a:t>
            </a:r>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Driver Incentives: </a:t>
            </a:r>
            <a:r>
              <a:rPr lang="en-US" sz="1800">
                <a:solidFill>
                  <a:schemeClr val="dk1"/>
                </a:solidFill>
                <a:latin typeface="Geo"/>
                <a:ea typeface="Geo"/>
                <a:cs typeface="Geo"/>
                <a:sym typeface="Geo"/>
              </a:rPr>
              <a:t>We reward drivers for waiting, ensuring they stay at the pickup point and reducing cancellations.</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Better for Everyone: </a:t>
            </a:r>
            <a:r>
              <a:rPr lang="en-US" sz="1800">
                <a:solidFill>
                  <a:schemeClr val="dk1"/>
                </a:solidFill>
                <a:latin typeface="Geo"/>
                <a:ea typeface="Geo"/>
                <a:cs typeface="Geo"/>
                <a:sym typeface="Geo"/>
              </a:rPr>
              <a:t>Drivers are happier, and riders reach on time—</a:t>
            </a:r>
            <a:r>
              <a:rPr b="1" lang="en-US" sz="1800">
                <a:solidFill>
                  <a:schemeClr val="dk1"/>
                </a:solidFill>
                <a:latin typeface="Geo"/>
                <a:ea typeface="Geo"/>
                <a:cs typeface="Geo"/>
                <a:sym typeface="Geo"/>
              </a:rPr>
              <a:t>no delays, no penalties, lesser cancellations</a:t>
            </a:r>
            <a:r>
              <a:rPr lang="en-US" sz="1800">
                <a:solidFill>
                  <a:schemeClr val="dk1"/>
                </a:solidFill>
                <a:latin typeface="Geo"/>
                <a:ea typeface="Geo"/>
                <a:cs typeface="Geo"/>
                <a:sym typeface="Geo"/>
              </a:rPr>
              <a:t>.</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Geo"/>
                <a:ea typeface="Geo"/>
                <a:cs typeface="Geo"/>
                <a:sym typeface="Geo"/>
              </a:rPr>
              <a:t>Satisfaction Guaranteed: </a:t>
            </a:r>
            <a:r>
              <a:rPr lang="en-US" sz="1800">
                <a:solidFill>
                  <a:schemeClr val="dk1"/>
                </a:solidFill>
                <a:latin typeface="Geo"/>
                <a:ea typeface="Geo"/>
                <a:cs typeface="Geo"/>
                <a:sym typeface="Geo"/>
              </a:rPr>
              <a:t>From booking to drop-off, we’re committed to making every ride smooth and reliable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Geo"/>
              <a:ea typeface="Geo"/>
              <a:cs typeface="Geo"/>
              <a:sym typeface="Geo"/>
            </a:endParaRPr>
          </a:p>
          <a:p>
            <a:pPr indent="0" lvl="0" marL="0" marR="0" rtl="0" algn="l">
              <a:spcBef>
                <a:spcPts val="0"/>
              </a:spcBef>
              <a:spcAft>
                <a:spcPts val="0"/>
              </a:spcAft>
              <a:buNone/>
            </a:pPr>
            <a:r>
              <a:rPr lang="en-US" sz="1800">
                <a:solidFill>
                  <a:schemeClr val="dk1"/>
                </a:solidFill>
                <a:latin typeface="Geo"/>
                <a:ea typeface="Geo"/>
                <a:cs typeface="Geo"/>
                <a:sym typeface="Geo"/>
              </a:rPr>
              <a:t>.</a:t>
            </a:r>
            <a:endParaRPr b="0" i="0" sz="2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Geo"/>
              <a:ea typeface="Geo"/>
              <a:cs typeface="Geo"/>
              <a:sym typeface="Ge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0"/>
          <p:cNvSpPr txBox="1"/>
          <p:nvPr>
            <p:ph type="title"/>
          </p:nvPr>
        </p:nvSpPr>
        <p:spPr>
          <a:xfrm>
            <a:off x="0" y="0"/>
            <a:ext cx="12192000" cy="1325563"/>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KEY DIFFERENTIATORS</a:t>
            </a:r>
            <a:endParaRPr/>
          </a:p>
        </p:txBody>
      </p:sp>
      <p:graphicFrame>
        <p:nvGraphicFramePr>
          <p:cNvPr id="418" name="Google Shape;418;p30"/>
          <p:cNvGraphicFramePr/>
          <p:nvPr/>
        </p:nvGraphicFramePr>
        <p:xfrm>
          <a:off x="0" y="1034321"/>
          <a:ext cx="3000000" cy="3000000"/>
        </p:xfrm>
        <a:graphic>
          <a:graphicData uri="http://schemas.openxmlformats.org/drawingml/2006/table">
            <a:tbl>
              <a:tblPr bandRow="1" firstRow="1">
                <a:noFill/>
                <a:tableStyleId>{E73E3090-88B2-4E8C-A6E2-E0969ED46B26}</a:tableStyleId>
              </a:tblPr>
              <a:tblGrid>
                <a:gridCol w="3543975"/>
                <a:gridCol w="8648025"/>
              </a:tblGrid>
              <a:tr h="394900">
                <a:tc>
                  <a:txBody>
                    <a:bodyPr/>
                    <a:lstStyle/>
                    <a:p>
                      <a:pPr indent="0" lvl="0" marL="0" marR="0" rtl="0" algn="l">
                        <a:spcBef>
                          <a:spcPts val="0"/>
                        </a:spcBef>
                        <a:spcAft>
                          <a:spcPts val="0"/>
                        </a:spcAft>
                        <a:buNone/>
                      </a:pPr>
                      <a:r>
                        <a:rPr lang="en-US" sz="1800"/>
                        <a:t>Unique Selling Point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Description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1600">
                <a:tc>
                  <a:txBody>
                    <a:bodyPr/>
                    <a:lstStyle/>
                    <a:p>
                      <a:pPr indent="0" lvl="0" marL="0" marR="0" rtl="0" algn="l">
                        <a:spcBef>
                          <a:spcPts val="0"/>
                        </a:spcBef>
                        <a:spcAft>
                          <a:spcPts val="0"/>
                        </a:spcAft>
                        <a:buNone/>
                      </a:pPr>
                      <a:r>
                        <a:rPr lang="en-US" sz="1800"/>
                        <a:t>Affordability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Rapido offers highly competitive pricing, making it an affordable option for daily commuters and budget-conscious users.</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1600">
                <a:tc>
                  <a:txBody>
                    <a:bodyPr/>
                    <a:lstStyle/>
                    <a:p>
                      <a:pPr indent="0" lvl="0" marL="0" marR="0" rtl="0" algn="l">
                        <a:spcBef>
                          <a:spcPts val="0"/>
                        </a:spcBef>
                        <a:spcAft>
                          <a:spcPts val="0"/>
                        </a:spcAft>
                        <a:buNone/>
                      </a:pPr>
                      <a:r>
                        <a:rPr lang="en-US" sz="1800"/>
                        <a:t>Quick and Convenient Rides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With a focus on quick availability and minimal wait times, Rapido ensures a convenient and time-saving transportation option</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1600">
                <a:tc>
                  <a:txBody>
                    <a:bodyPr/>
                    <a:lstStyle/>
                    <a:p>
                      <a:pPr indent="0" lvl="0" marL="0" marR="0" rtl="0" algn="l">
                        <a:spcBef>
                          <a:spcPts val="0"/>
                        </a:spcBef>
                        <a:spcAft>
                          <a:spcPts val="0"/>
                        </a:spcAft>
                        <a:buNone/>
                      </a:pPr>
                      <a:r>
                        <a:rPr lang="en-US" sz="1800"/>
                        <a:t>Wide Range of Services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In addition to bike taxis, Rapido offers autos, cabs, and parcel delivery services, catering to diverse transportation needs.</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65825">
                <a:tc>
                  <a:txBody>
                    <a:bodyPr/>
                    <a:lstStyle/>
                    <a:p>
                      <a:pPr indent="0" lvl="0" marL="0" marR="0" rtl="0" algn="l">
                        <a:spcBef>
                          <a:spcPts val="0"/>
                        </a:spcBef>
                        <a:spcAft>
                          <a:spcPts val="0"/>
                        </a:spcAft>
                        <a:buNone/>
                      </a:pPr>
                      <a:r>
                        <a:rPr lang="en-US" sz="1800"/>
                        <a:t>Driver Incentives for Waiting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Rapido incentivizes drivers for waiting, promoting a sympathetic and supportive community among drivers, which enhances the overall user experience and reducing cancellations after reaching pickup point.</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1600">
                <a:tc>
                  <a:txBody>
                    <a:bodyPr/>
                    <a:lstStyle/>
                    <a:p>
                      <a:pPr indent="0" lvl="0" marL="0" marR="0" rtl="0" algn="l">
                        <a:spcBef>
                          <a:spcPts val="0"/>
                        </a:spcBef>
                        <a:spcAft>
                          <a:spcPts val="0"/>
                        </a:spcAft>
                        <a:buNone/>
                      </a:pPr>
                      <a:r>
                        <a:rPr lang="en-US" sz="1800"/>
                        <a:t>Safety and Security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Rapido prioritizes rider safety with advanced safety protocols and real-time tracking, ensuring a secure journey every time.</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4900">
                <a:tc>
                  <a:txBody>
                    <a:bodyPr/>
                    <a:lstStyle/>
                    <a:p>
                      <a:pPr indent="0" lvl="0" marL="0" marR="0" rtl="0" algn="l">
                        <a:spcBef>
                          <a:spcPts val="0"/>
                        </a:spcBef>
                        <a:spcAft>
                          <a:spcPts val="0"/>
                        </a:spcAft>
                        <a:buNone/>
                      </a:pPr>
                      <a:r>
                        <a:rPr lang="en-US" sz="1800"/>
                        <a:t>User Convenience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Rapido’s user-friendly app offers features like advance booking and driver selection, providing a seamless and personalized ride experience.</a:t>
                      </a:r>
                      <a:endParaRPr sz="18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23" name="Shape 423"/>
        <p:cNvGrpSpPr/>
        <p:nvPr/>
      </p:nvGrpSpPr>
      <p:grpSpPr>
        <a:xfrm>
          <a:off x="0" y="0"/>
          <a:ext cx="0" cy="0"/>
          <a:chOff x="0" y="0"/>
          <a:chExt cx="0" cy="0"/>
        </a:xfrm>
      </p:grpSpPr>
      <p:sp>
        <p:nvSpPr>
          <p:cNvPr id="424" name="Google Shape;424;p31"/>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close-up of triangles&#10;&#10;Description automatically generated" id="425" name="Google Shape;425;p31"/>
          <p:cNvPicPr preferRelativeResize="0"/>
          <p:nvPr/>
        </p:nvPicPr>
        <p:blipFill rotWithShape="1">
          <a:blip r:embed="rId3">
            <a:alphaModFix amt="50000"/>
          </a:blip>
          <a:srcRect b="7455" l="0" r="0" t="8275"/>
          <a:stretch/>
        </p:blipFill>
        <p:spPr>
          <a:xfrm>
            <a:off x="0" y="1"/>
            <a:ext cx="12191980" cy="6857999"/>
          </a:xfrm>
          <a:prstGeom prst="rect">
            <a:avLst/>
          </a:prstGeom>
          <a:solidFill>
            <a:srgbClr val="FFC000"/>
          </a:solidFill>
          <a:ln>
            <a:noFill/>
          </a:ln>
        </p:spPr>
      </p:pic>
      <p:sp>
        <p:nvSpPr>
          <p:cNvPr id="426" name="Google Shape;426;p31"/>
          <p:cNvSpPr txBox="1"/>
          <p:nvPr>
            <p:ph type="title"/>
          </p:nvPr>
        </p:nvSpPr>
        <p:spPr>
          <a:xfrm>
            <a:off x="1523990" y="1843790"/>
            <a:ext cx="9144000" cy="188122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FORMULATING THE PRODUCT STRATEGY</a:t>
            </a: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26"/>
                                        </p:tgtEl>
                                        <p:attrNameLst>
                                          <p:attrName>style.visibility</p:attrName>
                                        </p:attrNameLst>
                                      </p:cBhvr>
                                      <p:to>
                                        <p:strVal val="visible"/>
                                      </p:to>
                                    </p:set>
                                    <p:animEffect filter="fade" transition="in">
                                      <p:cBhvr>
                                        <p:cTn dur="4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2"/>
          <p:cNvSpPr txBox="1"/>
          <p:nvPr>
            <p:ph type="title"/>
          </p:nvPr>
        </p:nvSpPr>
        <p:spPr>
          <a:xfrm>
            <a:off x="0" y="1"/>
            <a:ext cx="12192000" cy="82445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sz="4400"/>
              <a:t>PRODUCT PRINCIPLES</a:t>
            </a:r>
            <a:endParaRPr/>
          </a:p>
        </p:txBody>
      </p:sp>
      <p:sp>
        <p:nvSpPr>
          <p:cNvPr id="433" name="Google Shape;433;p32"/>
          <p:cNvSpPr txBox="1"/>
          <p:nvPr>
            <p:ph idx="1" type="body"/>
          </p:nvPr>
        </p:nvSpPr>
        <p:spPr>
          <a:xfrm>
            <a:off x="0" y="783988"/>
            <a:ext cx="12192000" cy="59954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8CD872"/>
              </a:buClr>
              <a:buSzPts val="1400"/>
              <a:buNone/>
            </a:pPr>
            <a:r>
              <a:rPr b="1" i="0" lang="en-US" sz="1400" u="none" cap="none" strike="noStrike">
                <a:solidFill>
                  <a:srgbClr val="8CD872"/>
                </a:solidFill>
                <a:latin typeface="Geo"/>
                <a:ea typeface="Geo"/>
                <a:cs typeface="Geo"/>
                <a:sym typeface="Geo"/>
              </a:rPr>
              <a:t>User-Centric Safety</a:t>
            </a:r>
            <a:endParaRPr b="0" i="0" sz="1400" u="none" cap="none" strike="noStrike">
              <a:solidFill>
                <a:srgbClr val="8CD872"/>
              </a:solidFill>
              <a:latin typeface="Geo"/>
              <a:ea typeface="Geo"/>
              <a:cs typeface="Geo"/>
              <a:sym typeface="Geo"/>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Real-Time Monitoring:</a:t>
            </a:r>
            <a:r>
              <a:rPr b="0" i="0" lang="en-US" sz="1400" u="none" cap="none" strike="noStrike">
                <a:solidFill>
                  <a:schemeClr val="dk1"/>
                </a:solidFill>
                <a:latin typeface="Geo"/>
                <a:ea typeface="Geo"/>
                <a:cs typeface="Geo"/>
                <a:sym typeface="Geo"/>
              </a:rPr>
              <a:t> Continuously </a:t>
            </a:r>
            <a:r>
              <a:rPr b="1" i="0" lang="en-US" sz="1400" u="none" cap="none" strike="noStrike">
                <a:solidFill>
                  <a:schemeClr val="dk1"/>
                </a:solidFill>
                <a:latin typeface="Geo"/>
                <a:ea typeface="Geo"/>
                <a:cs typeface="Geo"/>
                <a:sym typeface="Geo"/>
              </a:rPr>
              <a:t>track rides</a:t>
            </a:r>
            <a:r>
              <a:rPr b="0" i="0" lang="en-US" sz="1400" u="none" cap="none" strike="noStrike">
                <a:solidFill>
                  <a:schemeClr val="dk1"/>
                </a:solidFill>
                <a:latin typeface="Geo"/>
                <a:ea typeface="Geo"/>
                <a:cs typeface="Geo"/>
                <a:sym typeface="Geo"/>
              </a:rPr>
              <a:t> and </a:t>
            </a:r>
            <a:r>
              <a:rPr b="1" i="0" lang="en-US" sz="1400" u="none" cap="none" strike="noStrike">
                <a:solidFill>
                  <a:schemeClr val="dk1"/>
                </a:solidFill>
                <a:latin typeface="Geo"/>
                <a:ea typeface="Geo"/>
                <a:cs typeface="Geo"/>
                <a:sym typeface="Geo"/>
              </a:rPr>
              <a:t>alert</a:t>
            </a:r>
            <a:r>
              <a:rPr b="0" i="0" lang="en-US" sz="1400" u="none" cap="none" strike="noStrike">
                <a:solidFill>
                  <a:schemeClr val="dk1"/>
                </a:solidFill>
                <a:latin typeface="Geo"/>
                <a:ea typeface="Geo"/>
                <a:cs typeface="Geo"/>
                <a:sym typeface="Geo"/>
              </a:rPr>
              <a:t> users to potential safety concerns.</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Safety Driver Feature:</a:t>
            </a:r>
            <a:r>
              <a:rPr b="0" i="0" lang="en-US" sz="1400" u="none" cap="none" strike="noStrike">
                <a:solidFill>
                  <a:schemeClr val="dk1"/>
                </a:solidFill>
                <a:latin typeface="Geo"/>
                <a:ea typeface="Geo"/>
                <a:cs typeface="Geo"/>
                <a:sym typeface="Geo"/>
              </a:rPr>
              <a:t> Implement a </a:t>
            </a:r>
            <a:r>
              <a:rPr b="1" i="0" lang="en-US" sz="1400" u="none" cap="none" strike="noStrike">
                <a:solidFill>
                  <a:schemeClr val="dk1"/>
                </a:solidFill>
                <a:latin typeface="Geo"/>
                <a:ea typeface="Geo"/>
                <a:cs typeface="Geo"/>
                <a:sym typeface="Geo"/>
              </a:rPr>
              <a:t>driver safety rating</a:t>
            </a:r>
            <a:r>
              <a:rPr b="0" i="0" lang="en-US" sz="1400" u="none" cap="none" strike="noStrike">
                <a:solidFill>
                  <a:schemeClr val="dk1"/>
                </a:solidFill>
                <a:latin typeface="Geo"/>
                <a:ea typeface="Geo"/>
                <a:cs typeface="Geo"/>
                <a:sym typeface="Geo"/>
              </a:rPr>
              <a:t> system that is visible before booking and can be rated after each trip, enhancing trust.</a:t>
            </a:r>
            <a:endParaRPr/>
          </a:p>
          <a:p>
            <a:pPr indent="-228600" lvl="0" marL="228600" rtl="0" algn="l">
              <a:lnSpc>
                <a:spcPct val="12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Route Safety Protocols:</a:t>
            </a:r>
            <a:r>
              <a:rPr b="0" i="0" lang="en-US" sz="1400" u="none" cap="none" strike="noStrike">
                <a:solidFill>
                  <a:schemeClr val="dk1"/>
                </a:solidFill>
                <a:latin typeface="Geo"/>
                <a:ea typeface="Geo"/>
                <a:cs typeface="Geo"/>
                <a:sym typeface="Geo"/>
              </a:rPr>
              <a:t> Trigger alerts and </a:t>
            </a:r>
            <a:r>
              <a:rPr b="1" i="0" lang="en-US" sz="1400" u="none" cap="none" strike="noStrike">
                <a:solidFill>
                  <a:schemeClr val="dk1"/>
                </a:solidFill>
                <a:latin typeface="Geo"/>
                <a:ea typeface="Geo"/>
                <a:cs typeface="Geo"/>
                <a:sym typeface="Geo"/>
              </a:rPr>
              <a:t>check-ins</a:t>
            </a:r>
            <a:r>
              <a:rPr b="0" i="0" lang="en-US" sz="1400" u="none" cap="none" strike="noStrike">
                <a:solidFill>
                  <a:schemeClr val="dk1"/>
                </a:solidFill>
                <a:latin typeface="Geo"/>
                <a:ea typeface="Geo"/>
                <a:cs typeface="Geo"/>
                <a:sym typeface="Geo"/>
              </a:rPr>
              <a:t> if the drop location differs</a:t>
            </a:r>
            <a:r>
              <a:rPr lang="en-US" sz="1400">
                <a:latin typeface="Geo"/>
                <a:ea typeface="Geo"/>
                <a:cs typeface="Geo"/>
                <a:sym typeface="Geo"/>
              </a:rPr>
              <a:t> with immediate access to </a:t>
            </a:r>
            <a:r>
              <a:rPr b="1" lang="en-US" sz="1400">
                <a:latin typeface="Geo"/>
                <a:ea typeface="Geo"/>
                <a:cs typeface="Geo"/>
                <a:sym typeface="Geo"/>
              </a:rPr>
              <a:t>emergency support</a:t>
            </a:r>
            <a:r>
              <a:rPr lang="en-US" sz="1400">
                <a:latin typeface="Geo"/>
                <a:ea typeface="Geo"/>
                <a:cs typeface="Geo"/>
                <a:sym typeface="Geo"/>
              </a:rPr>
              <a:t>.</a:t>
            </a:r>
            <a:endParaRPr/>
          </a:p>
          <a:p>
            <a:pPr indent="0" lvl="0" marL="0" rtl="0" algn="l">
              <a:lnSpc>
                <a:spcPct val="120000"/>
              </a:lnSpc>
              <a:spcBef>
                <a:spcPts val="0"/>
              </a:spcBef>
              <a:spcAft>
                <a:spcPts val="0"/>
              </a:spcAft>
              <a:buClr>
                <a:schemeClr val="dk1"/>
              </a:buClr>
              <a:buSzPts val="1400"/>
              <a:buNone/>
            </a:pPr>
            <a:r>
              <a:t/>
            </a:r>
            <a:endParaRPr b="0" i="0" sz="1400" u="none" cap="none" strike="noStrike">
              <a:solidFill>
                <a:schemeClr val="dk1"/>
              </a:solidFill>
              <a:latin typeface="Geo"/>
              <a:ea typeface="Geo"/>
              <a:cs typeface="Geo"/>
              <a:sym typeface="Geo"/>
            </a:endParaRPr>
          </a:p>
          <a:p>
            <a:pPr indent="0" lvl="0" marL="0" marR="0" rtl="0" algn="l">
              <a:lnSpc>
                <a:spcPct val="100000"/>
              </a:lnSpc>
              <a:spcBef>
                <a:spcPts val="0"/>
              </a:spcBef>
              <a:spcAft>
                <a:spcPts val="0"/>
              </a:spcAft>
              <a:buClr>
                <a:srgbClr val="8CD872"/>
              </a:buClr>
              <a:buSzPts val="1400"/>
              <a:buNone/>
            </a:pPr>
            <a:r>
              <a:rPr b="1" i="0" lang="en-US" sz="1400" u="none" cap="none" strike="noStrike">
                <a:solidFill>
                  <a:srgbClr val="8CD872"/>
                </a:solidFill>
                <a:latin typeface="Geo"/>
                <a:ea typeface="Geo"/>
                <a:cs typeface="Geo"/>
                <a:sym typeface="Geo"/>
              </a:rPr>
              <a:t>Flexible Ride Options</a:t>
            </a:r>
            <a:endParaRPr b="0" i="0" sz="1400" u="none" cap="none" strike="noStrike">
              <a:solidFill>
                <a:srgbClr val="8CD872"/>
              </a:solidFill>
              <a:latin typeface="Geo"/>
              <a:ea typeface="Geo"/>
              <a:cs typeface="Geo"/>
              <a:sym typeface="Geo"/>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Quick Rides:</a:t>
            </a:r>
            <a:r>
              <a:rPr b="0" i="0" lang="en-US" sz="1400" u="none" cap="none" strike="noStrike">
                <a:solidFill>
                  <a:schemeClr val="dk1"/>
                </a:solidFill>
                <a:latin typeface="Geo"/>
                <a:ea typeface="Geo"/>
                <a:cs typeface="Geo"/>
                <a:sym typeface="Geo"/>
              </a:rPr>
              <a:t> Offer </a:t>
            </a:r>
            <a:r>
              <a:rPr b="1" i="0" lang="en-US" sz="1400" u="none" cap="none" strike="noStrike">
                <a:solidFill>
                  <a:schemeClr val="dk1"/>
                </a:solidFill>
                <a:latin typeface="Geo"/>
                <a:ea typeface="Geo"/>
                <a:cs typeface="Geo"/>
                <a:sym typeface="Geo"/>
              </a:rPr>
              <a:t>immediate &amp; confirmed booking</a:t>
            </a:r>
            <a:r>
              <a:rPr b="0" i="0" lang="en-US" sz="1400" u="none" cap="none" strike="noStrike">
                <a:solidFill>
                  <a:schemeClr val="dk1"/>
                </a:solidFill>
                <a:latin typeface="Geo"/>
                <a:ea typeface="Geo"/>
                <a:cs typeface="Geo"/>
                <a:sym typeface="Geo"/>
              </a:rPr>
              <a:t> for those in a rush.</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Affordable Alternatives:</a:t>
            </a:r>
            <a:r>
              <a:rPr b="0" i="0" lang="en-US" sz="1400" u="none" cap="none" strike="noStrike">
                <a:solidFill>
                  <a:schemeClr val="dk1"/>
                </a:solidFill>
                <a:latin typeface="Geo"/>
                <a:ea typeface="Geo"/>
                <a:cs typeface="Geo"/>
                <a:sym typeface="Geo"/>
              </a:rPr>
              <a:t> Allow users to choose </a:t>
            </a:r>
            <a:r>
              <a:rPr b="1" i="0" lang="en-US" sz="1400" u="none" cap="none" strike="noStrike">
                <a:solidFill>
                  <a:schemeClr val="dk1"/>
                </a:solidFill>
                <a:latin typeface="Geo"/>
                <a:ea typeface="Geo"/>
                <a:cs typeface="Geo"/>
                <a:sym typeface="Geo"/>
              </a:rPr>
              <a:t>cost-effective options</a:t>
            </a:r>
            <a:r>
              <a:rPr b="0" i="0" lang="en-US" sz="1400" u="none" cap="none" strike="noStrike">
                <a:solidFill>
                  <a:schemeClr val="dk1"/>
                </a:solidFill>
                <a:latin typeface="Geo"/>
                <a:ea typeface="Geo"/>
                <a:cs typeface="Geo"/>
                <a:sym typeface="Geo"/>
              </a:rPr>
              <a:t> with slight wait times.</a:t>
            </a:r>
            <a:endParaRPr/>
          </a:p>
          <a:p>
            <a:pPr indent="0" lvl="0" marL="0" rtl="0" algn="l">
              <a:lnSpc>
                <a:spcPct val="100000"/>
              </a:lnSpc>
              <a:spcBef>
                <a:spcPts val="0"/>
              </a:spcBef>
              <a:spcAft>
                <a:spcPts val="0"/>
              </a:spcAft>
              <a:buClr>
                <a:schemeClr val="dk1"/>
              </a:buClr>
              <a:buSzPts val="1400"/>
              <a:buNone/>
            </a:pPr>
            <a:r>
              <a:t/>
            </a:r>
            <a:endParaRPr b="0" i="0" sz="1400" u="none" cap="none" strike="noStrike">
              <a:solidFill>
                <a:schemeClr val="dk1"/>
              </a:solidFill>
              <a:latin typeface="Geo"/>
              <a:ea typeface="Geo"/>
              <a:cs typeface="Geo"/>
              <a:sym typeface="Geo"/>
            </a:endParaRPr>
          </a:p>
          <a:p>
            <a:pPr indent="0" lvl="0" marL="0" marR="0" rtl="0" algn="l">
              <a:lnSpc>
                <a:spcPct val="100000"/>
              </a:lnSpc>
              <a:spcBef>
                <a:spcPts val="0"/>
              </a:spcBef>
              <a:spcAft>
                <a:spcPts val="0"/>
              </a:spcAft>
              <a:buClr>
                <a:srgbClr val="8CD872"/>
              </a:buClr>
              <a:buSzPts val="1400"/>
              <a:buNone/>
            </a:pPr>
            <a:r>
              <a:rPr b="1" i="0" lang="en-US" sz="1400" u="none" cap="none" strike="noStrike">
                <a:solidFill>
                  <a:srgbClr val="8CD872"/>
                </a:solidFill>
                <a:latin typeface="Geo"/>
                <a:ea typeface="Geo"/>
                <a:cs typeface="Geo"/>
                <a:sym typeface="Geo"/>
              </a:rPr>
              <a:t>Driver Empowerment</a:t>
            </a:r>
            <a:endParaRPr b="0" i="0" sz="1400" u="none" cap="none" strike="noStrike">
              <a:solidFill>
                <a:srgbClr val="8CD872"/>
              </a:solidFill>
              <a:latin typeface="Geo"/>
              <a:ea typeface="Geo"/>
              <a:cs typeface="Geo"/>
              <a:sym typeface="Geo"/>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Incentives for Wait Times:</a:t>
            </a:r>
            <a:r>
              <a:rPr b="0" i="0" lang="en-US" sz="1400" u="none" cap="none" strike="noStrike">
                <a:solidFill>
                  <a:schemeClr val="dk1"/>
                </a:solidFill>
                <a:latin typeface="Geo"/>
                <a:ea typeface="Geo"/>
                <a:cs typeface="Geo"/>
                <a:sym typeface="Geo"/>
              </a:rPr>
              <a:t> </a:t>
            </a:r>
            <a:r>
              <a:rPr b="1" i="0" lang="en-US" sz="1400" u="none" cap="none" strike="noStrike">
                <a:solidFill>
                  <a:schemeClr val="dk1"/>
                </a:solidFill>
                <a:latin typeface="Geo"/>
                <a:ea typeface="Geo"/>
                <a:cs typeface="Geo"/>
                <a:sym typeface="Geo"/>
              </a:rPr>
              <a:t>Reward drivers</a:t>
            </a:r>
            <a:r>
              <a:rPr b="0" i="0" lang="en-US" sz="1400" u="none" cap="none" strike="noStrike">
                <a:solidFill>
                  <a:schemeClr val="dk1"/>
                </a:solidFill>
                <a:latin typeface="Geo"/>
                <a:ea typeface="Geo"/>
                <a:cs typeface="Geo"/>
                <a:sym typeface="Geo"/>
              </a:rPr>
              <a:t> for waiting,&amp; for minimal cancelling encouraging better service.</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Community Focus:</a:t>
            </a:r>
            <a:r>
              <a:rPr b="0" i="0" lang="en-US" sz="1400" u="none" cap="none" strike="noStrike">
                <a:solidFill>
                  <a:schemeClr val="dk1"/>
                </a:solidFill>
                <a:latin typeface="Geo"/>
                <a:ea typeface="Geo"/>
                <a:cs typeface="Geo"/>
                <a:sym typeface="Geo"/>
              </a:rPr>
              <a:t> Promote a </a:t>
            </a:r>
            <a:r>
              <a:rPr b="1" i="0" lang="en-US" sz="1400" u="none" cap="none" strike="noStrike">
                <a:solidFill>
                  <a:schemeClr val="dk1"/>
                </a:solidFill>
                <a:latin typeface="Geo"/>
                <a:ea typeface="Geo"/>
                <a:cs typeface="Geo"/>
                <a:sym typeface="Geo"/>
              </a:rPr>
              <a:t>supportive environment</a:t>
            </a:r>
            <a:r>
              <a:rPr b="0" i="0" lang="en-US" sz="1400" u="none" cap="none" strike="noStrike">
                <a:solidFill>
                  <a:schemeClr val="dk1"/>
                </a:solidFill>
                <a:latin typeface="Geo"/>
                <a:ea typeface="Geo"/>
                <a:cs typeface="Geo"/>
                <a:sym typeface="Geo"/>
              </a:rPr>
              <a:t> for drivers, leading to higher service quality.</a:t>
            </a:r>
            <a:endParaRPr/>
          </a:p>
          <a:p>
            <a:pPr indent="0" lvl="0" marL="0" rtl="0" algn="l">
              <a:lnSpc>
                <a:spcPct val="100000"/>
              </a:lnSpc>
              <a:spcBef>
                <a:spcPts val="0"/>
              </a:spcBef>
              <a:spcAft>
                <a:spcPts val="0"/>
              </a:spcAft>
              <a:buClr>
                <a:schemeClr val="dk1"/>
              </a:buClr>
              <a:buSzPts val="1400"/>
              <a:buNone/>
            </a:pPr>
            <a:r>
              <a:t/>
            </a:r>
            <a:endParaRPr b="0" i="0" sz="1400" u="none" cap="none" strike="noStrike">
              <a:solidFill>
                <a:schemeClr val="dk1"/>
              </a:solidFill>
              <a:latin typeface="Geo"/>
              <a:ea typeface="Geo"/>
              <a:cs typeface="Geo"/>
              <a:sym typeface="Geo"/>
            </a:endParaRPr>
          </a:p>
          <a:p>
            <a:pPr indent="0" lvl="0" marL="0" marR="0" rtl="0" algn="l">
              <a:lnSpc>
                <a:spcPct val="100000"/>
              </a:lnSpc>
              <a:spcBef>
                <a:spcPts val="0"/>
              </a:spcBef>
              <a:spcAft>
                <a:spcPts val="0"/>
              </a:spcAft>
              <a:buClr>
                <a:srgbClr val="8CD872"/>
              </a:buClr>
              <a:buSzPts val="1400"/>
              <a:buNone/>
            </a:pPr>
            <a:r>
              <a:rPr b="1" i="0" lang="en-US" sz="1400" u="none" cap="none" strike="noStrike">
                <a:solidFill>
                  <a:srgbClr val="8CD872"/>
                </a:solidFill>
                <a:latin typeface="Geo"/>
                <a:ea typeface="Geo"/>
                <a:cs typeface="Geo"/>
                <a:sym typeface="Geo"/>
              </a:rPr>
              <a:t>Technological Innovation</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Smart Booking Suggestions:</a:t>
            </a:r>
            <a:r>
              <a:rPr b="0" i="0" lang="en-US" sz="1400" u="none" cap="none" strike="noStrike">
                <a:solidFill>
                  <a:schemeClr val="dk1"/>
                </a:solidFill>
                <a:latin typeface="Geo"/>
                <a:ea typeface="Geo"/>
                <a:cs typeface="Geo"/>
                <a:sym typeface="Geo"/>
              </a:rPr>
              <a:t> Use </a:t>
            </a:r>
            <a:r>
              <a:rPr b="1" i="0" lang="en-US" sz="1400" u="none" cap="none" strike="noStrike">
                <a:solidFill>
                  <a:schemeClr val="dk1"/>
                </a:solidFill>
                <a:latin typeface="Geo"/>
                <a:ea typeface="Geo"/>
                <a:cs typeface="Geo"/>
                <a:sym typeface="Geo"/>
              </a:rPr>
              <a:t>past ride data</a:t>
            </a:r>
            <a:r>
              <a:rPr b="0" i="0" lang="en-US" sz="1400" u="none" cap="none" strike="noStrike">
                <a:solidFill>
                  <a:schemeClr val="dk1"/>
                </a:solidFill>
                <a:latin typeface="Geo"/>
                <a:ea typeface="Geo"/>
                <a:cs typeface="Geo"/>
                <a:sym typeface="Geo"/>
              </a:rPr>
              <a:t> to suggest the </a:t>
            </a:r>
            <a:r>
              <a:rPr b="1" i="0" lang="en-US" sz="1400" u="none" cap="none" strike="noStrike">
                <a:solidFill>
                  <a:schemeClr val="dk1"/>
                </a:solidFill>
                <a:latin typeface="Geo"/>
                <a:ea typeface="Geo"/>
                <a:cs typeface="Geo"/>
                <a:sym typeface="Geo"/>
              </a:rPr>
              <a:t>best times to book</a:t>
            </a:r>
            <a:r>
              <a:rPr b="0" i="0" lang="en-US" sz="1400" u="none" cap="none" strike="noStrike">
                <a:solidFill>
                  <a:schemeClr val="dk1"/>
                </a:solidFill>
                <a:latin typeface="Geo"/>
                <a:ea typeface="Geo"/>
                <a:cs typeface="Geo"/>
                <a:sym typeface="Geo"/>
              </a:rPr>
              <a:t> and show nearby vehicles for </a:t>
            </a:r>
            <a:r>
              <a:rPr b="1" i="0" lang="en-US" sz="1400" u="none" cap="none" strike="noStrike">
                <a:solidFill>
                  <a:schemeClr val="dk1"/>
                </a:solidFill>
                <a:latin typeface="Geo"/>
                <a:ea typeface="Geo"/>
                <a:cs typeface="Geo"/>
                <a:sym typeface="Geo"/>
              </a:rPr>
              <a:t>regular routes</a:t>
            </a:r>
            <a:r>
              <a:rPr b="0" i="0" lang="en-US" sz="1400" u="none" cap="none" strike="noStrike">
                <a:solidFill>
                  <a:schemeClr val="dk1"/>
                </a:solidFill>
                <a:latin typeface="Geo"/>
                <a:ea typeface="Geo"/>
                <a:cs typeface="Geo"/>
                <a:sym typeface="Geo"/>
              </a:rPr>
              <a:t>.</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Safety Alerts:</a:t>
            </a:r>
            <a:r>
              <a:rPr b="0" i="0" lang="en-US" sz="1400" u="none" cap="none" strike="noStrike">
                <a:solidFill>
                  <a:schemeClr val="dk1"/>
                </a:solidFill>
                <a:latin typeface="Geo"/>
                <a:ea typeface="Geo"/>
                <a:cs typeface="Geo"/>
                <a:sym typeface="Geo"/>
              </a:rPr>
              <a:t> </a:t>
            </a:r>
            <a:r>
              <a:rPr i="0" lang="en-US" sz="1400" u="none" cap="none" strike="noStrike">
                <a:solidFill>
                  <a:schemeClr val="dk1"/>
                </a:solidFill>
                <a:latin typeface="Geo"/>
                <a:ea typeface="Geo"/>
                <a:cs typeface="Geo"/>
                <a:sym typeface="Geo"/>
              </a:rPr>
              <a:t>Notify</a:t>
            </a:r>
            <a:r>
              <a:rPr b="0" i="0" lang="en-US" sz="1400" u="none" cap="none" strike="noStrike">
                <a:solidFill>
                  <a:schemeClr val="dk1"/>
                </a:solidFill>
                <a:latin typeface="Geo"/>
                <a:ea typeface="Geo"/>
                <a:cs typeface="Geo"/>
                <a:sym typeface="Geo"/>
              </a:rPr>
              <a:t> users if their ride is stationary for too long or if there’s an </a:t>
            </a:r>
            <a:r>
              <a:rPr b="1" i="0" lang="en-US" sz="1400" u="none" cap="none" strike="noStrike">
                <a:solidFill>
                  <a:schemeClr val="dk1"/>
                </a:solidFill>
                <a:latin typeface="Geo"/>
                <a:ea typeface="Geo"/>
                <a:cs typeface="Geo"/>
                <a:sym typeface="Geo"/>
              </a:rPr>
              <a:t>unexpected route change</a:t>
            </a:r>
            <a:r>
              <a:rPr b="0" i="0" lang="en-US" sz="1400" u="none" cap="none" strike="noStrike">
                <a:solidFill>
                  <a:schemeClr val="dk1"/>
                </a:solidFill>
                <a:latin typeface="Geo"/>
                <a:ea typeface="Geo"/>
                <a:cs typeface="Geo"/>
                <a:sym typeface="Geo"/>
              </a:rPr>
              <a:t>.</a:t>
            </a:r>
            <a:endParaRPr/>
          </a:p>
          <a:p>
            <a:pPr indent="0" lvl="0" marL="0" rtl="0" algn="l">
              <a:lnSpc>
                <a:spcPct val="100000"/>
              </a:lnSpc>
              <a:spcBef>
                <a:spcPts val="0"/>
              </a:spcBef>
              <a:spcAft>
                <a:spcPts val="0"/>
              </a:spcAft>
              <a:buClr>
                <a:schemeClr val="dk1"/>
              </a:buClr>
              <a:buSzPts val="1400"/>
              <a:buNone/>
            </a:pPr>
            <a:r>
              <a:t/>
            </a:r>
            <a:endParaRPr b="0" i="0" sz="1400" u="none" cap="none" strike="noStrike">
              <a:solidFill>
                <a:schemeClr val="dk1"/>
              </a:solidFill>
              <a:latin typeface="Geo"/>
              <a:ea typeface="Geo"/>
              <a:cs typeface="Geo"/>
              <a:sym typeface="Geo"/>
            </a:endParaRPr>
          </a:p>
          <a:p>
            <a:pPr indent="0" lvl="0" marL="0" rtl="0" algn="l">
              <a:lnSpc>
                <a:spcPct val="100000"/>
              </a:lnSpc>
              <a:spcBef>
                <a:spcPts val="0"/>
              </a:spcBef>
              <a:spcAft>
                <a:spcPts val="0"/>
              </a:spcAft>
              <a:buClr>
                <a:srgbClr val="8CD872"/>
              </a:buClr>
              <a:buSzPts val="1400"/>
              <a:buNone/>
            </a:pPr>
            <a:r>
              <a:rPr b="1" lang="en-US" sz="1400">
                <a:solidFill>
                  <a:srgbClr val="8CD872"/>
                </a:solidFill>
                <a:latin typeface="Geo"/>
                <a:ea typeface="Geo"/>
                <a:cs typeface="Geo"/>
                <a:sym typeface="Geo"/>
              </a:rPr>
              <a:t>Enhanced Customer Support</a:t>
            </a:r>
            <a:endParaRPr/>
          </a:p>
          <a:p>
            <a:pPr indent="-228600" lvl="0" marL="228600" rtl="0" algn="l">
              <a:lnSpc>
                <a:spcPct val="100000"/>
              </a:lnSpc>
              <a:spcBef>
                <a:spcPts val="0"/>
              </a:spcBef>
              <a:spcAft>
                <a:spcPts val="0"/>
              </a:spcAft>
              <a:buClr>
                <a:schemeClr val="dk1"/>
              </a:buClr>
              <a:buSzPts val="1400"/>
              <a:buChar char="•"/>
            </a:pPr>
            <a:r>
              <a:rPr b="1" lang="en-US" sz="1400">
                <a:latin typeface="Geo"/>
                <a:ea typeface="Geo"/>
                <a:cs typeface="Geo"/>
                <a:sym typeface="Geo"/>
              </a:rPr>
              <a:t>In-App Support and Call Feature</a:t>
            </a:r>
            <a:r>
              <a:rPr lang="en-US" sz="1400">
                <a:latin typeface="Geo"/>
                <a:ea typeface="Geo"/>
                <a:cs typeface="Geo"/>
                <a:sym typeface="Geo"/>
              </a:rPr>
              <a:t>: Integrate in-app customer support with a call option for immediate assistance, addressing a major concern in both app reviews and surveys.</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Advanced SOS Features:</a:t>
            </a:r>
            <a:r>
              <a:rPr b="0" i="0" lang="en-US" sz="1400" u="none" cap="none" strike="noStrike">
                <a:solidFill>
                  <a:schemeClr val="dk1"/>
                </a:solidFill>
                <a:latin typeface="Geo"/>
                <a:ea typeface="Geo"/>
                <a:cs typeface="Geo"/>
                <a:sym typeface="Geo"/>
              </a:rPr>
              <a:t> Improve the </a:t>
            </a:r>
            <a:r>
              <a:rPr i="0" lang="en-US" sz="1400" u="none" cap="none" strike="noStrike">
                <a:solidFill>
                  <a:schemeClr val="dk1"/>
                </a:solidFill>
                <a:latin typeface="Geo"/>
                <a:ea typeface="Geo"/>
                <a:cs typeface="Geo"/>
                <a:sym typeface="Geo"/>
              </a:rPr>
              <a:t>SOS feature </a:t>
            </a:r>
            <a:r>
              <a:rPr b="0" i="0" lang="en-US" sz="1400" u="none" cap="none" strike="noStrike">
                <a:solidFill>
                  <a:schemeClr val="dk1"/>
                </a:solidFill>
                <a:latin typeface="Geo"/>
                <a:ea typeface="Geo"/>
                <a:cs typeface="Geo"/>
                <a:sym typeface="Geo"/>
              </a:rPr>
              <a:t>by integrating </a:t>
            </a:r>
            <a:r>
              <a:rPr b="1" i="0" lang="en-US" sz="1400" u="none" cap="none" strike="noStrike">
                <a:solidFill>
                  <a:schemeClr val="dk1"/>
                </a:solidFill>
                <a:latin typeface="Geo"/>
                <a:ea typeface="Geo"/>
                <a:cs typeface="Geo"/>
                <a:sym typeface="Geo"/>
              </a:rPr>
              <a:t>in-app customer support</a:t>
            </a:r>
            <a:r>
              <a:rPr b="0" i="0" lang="en-US" sz="1400" u="none" cap="none" strike="noStrike">
                <a:solidFill>
                  <a:schemeClr val="dk1"/>
                </a:solidFill>
                <a:latin typeface="Geo"/>
                <a:ea typeface="Geo"/>
                <a:cs typeface="Geo"/>
                <a:sym typeface="Geo"/>
              </a:rPr>
              <a:t> and an </a:t>
            </a:r>
            <a:r>
              <a:rPr b="1" i="0" lang="en-US" sz="1400" u="none" cap="none" strike="noStrike">
                <a:solidFill>
                  <a:schemeClr val="dk1"/>
                </a:solidFill>
                <a:latin typeface="Geo"/>
                <a:ea typeface="Geo"/>
                <a:cs typeface="Geo"/>
                <a:sym typeface="Geo"/>
              </a:rPr>
              <a:t>emergency call option</a:t>
            </a:r>
            <a:r>
              <a:rPr b="0" i="0" lang="en-US" sz="1400" u="none" cap="none" strike="noStrike">
                <a:solidFill>
                  <a:schemeClr val="dk1"/>
                </a:solidFill>
                <a:latin typeface="Geo"/>
                <a:ea typeface="Geo"/>
                <a:cs typeface="Geo"/>
                <a:sym typeface="Geo"/>
              </a:rPr>
              <a:t> for immediate assistance</a:t>
            </a:r>
            <a:endParaRPr/>
          </a:p>
          <a:p>
            <a:pPr indent="0" lvl="0" marL="0" rtl="0" algn="l">
              <a:lnSpc>
                <a:spcPct val="100000"/>
              </a:lnSpc>
              <a:spcBef>
                <a:spcPts val="0"/>
              </a:spcBef>
              <a:spcAft>
                <a:spcPts val="0"/>
              </a:spcAft>
              <a:buClr>
                <a:schemeClr val="dk1"/>
              </a:buClr>
              <a:buSzPts val="1400"/>
              <a:buNone/>
            </a:pPr>
            <a:r>
              <a:t/>
            </a:r>
            <a:endParaRPr b="0" i="0" sz="1400" u="none" cap="none" strike="noStrike">
              <a:solidFill>
                <a:schemeClr val="dk1"/>
              </a:solidFill>
              <a:latin typeface="Geo"/>
              <a:ea typeface="Geo"/>
              <a:cs typeface="Geo"/>
              <a:sym typeface="Geo"/>
            </a:endParaRPr>
          </a:p>
          <a:p>
            <a:pPr indent="0" lvl="0" marL="0" marR="0" rtl="0" algn="l">
              <a:lnSpc>
                <a:spcPct val="100000"/>
              </a:lnSpc>
              <a:spcBef>
                <a:spcPts val="0"/>
              </a:spcBef>
              <a:spcAft>
                <a:spcPts val="0"/>
              </a:spcAft>
              <a:buClr>
                <a:srgbClr val="8CD872"/>
              </a:buClr>
              <a:buSzPts val="1400"/>
              <a:buNone/>
            </a:pPr>
            <a:r>
              <a:rPr b="1" i="0" lang="en-US" sz="1400" u="none" cap="none" strike="noStrike">
                <a:solidFill>
                  <a:srgbClr val="8CD872"/>
                </a:solidFill>
                <a:latin typeface="Geo"/>
                <a:ea typeface="Geo"/>
                <a:cs typeface="Geo"/>
                <a:sym typeface="Geo"/>
              </a:rPr>
              <a:t>Operational Efficiency</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User-Friendly Design:</a:t>
            </a:r>
            <a:r>
              <a:rPr b="0" i="0" lang="en-US" sz="1400" u="none" cap="none" strike="noStrike">
                <a:solidFill>
                  <a:schemeClr val="dk1"/>
                </a:solidFill>
                <a:latin typeface="Geo"/>
                <a:ea typeface="Geo"/>
                <a:cs typeface="Geo"/>
                <a:sym typeface="Geo"/>
              </a:rPr>
              <a:t> Ensure the app is </a:t>
            </a:r>
            <a:r>
              <a:rPr b="1" i="0" lang="en-US" sz="1400" u="none" cap="none" strike="noStrike">
                <a:solidFill>
                  <a:schemeClr val="dk1"/>
                </a:solidFill>
                <a:latin typeface="Geo"/>
                <a:ea typeface="Geo"/>
                <a:cs typeface="Geo"/>
                <a:sym typeface="Geo"/>
              </a:rPr>
              <a:t>easy to navigate</a:t>
            </a:r>
            <a:r>
              <a:rPr b="0" i="0" lang="en-US" sz="1400" u="none" cap="none" strike="noStrike">
                <a:solidFill>
                  <a:schemeClr val="dk1"/>
                </a:solidFill>
                <a:latin typeface="Geo"/>
                <a:ea typeface="Geo"/>
                <a:cs typeface="Geo"/>
                <a:sym typeface="Geo"/>
              </a:rPr>
              <a:t> and efficient in its operations.</a:t>
            </a:r>
            <a:endParaRPr/>
          </a:p>
          <a:p>
            <a:pPr indent="-228600" lvl="0" marL="228600" rtl="0" algn="l">
              <a:lnSpc>
                <a:spcPct val="100000"/>
              </a:lnSpc>
              <a:spcBef>
                <a:spcPts val="0"/>
              </a:spcBef>
              <a:spcAft>
                <a:spcPts val="0"/>
              </a:spcAft>
              <a:buClr>
                <a:schemeClr val="dk1"/>
              </a:buClr>
              <a:buSzPts val="1400"/>
              <a:buChar char="•"/>
            </a:pPr>
            <a:r>
              <a:rPr b="1" i="0" lang="en-US" sz="1400" u="none" cap="none" strike="noStrike">
                <a:solidFill>
                  <a:schemeClr val="dk1"/>
                </a:solidFill>
                <a:latin typeface="Geo"/>
                <a:ea typeface="Geo"/>
                <a:cs typeface="Geo"/>
                <a:sym typeface="Geo"/>
              </a:rPr>
              <a:t>Optimized Performance:</a:t>
            </a:r>
            <a:r>
              <a:rPr b="0" i="0" lang="en-US" sz="1400" u="none" cap="none" strike="noStrike">
                <a:solidFill>
                  <a:schemeClr val="dk1"/>
                </a:solidFill>
                <a:latin typeface="Geo"/>
                <a:ea typeface="Geo"/>
                <a:cs typeface="Geo"/>
                <a:sym typeface="Geo"/>
              </a:rPr>
              <a:t> Maintain a </a:t>
            </a:r>
            <a:r>
              <a:rPr b="1" i="0" lang="en-US" sz="1400" u="none" cap="none" strike="noStrike">
                <a:solidFill>
                  <a:schemeClr val="dk1"/>
                </a:solidFill>
                <a:latin typeface="Geo"/>
                <a:ea typeface="Geo"/>
                <a:cs typeface="Geo"/>
                <a:sym typeface="Geo"/>
              </a:rPr>
              <a:t>balance</a:t>
            </a:r>
            <a:r>
              <a:rPr b="0" i="0" lang="en-US" sz="1400" u="none" cap="none" strike="noStrike">
                <a:solidFill>
                  <a:schemeClr val="dk1"/>
                </a:solidFill>
                <a:latin typeface="Geo"/>
                <a:ea typeface="Geo"/>
                <a:cs typeface="Geo"/>
                <a:sym typeface="Geo"/>
              </a:rPr>
              <a:t> between </a:t>
            </a:r>
            <a:r>
              <a:rPr b="1" i="0" lang="en-US" sz="1400" u="none" cap="none" strike="noStrike">
                <a:solidFill>
                  <a:schemeClr val="dk1"/>
                </a:solidFill>
                <a:latin typeface="Geo"/>
                <a:ea typeface="Geo"/>
                <a:cs typeface="Geo"/>
                <a:sym typeface="Geo"/>
              </a:rPr>
              <a:t>simplicity</a:t>
            </a:r>
            <a:r>
              <a:rPr b="0" i="0" lang="en-US" sz="1400" u="none" cap="none" strike="noStrike">
                <a:solidFill>
                  <a:schemeClr val="dk1"/>
                </a:solidFill>
                <a:latin typeface="Geo"/>
                <a:ea typeface="Geo"/>
                <a:cs typeface="Geo"/>
                <a:sym typeface="Geo"/>
              </a:rPr>
              <a:t> and robust features to enhance the user experience.</a:t>
            </a:r>
            <a:endParaRPr/>
          </a:p>
          <a:p>
            <a:pPr indent="0" lvl="0" marL="0" marR="0" rtl="0" algn="l">
              <a:lnSpc>
                <a:spcPct val="100000"/>
              </a:lnSpc>
              <a:spcBef>
                <a:spcPts val="0"/>
              </a:spcBef>
              <a:spcAft>
                <a:spcPts val="0"/>
              </a:spcAft>
              <a:buClr>
                <a:schemeClr val="dk1"/>
              </a:buClr>
              <a:buSzPts val="1400"/>
              <a:buFont typeface="Geo"/>
              <a:buNone/>
            </a:pPr>
            <a:r>
              <a:t/>
            </a:r>
            <a:endParaRPr b="0" i="0" sz="1400" u="none" cap="none" strike="noStrike">
              <a:solidFill>
                <a:schemeClr val="dk1"/>
              </a:solidFill>
              <a:latin typeface="Geo"/>
              <a:ea typeface="Geo"/>
              <a:cs typeface="Geo"/>
              <a:sym typeface="Ge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3"/>
          <p:cNvSpPr txBox="1"/>
          <p:nvPr>
            <p:ph type="title"/>
          </p:nvPr>
        </p:nvSpPr>
        <p:spPr>
          <a:xfrm>
            <a:off x="0" y="0"/>
            <a:ext cx="12192000" cy="1858780"/>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TRADE OFFS</a:t>
            </a:r>
            <a:br>
              <a:rPr lang="en-US"/>
            </a:br>
            <a:endParaRPr/>
          </a:p>
        </p:txBody>
      </p:sp>
      <p:sp>
        <p:nvSpPr>
          <p:cNvPr id="440" name="Google Shape;440;p33"/>
          <p:cNvSpPr txBox="1"/>
          <p:nvPr>
            <p:ph idx="1" type="body"/>
          </p:nvPr>
        </p:nvSpPr>
        <p:spPr>
          <a:xfrm>
            <a:off x="0" y="1019330"/>
            <a:ext cx="12192000" cy="5838669"/>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t>Balancing key priorities in our product strategy involves trade-offs to ensure safety, support, and innovation while maintaining a user-friendly experience</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b="1" lang="en-US" sz="2200"/>
              <a:t>1. </a:t>
            </a:r>
            <a:r>
              <a:rPr b="1" lang="en-US" sz="2200">
                <a:latin typeface="Geo"/>
                <a:ea typeface="Geo"/>
                <a:cs typeface="Geo"/>
                <a:sym typeface="Geo"/>
              </a:rPr>
              <a:t>Safety vs. Costs</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Decision:</a:t>
            </a:r>
            <a:r>
              <a:rPr lang="en-US" sz="2200">
                <a:latin typeface="Geo"/>
                <a:ea typeface="Geo"/>
                <a:cs typeface="Geo"/>
                <a:sym typeface="Geo"/>
              </a:rPr>
              <a:t> Prioritize safety features like real-time monitoring and driver safety ratings.</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Trade-Off:</a:t>
            </a:r>
            <a:r>
              <a:rPr lang="en-US" sz="2200">
                <a:latin typeface="Geo"/>
                <a:ea typeface="Geo"/>
                <a:cs typeface="Geo"/>
                <a:sym typeface="Geo"/>
              </a:rPr>
              <a:t> Higher operational costs, but ensures user trust and long-term loyalty.</a:t>
            </a:r>
            <a:endParaRPr/>
          </a:p>
          <a:p>
            <a:pPr indent="0" lvl="0" marL="0" rtl="0" algn="l">
              <a:lnSpc>
                <a:spcPct val="90000"/>
              </a:lnSpc>
              <a:spcBef>
                <a:spcPts val="1000"/>
              </a:spcBef>
              <a:spcAft>
                <a:spcPts val="0"/>
              </a:spcAft>
              <a:buClr>
                <a:schemeClr val="dk1"/>
              </a:buClr>
              <a:buSzPct val="100000"/>
              <a:buNone/>
            </a:pPr>
            <a:r>
              <a:rPr b="1" lang="en-US" sz="2200">
                <a:latin typeface="Geo"/>
                <a:ea typeface="Geo"/>
                <a:cs typeface="Geo"/>
                <a:sym typeface="Geo"/>
              </a:rPr>
              <a:t>2. Support vs. Features</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Decision:</a:t>
            </a:r>
            <a:r>
              <a:rPr lang="en-US" sz="2200">
                <a:latin typeface="Geo"/>
                <a:ea typeface="Geo"/>
                <a:cs typeface="Geo"/>
                <a:sym typeface="Geo"/>
              </a:rPr>
              <a:t> Enhance customer support with in-app help and emergency call options.</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Trade-Off:</a:t>
            </a:r>
            <a:r>
              <a:rPr lang="en-US" sz="2200">
                <a:latin typeface="Geo"/>
                <a:ea typeface="Geo"/>
                <a:cs typeface="Geo"/>
                <a:sym typeface="Geo"/>
              </a:rPr>
              <a:t> Slower introduction of complex features to maintain an intuitive interface.</a:t>
            </a:r>
            <a:endParaRPr/>
          </a:p>
          <a:p>
            <a:pPr indent="0" lvl="0" marL="0" rtl="0" algn="l">
              <a:lnSpc>
                <a:spcPct val="90000"/>
              </a:lnSpc>
              <a:spcBef>
                <a:spcPts val="1000"/>
              </a:spcBef>
              <a:spcAft>
                <a:spcPts val="0"/>
              </a:spcAft>
              <a:buClr>
                <a:schemeClr val="dk1"/>
              </a:buClr>
              <a:buSzPct val="100000"/>
              <a:buNone/>
            </a:pPr>
            <a:r>
              <a:rPr b="1" lang="en-US" sz="2200">
                <a:latin typeface="Geo"/>
                <a:ea typeface="Geo"/>
                <a:cs typeface="Geo"/>
                <a:sym typeface="Geo"/>
              </a:rPr>
              <a:t>3. Quick Rides vs. Affordability</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Decision:</a:t>
            </a:r>
            <a:r>
              <a:rPr lang="en-US" sz="2200">
                <a:latin typeface="Geo"/>
                <a:ea typeface="Geo"/>
                <a:cs typeface="Geo"/>
                <a:sym typeface="Geo"/>
              </a:rPr>
              <a:t> Provide instant ride options for urgent needs</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Trade-Off:</a:t>
            </a:r>
            <a:r>
              <a:rPr lang="en-US" sz="2200">
                <a:latin typeface="Geo"/>
                <a:ea typeface="Geo"/>
                <a:cs typeface="Geo"/>
                <a:sym typeface="Geo"/>
              </a:rPr>
              <a:t> Premium pricing for immediate availability, balanced by affordable shared options for cost-sensitive users.</a:t>
            </a:r>
            <a:endParaRPr/>
          </a:p>
          <a:p>
            <a:pPr indent="0" lvl="0" marL="0" rtl="0" algn="l">
              <a:lnSpc>
                <a:spcPct val="90000"/>
              </a:lnSpc>
              <a:spcBef>
                <a:spcPts val="1000"/>
              </a:spcBef>
              <a:spcAft>
                <a:spcPts val="0"/>
              </a:spcAft>
              <a:buClr>
                <a:schemeClr val="dk1"/>
              </a:buClr>
              <a:buSzPct val="100000"/>
              <a:buNone/>
            </a:pPr>
            <a:r>
              <a:rPr b="1" lang="en-US" sz="2200">
                <a:latin typeface="Geo"/>
                <a:ea typeface="Geo"/>
                <a:cs typeface="Geo"/>
                <a:sym typeface="Geo"/>
              </a:rPr>
              <a:t>4. Innovation vs. Growth</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Decision:</a:t>
            </a:r>
            <a:r>
              <a:rPr lang="en-US" sz="2200">
                <a:latin typeface="Geo"/>
                <a:ea typeface="Geo"/>
                <a:cs typeface="Geo"/>
                <a:sym typeface="Geo"/>
              </a:rPr>
              <a:t> Invest in AI and predictive analytics to enhance safety and user experience.</a:t>
            </a:r>
            <a:endParaRPr/>
          </a:p>
          <a:p>
            <a:pPr indent="-228600" lvl="1" marL="685800" rtl="0" algn="l">
              <a:lnSpc>
                <a:spcPct val="90000"/>
              </a:lnSpc>
              <a:spcBef>
                <a:spcPts val="500"/>
              </a:spcBef>
              <a:spcAft>
                <a:spcPts val="0"/>
              </a:spcAft>
              <a:buClr>
                <a:schemeClr val="dk1"/>
              </a:buClr>
              <a:buSzPct val="100000"/>
              <a:buChar char="•"/>
            </a:pPr>
            <a:r>
              <a:rPr b="1" lang="en-US" sz="2200">
                <a:latin typeface="Geo"/>
                <a:ea typeface="Geo"/>
                <a:cs typeface="Geo"/>
                <a:sym typeface="Geo"/>
              </a:rPr>
              <a:t>Trade-Off:</a:t>
            </a:r>
            <a:r>
              <a:rPr lang="en-US" sz="2200">
                <a:latin typeface="Geo"/>
                <a:ea typeface="Geo"/>
                <a:cs typeface="Geo"/>
                <a:sym typeface="Geo"/>
              </a:rPr>
              <a:t> Slower expansion in other areas like marketing or new markets.</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4"/>
          <p:cNvSpPr txBox="1"/>
          <p:nvPr>
            <p:ph type="title"/>
          </p:nvPr>
        </p:nvSpPr>
        <p:spPr>
          <a:xfrm>
            <a:off x="-1" y="0"/>
            <a:ext cx="12191999" cy="785932"/>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sz="4400"/>
              <a:t>MVP [Proposing New Features]</a:t>
            </a:r>
            <a:endParaRPr/>
          </a:p>
        </p:txBody>
      </p:sp>
      <p:graphicFrame>
        <p:nvGraphicFramePr>
          <p:cNvPr id="446" name="Google Shape;446;p34"/>
          <p:cNvGraphicFramePr/>
          <p:nvPr/>
        </p:nvGraphicFramePr>
        <p:xfrm>
          <a:off x="0" y="785932"/>
          <a:ext cx="3000000" cy="3000000"/>
        </p:xfrm>
        <a:graphic>
          <a:graphicData uri="http://schemas.openxmlformats.org/drawingml/2006/table">
            <a:tbl>
              <a:tblPr bandCol="1" bandRow="1" firstRow="1">
                <a:noFill/>
                <a:tableStyleId>{E73E3090-88B2-4E8C-A6E2-E0969ED46B26}</a:tableStyleId>
              </a:tblPr>
              <a:tblGrid>
                <a:gridCol w="2171600"/>
                <a:gridCol w="3678650"/>
                <a:gridCol w="2996475"/>
                <a:gridCol w="3345275"/>
              </a:tblGrid>
              <a:tr h="374400">
                <a:tc>
                  <a:txBody>
                    <a:bodyPr/>
                    <a:lstStyle/>
                    <a:p>
                      <a:pPr indent="0" lvl="0" marL="0" marR="0" rtl="0" algn="l">
                        <a:spcBef>
                          <a:spcPts val="0"/>
                        </a:spcBef>
                        <a:spcAft>
                          <a:spcPts val="0"/>
                        </a:spcAft>
                        <a:buNone/>
                      </a:pPr>
                      <a:r>
                        <a:rPr lang="en-US" sz="1800"/>
                        <a:t>Feature</a:t>
                      </a:r>
                      <a:endParaRPr/>
                    </a:p>
                  </a:txBody>
                  <a:tcPr marT="45725" marB="45725" marR="91450" marL="91450" anchor="ctr"/>
                </a:tc>
                <a:tc>
                  <a:txBody>
                    <a:bodyPr/>
                    <a:lstStyle/>
                    <a:p>
                      <a:pPr indent="0" lvl="0" marL="0" marR="0" rtl="0" algn="l">
                        <a:spcBef>
                          <a:spcPts val="0"/>
                        </a:spcBef>
                        <a:spcAft>
                          <a:spcPts val="0"/>
                        </a:spcAft>
                        <a:buNone/>
                      </a:pPr>
                      <a:r>
                        <a:rPr lang="en-US" sz="1800"/>
                        <a:t>Key Features</a:t>
                      </a:r>
                      <a:endParaRPr/>
                    </a:p>
                  </a:txBody>
                  <a:tcPr marT="45725" marB="45725" marR="91450" marL="91450"/>
                </a:tc>
                <a:tc>
                  <a:txBody>
                    <a:bodyPr/>
                    <a:lstStyle/>
                    <a:p>
                      <a:pPr indent="0" lvl="0" marL="0" marR="0" rtl="0" algn="l">
                        <a:spcBef>
                          <a:spcPts val="0"/>
                        </a:spcBef>
                        <a:spcAft>
                          <a:spcPts val="0"/>
                        </a:spcAft>
                        <a:buNone/>
                      </a:pPr>
                      <a:r>
                        <a:rPr lang="en-US" sz="1800"/>
                        <a:t>Business Justification</a:t>
                      </a:r>
                      <a:endParaRPr/>
                    </a:p>
                  </a:txBody>
                  <a:tcPr marT="45725" marB="45725" marR="91450" marL="91450" anchor="ctr"/>
                </a:tc>
                <a:tc>
                  <a:txBody>
                    <a:bodyPr/>
                    <a:lstStyle/>
                    <a:p>
                      <a:pPr indent="0" lvl="0" marL="0" marR="0" rtl="0" algn="l">
                        <a:spcBef>
                          <a:spcPts val="0"/>
                        </a:spcBef>
                        <a:spcAft>
                          <a:spcPts val="0"/>
                        </a:spcAft>
                        <a:buNone/>
                      </a:pPr>
                      <a:r>
                        <a:rPr lang="en-US" sz="1800"/>
                        <a:t>Impact Expected</a:t>
                      </a:r>
                      <a:endParaRPr/>
                    </a:p>
                  </a:txBody>
                  <a:tcPr marT="45725" marB="45725" marR="91450" marL="91450" anchor="ctr"/>
                </a:tc>
              </a:tr>
              <a:tr h="998250">
                <a:tc>
                  <a:txBody>
                    <a:bodyPr/>
                    <a:lstStyle/>
                    <a:p>
                      <a:pPr indent="0" lvl="0" marL="0" marR="0" rtl="0" algn="l">
                        <a:spcBef>
                          <a:spcPts val="0"/>
                        </a:spcBef>
                        <a:spcAft>
                          <a:spcPts val="0"/>
                        </a:spcAft>
                        <a:buNone/>
                      </a:pPr>
                      <a:r>
                        <a:rPr lang="en-US" sz="1400"/>
                        <a:t>Guaranteed Ride Booking with Dynamic Pricing</a:t>
                      </a:r>
                      <a:endParaRPr sz="1400"/>
                    </a:p>
                  </a:txBody>
                  <a:tcPr marT="45725" marB="45725" marR="91450" marL="91450"/>
                </a:tc>
                <a:tc>
                  <a:txBody>
                    <a:bodyPr/>
                    <a:lstStyle/>
                    <a:p>
                      <a:pPr indent="0" lvl="0" marL="0" marR="0" rtl="0" algn="l">
                        <a:spcBef>
                          <a:spcPts val="0"/>
                        </a:spcBef>
                        <a:spcAft>
                          <a:spcPts val="0"/>
                        </a:spcAft>
                        <a:buNone/>
                      </a:pPr>
                      <a:r>
                        <a:rPr lang="en-US" sz="1400"/>
                        <a:t>Guaranteed ride booking within 10 minutes</a:t>
                      </a:r>
                      <a:endParaRPr/>
                    </a:p>
                    <a:p>
                      <a:pPr indent="0" lvl="0" marL="0" marR="0" rtl="0" algn="l">
                        <a:spcBef>
                          <a:spcPts val="0"/>
                        </a:spcBef>
                        <a:spcAft>
                          <a:spcPts val="0"/>
                        </a:spcAft>
                        <a:buNone/>
                      </a:pPr>
                      <a:r>
                        <a:rPr lang="en-US" sz="1400"/>
                        <a:t>Advanced Booking Discounts</a:t>
                      </a:r>
                      <a:endParaRPr/>
                    </a:p>
                    <a:p>
                      <a:pPr indent="0" lvl="0" marL="0" marR="0" rtl="0" algn="l">
                        <a:spcBef>
                          <a:spcPts val="0"/>
                        </a:spcBef>
                        <a:spcAft>
                          <a:spcPts val="0"/>
                        </a:spcAft>
                        <a:buNone/>
                      </a:pPr>
                      <a:r>
                        <a:rPr lang="en-US" sz="1400"/>
                        <a:t>Dynamic Pricing During High Demand</a:t>
                      </a:r>
                      <a:endParaRPr sz="1400"/>
                    </a:p>
                  </a:txBody>
                  <a:tcPr marT="45725" marB="45725" marR="91450" marL="91450"/>
                </a:tc>
                <a:tc>
                  <a:txBody>
                    <a:bodyPr/>
                    <a:lstStyle/>
                    <a:p>
                      <a:pPr indent="0" lvl="0" marL="0" marR="0" rtl="0" algn="l">
                        <a:spcBef>
                          <a:spcPts val="0"/>
                        </a:spcBef>
                        <a:spcAft>
                          <a:spcPts val="0"/>
                        </a:spcAft>
                        <a:buNone/>
                      </a:pPr>
                      <a:r>
                        <a:rPr lang="en-US" sz="1400"/>
                        <a:t>Enhanced Reliability</a:t>
                      </a:r>
                      <a:endParaRPr/>
                    </a:p>
                    <a:p>
                      <a:pPr indent="0" lvl="0" marL="0" marR="0" rtl="0" algn="l">
                        <a:spcBef>
                          <a:spcPts val="0"/>
                        </a:spcBef>
                        <a:spcAft>
                          <a:spcPts val="0"/>
                        </a:spcAft>
                        <a:buNone/>
                      </a:pPr>
                      <a:r>
                        <a:rPr lang="en-US" sz="1400"/>
                        <a:t>Increased Revenue</a:t>
                      </a:r>
                      <a:endParaRPr/>
                    </a:p>
                    <a:p>
                      <a:pPr indent="0" lvl="0" marL="0" marR="0" rtl="0" algn="l">
                        <a:spcBef>
                          <a:spcPts val="0"/>
                        </a:spcBef>
                        <a:spcAft>
                          <a:spcPts val="0"/>
                        </a:spcAft>
                        <a:buNone/>
                      </a:pPr>
                      <a:r>
                        <a:rPr lang="en-US" sz="1400"/>
                        <a:t>Increased Driver Motivation</a:t>
                      </a:r>
                      <a:endParaRPr/>
                    </a:p>
                    <a:p>
                      <a:pPr indent="0" lvl="0" marL="0" marR="0" rtl="0" algn="l">
                        <a:spcBef>
                          <a:spcPts val="0"/>
                        </a:spcBef>
                        <a:spcAft>
                          <a:spcPts val="0"/>
                        </a:spcAft>
                        <a:buNone/>
                      </a:pPr>
                      <a:r>
                        <a:rPr lang="en-US" sz="1400"/>
                        <a:t>Lesser Cancellations</a:t>
                      </a:r>
                      <a:endParaRPr sz="1400"/>
                    </a:p>
                  </a:txBody>
                  <a:tcPr marT="45725" marB="45725" marR="91450" marL="91450"/>
                </a:tc>
                <a:tc>
                  <a:txBody>
                    <a:bodyPr/>
                    <a:lstStyle/>
                    <a:p>
                      <a:pPr indent="0" lvl="0" marL="0" marR="0" rtl="0" algn="l">
                        <a:spcBef>
                          <a:spcPts val="0"/>
                        </a:spcBef>
                        <a:spcAft>
                          <a:spcPts val="0"/>
                        </a:spcAft>
                        <a:buNone/>
                      </a:pPr>
                      <a:r>
                        <a:rPr lang="en-US" sz="1400"/>
                        <a:t>Improved User Satisfaction</a:t>
                      </a:r>
                      <a:endParaRPr/>
                    </a:p>
                    <a:p>
                      <a:pPr indent="0" lvl="0" marL="0" marR="0" rtl="0" algn="l">
                        <a:spcBef>
                          <a:spcPts val="0"/>
                        </a:spcBef>
                        <a:spcAft>
                          <a:spcPts val="0"/>
                        </a:spcAft>
                        <a:buNone/>
                      </a:pPr>
                      <a:r>
                        <a:rPr lang="en-US" sz="1400"/>
                        <a:t>Higher Ride Volume</a:t>
                      </a:r>
                      <a:endParaRPr/>
                    </a:p>
                    <a:p>
                      <a:pPr indent="0" lvl="0" marL="0" marR="0" rtl="0" algn="l">
                        <a:spcBef>
                          <a:spcPts val="0"/>
                        </a:spcBef>
                        <a:spcAft>
                          <a:spcPts val="0"/>
                        </a:spcAft>
                        <a:buNone/>
                      </a:pPr>
                      <a:r>
                        <a:rPr lang="en-US" sz="1400"/>
                        <a:t>Increased Driver Engagement</a:t>
                      </a:r>
                      <a:endParaRPr sz="1400"/>
                    </a:p>
                  </a:txBody>
                  <a:tcPr marT="45725" marB="45725" marR="91450" marL="91450"/>
                </a:tc>
              </a:tr>
              <a:tr h="1034325">
                <a:tc>
                  <a:txBody>
                    <a:bodyPr/>
                    <a:lstStyle/>
                    <a:p>
                      <a:pPr indent="0" lvl="0" marL="0" marR="0" rtl="0" algn="l">
                        <a:spcBef>
                          <a:spcPts val="0"/>
                        </a:spcBef>
                        <a:spcAft>
                          <a:spcPts val="0"/>
                        </a:spcAft>
                        <a:buNone/>
                      </a:pPr>
                      <a:r>
                        <a:rPr lang="en-US" sz="1400"/>
                        <a:t>Driver Safety Feedback &amp; Rating System</a:t>
                      </a:r>
                      <a:endParaRPr sz="1400"/>
                    </a:p>
                  </a:txBody>
                  <a:tcPr marT="45725" marB="45725" marR="91450" marL="91450"/>
                </a:tc>
                <a:tc>
                  <a:txBody>
                    <a:bodyPr/>
                    <a:lstStyle/>
                    <a:p>
                      <a:pPr indent="0" lvl="0" marL="0" marR="0" rtl="0" algn="l">
                        <a:spcBef>
                          <a:spcPts val="0"/>
                        </a:spcBef>
                        <a:spcAft>
                          <a:spcPts val="0"/>
                        </a:spcAft>
                        <a:buNone/>
                      </a:pPr>
                      <a:r>
                        <a:rPr lang="en-US" sz="1400"/>
                        <a:t>Driver safety ratings visible before booking.</a:t>
                      </a:r>
                      <a:endParaRPr/>
                    </a:p>
                    <a:p>
                      <a:pPr indent="0" lvl="0" marL="0" marR="0" rtl="0" algn="l">
                        <a:spcBef>
                          <a:spcPts val="0"/>
                        </a:spcBef>
                        <a:spcAft>
                          <a:spcPts val="0"/>
                        </a:spcAft>
                        <a:buNone/>
                      </a:pPr>
                      <a:r>
                        <a:rPr lang="en-US" sz="1400"/>
                        <a:t>Option for users to rate safety after every trip</a:t>
                      </a:r>
                      <a:endParaRPr/>
                    </a:p>
                    <a:p>
                      <a:pPr indent="0" lvl="0" marL="0" marR="0" rtl="0" algn="l">
                        <a:spcBef>
                          <a:spcPts val="0"/>
                        </a:spcBef>
                        <a:spcAft>
                          <a:spcPts val="0"/>
                        </a:spcAft>
                        <a:buNone/>
                      </a:pPr>
                      <a:r>
                        <a:rPr lang="en-US" sz="1400"/>
                        <a:t>Incentives for drivers with high safety ratings</a:t>
                      </a:r>
                      <a:endParaRPr/>
                    </a:p>
                  </a:txBody>
                  <a:tcPr marT="45725" marB="45725" marR="91450" marL="91450"/>
                </a:tc>
                <a:tc>
                  <a:txBody>
                    <a:bodyPr/>
                    <a:lstStyle/>
                    <a:p>
                      <a:pPr indent="0" lvl="0" marL="0" marR="0" rtl="0" algn="l">
                        <a:spcBef>
                          <a:spcPts val="0"/>
                        </a:spcBef>
                        <a:spcAft>
                          <a:spcPts val="0"/>
                        </a:spcAft>
                        <a:buNone/>
                      </a:pPr>
                      <a:r>
                        <a:rPr lang="en-US" sz="1400"/>
                        <a:t>Enhanced Trust </a:t>
                      </a:r>
                      <a:endParaRPr/>
                    </a:p>
                    <a:p>
                      <a:pPr indent="0" lvl="0" marL="0" marR="0" rtl="0" algn="l">
                        <a:spcBef>
                          <a:spcPts val="0"/>
                        </a:spcBef>
                        <a:spcAft>
                          <a:spcPts val="0"/>
                        </a:spcAft>
                        <a:buNone/>
                      </a:pPr>
                      <a:r>
                        <a:rPr lang="en-US" sz="1400"/>
                        <a:t>Enhances overall service quality.</a:t>
                      </a:r>
                      <a:endParaRPr/>
                    </a:p>
                    <a:p>
                      <a:pPr indent="0" lvl="0" marL="0" marR="0" rtl="0" algn="l">
                        <a:spcBef>
                          <a:spcPts val="0"/>
                        </a:spcBef>
                        <a:spcAft>
                          <a:spcPts val="0"/>
                        </a:spcAft>
                        <a:buNone/>
                      </a:pPr>
                      <a:r>
                        <a:rPr lang="en-US" sz="1400"/>
                        <a:t>Encourages better driver behavior and service.</a:t>
                      </a:r>
                      <a:endParaRPr sz="1400"/>
                    </a:p>
                  </a:txBody>
                  <a:tcPr marT="45725" marB="45725" marR="91450" marL="91450"/>
                </a:tc>
                <a:tc>
                  <a:txBody>
                    <a:bodyPr/>
                    <a:lstStyle/>
                    <a:p>
                      <a:pPr indent="0" lvl="0" marL="0" marR="0" rtl="0" algn="l">
                        <a:spcBef>
                          <a:spcPts val="0"/>
                        </a:spcBef>
                        <a:spcAft>
                          <a:spcPts val="0"/>
                        </a:spcAft>
                        <a:buNone/>
                      </a:pPr>
                      <a:r>
                        <a:rPr lang="en-US" sz="1400"/>
                        <a:t>Higher user trust and retention</a:t>
                      </a:r>
                      <a:endParaRPr/>
                    </a:p>
                    <a:p>
                      <a:pPr indent="0" lvl="0" marL="0" marR="0" rtl="0" algn="l">
                        <a:spcBef>
                          <a:spcPts val="0"/>
                        </a:spcBef>
                        <a:spcAft>
                          <a:spcPts val="0"/>
                        </a:spcAft>
                        <a:buNone/>
                      </a:pPr>
                      <a:r>
                        <a:rPr lang="en-US" sz="1400"/>
                        <a:t>Increased Ride Bookings</a:t>
                      </a:r>
                      <a:endParaRPr/>
                    </a:p>
                    <a:p>
                      <a:pPr indent="0" lvl="0" marL="0" marR="0" rtl="0" algn="l">
                        <a:spcBef>
                          <a:spcPts val="0"/>
                        </a:spcBef>
                        <a:spcAft>
                          <a:spcPts val="0"/>
                        </a:spcAft>
                        <a:buNone/>
                      </a:pPr>
                      <a:r>
                        <a:rPr lang="en-US" sz="1400"/>
                        <a:t>Reduced incidents and complaints.</a:t>
                      </a:r>
                      <a:endParaRPr/>
                    </a:p>
                  </a:txBody>
                  <a:tcPr marT="45725" marB="45725" marR="91450" marL="91450"/>
                </a:tc>
              </a:tr>
              <a:tr h="1144325">
                <a:tc>
                  <a:txBody>
                    <a:bodyPr/>
                    <a:lstStyle/>
                    <a:p>
                      <a:pPr indent="0" lvl="0" marL="0" marR="0" rtl="0" algn="l">
                        <a:spcBef>
                          <a:spcPts val="0"/>
                        </a:spcBef>
                        <a:spcAft>
                          <a:spcPts val="0"/>
                        </a:spcAft>
                        <a:buNone/>
                      </a:pPr>
                      <a:r>
                        <a:rPr lang="en-US" sz="1400"/>
                        <a:t>SmartCommute Notifications with AI-Driven Suggestions</a:t>
                      </a:r>
                      <a:endParaRPr sz="1400"/>
                    </a:p>
                  </a:txBody>
                  <a:tcPr marT="45725" marB="45725" marR="91450" marL="91450"/>
                </a:tc>
                <a:tc>
                  <a:txBody>
                    <a:bodyPr/>
                    <a:lstStyle/>
                    <a:p>
                      <a:pPr indent="0" lvl="0" marL="0" marR="0" rtl="0" algn="l">
                        <a:spcBef>
                          <a:spcPts val="0"/>
                        </a:spcBef>
                        <a:spcAft>
                          <a:spcPts val="0"/>
                        </a:spcAft>
                        <a:buNone/>
                      </a:pPr>
                      <a:r>
                        <a:rPr lang="en-US" sz="1400"/>
                        <a:t>AI-Driven Ride Suggestions Notifications for optimal booking times.</a:t>
                      </a:r>
                      <a:endParaRPr/>
                    </a:p>
                    <a:p>
                      <a:pPr indent="0" lvl="0" marL="0" marR="0" rtl="0" algn="l">
                        <a:spcBef>
                          <a:spcPts val="0"/>
                        </a:spcBef>
                        <a:spcAft>
                          <a:spcPts val="0"/>
                        </a:spcAft>
                        <a:buNone/>
                      </a:pPr>
                      <a:r>
                        <a:rPr lang="en-US" sz="1400"/>
                        <a:t>Personalized alerts for nearby vehicles.</a:t>
                      </a:r>
                      <a:endParaRPr sz="1400"/>
                    </a:p>
                  </a:txBody>
                  <a:tcPr marT="45725" marB="45725" marR="91450" marL="91450"/>
                </a:tc>
                <a:tc>
                  <a:txBody>
                    <a:bodyPr/>
                    <a:lstStyle/>
                    <a:p>
                      <a:pPr indent="0" lvl="0" marL="0" marR="0" rtl="0" algn="l">
                        <a:spcBef>
                          <a:spcPts val="0"/>
                        </a:spcBef>
                        <a:spcAft>
                          <a:spcPts val="0"/>
                        </a:spcAft>
                        <a:buNone/>
                      </a:pPr>
                      <a:r>
                        <a:rPr lang="en-US" sz="1400"/>
                        <a:t>Enhanced User Experience</a:t>
                      </a:r>
                      <a:endParaRPr/>
                    </a:p>
                    <a:p>
                      <a:pPr indent="0" lvl="0" marL="0" marR="0" rtl="0" algn="l">
                        <a:spcBef>
                          <a:spcPts val="0"/>
                        </a:spcBef>
                        <a:spcAft>
                          <a:spcPts val="0"/>
                        </a:spcAft>
                        <a:buNone/>
                      </a:pPr>
                      <a:r>
                        <a:rPr lang="en-US" sz="1400"/>
                        <a:t>Market Differentiation</a:t>
                      </a:r>
                      <a:endParaRPr/>
                    </a:p>
                    <a:p>
                      <a:pPr indent="0" lvl="0" marL="0" marR="0" rtl="0" algn="l">
                        <a:spcBef>
                          <a:spcPts val="0"/>
                        </a:spcBef>
                        <a:spcAft>
                          <a:spcPts val="0"/>
                        </a:spcAft>
                        <a:buNone/>
                      </a:pPr>
                      <a:r>
                        <a:rPr lang="en-US" sz="1400"/>
                        <a:t>Increases ride booking</a:t>
                      </a:r>
                      <a:endParaRPr/>
                    </a:p>
                  </a:txBody>
                  <a:tcPr marT="45725" marB="45725" marR="91450" marL="91450"/>
                </a:tc>
                <a:tc>
                  <a:txBody>
                    <a:bodyPr/>
                    <a:lstStyle/>
                    <a:p>
                      <a:pPr indent="0" lvl="0" marL="0" marR="0" rtl="0" algn="l">
                        <a:spcBef>
                          <a:spcPts val="0"/>
                        </a:spcBef>
                        <a:spcAft>
                          <a:spcPts val="0"/>
                        </a:spcAft>
                        <a:buNone/>
                      </a:pPr>
                      <a:r>
                        <a:rPr lang="en-US" sz="1400"/>
                        <a:t>Higher User Engagement</a:t>
                      </a:r>
                      <a:endParaRPr/>
                    </a:p>
                    <a:p>
                      <a:pPr indent="0" lvl="0" marL="0" marR="0" rtl="0" algn="l">
                        <a:spcBef>
                          <a:spcPts val="0"/>
                        </a:spcBef>
                        <a:spcAft>
                          <a:spcPts val="0"/>
                        </a:spcAft>
                        <a:buNone/>
                      </a:pPr>
                      <a:r>
                        <a:rPr lang="en-US" sz="1400"/>
                        <a:t>Increased Ride Bookings</a:t>
                      </a:r>
                      <a:endParaRPr/>
                    </a:p>
                    <a:p>
                      <a:pPr indent="0" lvl="0" marL="0" marR="0" rtl="0" algn="l">
                        <a:spcBef>
                          <a:spcPts val="0"/>
                        </a:spcBef>
                        <a:spcAft>
                          <a:spcPts val="0"/>
                        </a:spcAft>
                        <a:buNone/>
                      </a:pPr>
                      <a:r>
                        <a:rPr lang="en-US" sz="1400"/>
                        <a:t>Enhanced user satisfaction</a:t>
                      </a:r>
                      <a:endParaRPr/>
                    </a:p>
                  </a:txBody>
                  <a:tcPr marT="45725" marB="45725" marR="91450" marL="91450"/>
                </a:tc>
              </a:tr>
              <a:tr h="954300">
                <a:tc>
                  <a:txBody>
                    <a:bodyPr/>
                    <a:lstStyle/>
                    <a:p>
                      <a:pPr indent="0" lvl="0" marL="0" marR="0" rtl="0" algn="l">
                        <a:spcBef>
                          <a:spcPts val="0"/>
                        </a:spcBef>
                        <a:spcAft>
                          <a:spcPts val="0"/>
                        </a:spcAft>
                        <a:buNone/>
                      </a:pPr>
                      <a:r>
                        <a:rPr lang="en-US" sz="1400"/>
                        <a:t>Enhanced In-App Customer Support</a:t>
                      </a:r>
                      <a:endParaRPr/>
                    </a:p>
                    <a:p>
                      <a:pPr indent="0" lvl="0" marL="0" marR="0" rtl="0" algn="l">
                        <a:spcBef>
                          <a:spcPts val="0"/>
                        </a:spcBef>
                        <a:spcAft>
                          <a:spcPts val="0"/>
                        </a:spcAft>
                        <a:buNone/>
                      </a:pPr>
                      <a:r>
                        <a:rPr lang="en-US" sz="1400"/>
                        <a:t>&amp; Advanced SOS &amp; Safety Alerts </a:t>
                      </a:r>
                      <a:endParaRPr/>
                    </a:p>
                  </a:txBody>
                  <a:tcPr marT="45725" marB="45725" marR="91450" marL="91450"/>
                </a:tc>
                <a:tc>
                  <a:txBody>
                    <a:bodyPr/>
                    <a:lstStyle/>
                    <a:p>
                      <a:pPr indent="0" lvl="0" marL="0" marR="0" rtl="0" algn="l">
                        <a:spcBef>
                          <a:spcPts val="0"/>
                        </a:spcBef>
                        <a:spcAft>
                          <a:spcPts val="0"/>
                        </a:spcAft>
                        <a:buNone/>
                      </a:pPr>
                      <a:r>
                        <a:rPr lang="en-US" sz="1400"/>
                        <a:t>24/7 in-app chat support.</a:t>
                      </a:r>
                      <a:endParaRPr/>
                    </a:p>
                    <a:p>
                      <a:pPr indent="0" lvl="0" marL="0" marR="0" rtl="0" algn="l">
                        <a:spcBef>
                          <a:spcPts val="0"/>
                        </a:spcBef>
                        <a:spcAft>
                          <a:spcPts val="0"/>
                        </a:spcAft>
                        <a:buNone/>
                      </a:pPr>
                      <a:r>
                        <a:rPr lang="en-US" sz="1400"/>
                        <a:t>Emergency call option for real-time assistance</a:t>
                      </a:r>
                      <a:endParaRPr/>
                    </a:p>
                    <a:p>
                      <a:pPr indent="0" lvl="0" marL="0" marR="0" rtl="0" algn="l">
                        <a:spcBef>
                          <a:spcPts val="0"/>
                        </a:spcBef>
                        <a:spcAft>
                          <a:spcPts val="0"/>
                        </a:spcAft>
                        <a:buNone/>
                      </a:pPr>
                      <a:r>
                        <a:rPr lang="en-US" sz="1400"/>
                        <a:t>AI-powered support for quicker response times.</a:t>
                      </a:r>
                      <a:endParaRPr sz="1400"/>
                    </a:p>
                  </a:txBody>
                  <a:tcPr marT="45725" marB="45725" marR="91450" marL="91450"/>
                </a:tc>
                <a:tc>
                  <a:txBody>
                    <a:bodyPr/>
                    <a:lstStyle/>
                    <a:p>
                      <a:pPr indent="0" lvl="0" marL="0" marR="0" rtl="0" algn="l">
                        <a:spcBef>
                          <a:spcPts val="0"/>
                        </a:spcBef>
                        <a:spcAft>
                          <a:spcPts val="0"/>
                        </a:spcAft>
                        <a:buNone/>
                      </a:pPr>
                      <a:r>
                        <a:rPr lang="en-US" sz="1400"/>
                        <a:t>Improved User Trust and Loyalty</a:t>
                      </a:r>
                      <a:endParaRPr/>
                    </a:p>
                    <a:p>
                      <a:pPr indent="0" lvl="0" marL="0" marR="0" rtl="0" algn="l">
                        <a:spcBef>
                          <a:spcPts val="0"/>
                        </a:spcBef>
                        <a:spcAft>
                          <a:spcPts val="0"/>
                        </a:spcAft>
                        <a:buNone/>
                      </a:pPr>
                      <a:r>
                        <a:rPr lang="en-US" sz="1400"/>
                        <a:t>Reduces resolution time and enhances user experience</a:t>
                      </a:r>
                      <a:endParaRPr sz="1400"/>
                    </a:p>
                  </a:txBody>
                  <a:tcPr marT="45725" marB="45725" marR="91450" marL="91450"/>
                </a:tc>
                <a:tc>
                  <a:txBody>
                    <a:bodyPr/>
                    <a:lstStyle/>
                    <a:p>
                      <a:pPr indent="0" lvl="0" marL="0" marR="0" rtl="0" algn="l">
                        <a:spcBef>
                          <a:spcPts val="0"/>
                        </a:spcBef>
                        <a:spcAft>
                          <a:spcPts val="0"/>
                        </a:spcAft>
                        <a:buNone/>
                      </a:pPr>
                      <a:r>
                        <a:rPr lang="en-US" sz="1400"/>
                        <a:t>Higher Retention Rates</a:t>
                      </a:r>
                      <a:endParaRPr/>
                    </a:p>
                    <a:p>
                      <a:pPr indent="0" lvl="0" marL="0" marR="0" rtl="0" algn="l">
                        <a:spcBef>
                          <a:spcPts val="0"/>
                        </a:spcBef>
                        <a:spcAft>
                          <a:spcPts val="0"/>
                        </a:spcAft>
                        <a:buNone/>
                      </a:pPr>
                      <a:r>
                        <a:rPr lang="en-US" sz="1400"/>
                        <a:t>Higher customer satisfaction</a:t>
                      </a:r>
                      <a:endParaRPr/>
                    </a:p>
                    <a:p>
                      <a:pPr indent="0" lvl="0" marL="0" marR="0" rtl="0" algn="l">
                        <a:spcBef>
                          <a:spcPts val="0"/>
                        </a:spcBef>
                        <a:spcAft>
                          <a:spcPts val="0"/>
                        </a:spcAft>
                        <a:buNone/>
                      </a:pPr>
                      <a:r>
                        <a:rPr lang="en-US" sz="1400"/>
                        <a:t>Enhanced brand loyalty</a:t>
                      </a:r>
                      <a:endParaRPr/>
                    </a:p>
                  </a:txBody>
                  <a:tcPr marT="45725" marB="45725" marR="91450" marL="91450"/>
                </a:tc>
              </a:tr>
              <a:tr h="1428500">
                <a:tc>
                  <a:txBody>
                    <a:bodyPr/>
                    <a:lstStyle/>
                    <a:p>
                      <a:pPr indent="0" lvl="0" marL="0" marR="0" rtl="0" algn="l">
                        <a:spcBef>
                          <a:spcPts val="0"/>
                        </a:spcBef>
                        <a:spcAft>
                          <a:spcPts val="0"/>
                        </a:spcAft>
                        <a:buNone/>
                      </a:pPr>
                      <a:r>
                        <a:rPr lang="en-US" sz="1400"/>
                        <a:t>Flexible Ride Options</a:t>
                      </a:r>
                      <a:endParaRPr/>
                    </a:p>
                  </a:txBody>
                  <a:tcPr marT="45725" marB="45725" marR="91450" marL="91450"/>
                </a:tc>
                <a:tc>
                  <a:txBody>
                    <a:bodyPr/>
                    <a:lstStyle/>
                    <a:p>
                      <a:pPr indent="0" lvl="0" marL="0" marR="0" rtl="0" algn="l">
                        <a:spcBef>
                          <a:spcPts val="0"/>
                        </a:spcBef>
                        <a:spcAft>
                          <a:spcPts val="0"/>
                        </a:spcAft>
                        <a:buNone/>
                      </a:pPr>
                      <a:r>
                        <a:rPr lang="en-US" sz="1400"/>
                        <a:t>Immediate booking for users in a rush. </a:t>
                      </a:r>
                      <a:endParaRPr/>
                    </a:p>
                    <a:p>
                      <a:pPr indent="0" lvl="0" marL="0" marR="0" rtl="0" algn="l">
                        <a:spcBef>
                          <a:spcPts val="0"/>
                        </a:spcBef>
                        <a:spcAft>
                          <a:spcPts val="0"/>
                        </a:spcAft>
                        <a:buNone/>
                      </a:pPr>
                      <a:r>
                        <a:rPr lang="en-US" sz="1400"/>
                        <a:t>Slight wait time for cost-effective options.</a:t>
                      </a:r>
                      <a:endParaRPr/>
                    </a:p>
                    <a:p>
                      <a:pPr indent="0" lvl="0" marL="0" marR="0" rtl="0" algn="l">
                        <a:spcBef>
                          <a:spcPts val="0"/>
                        </a:spcBef>
                        <a:spcAft>
                          <a:spcPts val="0"/>
                        </a:spcAft>
                        <a:buNone/>
                      </a:pPr>
                      <a:r>
                        <a:rPr lang="en-US" sz="1400"/>
                        <a:t>Option to choose between quick and affordable rides when booking</a:t>
                      </a:r>
                      <a:endParaRPr sz="1400"/>
                    </a:p>
                  </a:txBody>
                  <a:tcPr marT="45725" marB="45725" marR="91450" marL="91450"/>
                </a:tc>
                <a:tc>
                  <a:txBody>
                    <a:bodyPr/>
                    <a:lstStyle/>
                    <a:p>
                      <a:pPr indent="0" lvl="0" marL="0" marR="0" rtl="0" algn="l">
                        <a:spcBef>
                          <a:spcPts val="0"/>
                        </a:spcBef>
                        <a:spcAft>
                          <a:spcPts val="0"/>
                        </a:spcAft>
                        <a:buNone/>
                      </a:pPr>
                      <a:r>
                        <a:rPr lang="en-US" sz="1400"/>
                        <a:t>Aligns with diverse user needs for speed or affordability.Increases user choice and control over their ride experience.Balances demand across different service tiers.</a:t>
                      </a:r>
                      <a:endParaRPr sz="1400"/>
                    </a:p>
                  </a:txBody>
                  <a:tcPr marT="45725" marB="45725" marR="91450" marL="91450"/>
                </a:tc>
                <a:tc>
                  <a:txBody>
                    <a:bodyPr/>
                    <a:lstStyle/>
                    <a:p>
                      <a:pPr indent="0" lvl="0" marL="0" marR="0" rtl="0" algn="l">
                        <a:spcBef>
                          <a:spcPts val="0"/>
                        </a:spcBef>
                        <a:spcAft>
                          <a:spcPts val="0"/>
                        </a:spcAft>
                        <a:buNone/>
                      </a:pPr>
                      <a:r>
                        <a:rPr lang="en-US" sz="1400"/>
                        <a:t>Higher user satisfaction and retention.Increased ride bookings in both categories.Optimized service efficienc</a:t>
                      </a:r>
                      <a:endParaRPr sz="1400"/>
                    </a:p>
                  </a:txBody>
                  <a:tcPr marT="45725" marB="45725" marR="91450" marL="91450"/>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5"/>
          <p:cNvSpPr txBox="1"/>
          <p:nvPr>
            <p:ph type="title"/>
          </p:nvPr>
        </p:nvSpPr>
        <p:spPr>
          <a:xfrm>
            <a:off x="-1" y="3267"/>
            <a:ext cx="12191999" cy="1325563"/>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Hypotheses to be Tested</a:t>
            </a:r>
            <a:endParaRPr/>
          </a:p>
        </p:txBody>
      </p:sp>
      <p:graphicFrame>
        <p:nvGraphicFramePr>
          <p:cNvPr id="452" name="Google Shape;452;p35"/>
          <p:cNvGraphicFramePr/>
          <p:nvPr/>
        </p:nvGraphicFramePr>
        <p:xfrm>
          <a:off x="0" y="1328830"/>
          <a:ext cx="3000000" cy="3000000"/>
        </p:xfrm>
        <a:graphic>
          <a:graphicData uri="http://schemas.openxmlformats.org/drawingml/2006/table">
            <a:tbl>
              <a:tblPr>
                <a:noFill/>
                <a:tableStyleId>{D13937C5-D8A4-43A5-8F7F-F006483B4375}</a:tableStyleId>
              </a:tblPr>
              <a:tblGrid>
                <a:gridCol w="2088300"/>
                <a:gridCol w="3705225"/>
                <a:gridCol w="2713125"/>
                <a:gridCol w="3625400"/>
              </a:tblGrid>
              <a:tr h="489925">
                <a:tc>
                  <a:txBody>
                    <a:bodyPr/>
                    <a:lstStyle/>
                    <a:p>
                      <a:pPr indent="0" lvl="0" marL="0" marR="0" rtl="0" algn="l">
                        <a:spcBef>
                          <a:spcPts val="0"/>
                        </a:spcBef>
                        <a:spcAft>
                          <a:spcPts val="0"/>
                        </a:spcAft>
                        <a:buNone/>
                      </a:pPr>
                      <a:r>
                        <a:rPr b="1" lang="en-US" sz="1600">
                          <a:solidFill>
                            <a:schemeClr val="lt1"/>
                          </a:solidFill>
                        </a:rPr>
                        <a:t>Hypothesis</a:t>
                      </a:r>
                      <a:endParaRPr/>
                    </a:p>
                  </a:txBody>
                  <a:tcPr marT="12600" marB="12600" marR="18900" marL="189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1" lang="en-US" sz="1600">
                          <a:solidFill>
                            <a:schemeClr val="lt1"/>
                          </a:solidFill>
                        </a:rPr>
                        <a:t>Hypothesis Description</a:t>
                      </a:r>
                      <a:endParaRPr/>
                    </a:p>
                  </a:txBody>
                  <a:tcPr marT="12600" marB="12600" marR="18900" marL="189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1" lang="en-US" sz="1600">
                          <a:solidFill>
                            <a:schemeClr val="lt1"/>
                          </a:solidFill>
                        </a:rPr>
                        <a:t>Test</a:t>
                      </a:r>
                      <a:endParaRPr/>
                    </a:p>
                  </a:txBody>
                  <a:tcPr marT="12600" marB="12600" marR="18900" marL="189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b="1" lang="en-US" sz="1600">
                          <a:solidFill>
                            <a:schemeClr val="lt1"/>
                          </a:solidFill>
                        </a:rPr>
                        <a:t>Success Metric</a:t>
                      </a:r>
                      <a:endParaRPr/>
                    </a:p>
                  </a:txBody>
                  <a:tcPr marT="12600" marB="12600" marR="18900" marL="189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715475">
                <a:tc>
                  <a:txBody>
                    <a:bodyPr/>
                    <a:lstStyle/>
                    <a:p>
                      <a:pPr indent="0" lvl="0" marL="0" marR="0" rtl="0" algn="l">
                        <a:spcBef>
                          <a:spcPts val="0"/>
                        </a:spcBef>
                        <a:spcAft>
                          <a:spcPts val="0"/>
                        </a:spcAft>
                        <a:buNone/>
                      </a:pPr>
                      <a:r>
                        <a:rPr lang="en-US" sz="1400">
                          <a:latin typeface="Geo"/>
                          <a:ea typeface="Geo"/>
                          <a:cs typeface="Geo"/>
                          <a:sym typeface="Geo"/>
                        </a:rPr>
                        <a:t>Guaranteed Ride Booking Hypothesis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Users will pay extra for rides that arrive within 10 minutes.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Track how many users choose guaranteed booking.</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70% of users opt for guaranteed booking; satisfaction score ≥ 4.5/5</a:t>
                      </a:r>
                      <a:endParaRPr/>
                    </a:p>
                  </a:txBody>
                  <a:tcPr marT="12600" marB="1260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66250">
                <a:tc>
                  <a:txBody>
                    <a:bodyPr/>
                    <a:lstStyle/>
                    <a:p>
                      <a:pPr indent="0" lvl="0" marL="0" marR="0" rtl="0" algn="l">
                        <a:spcBef>
                          <a:spcPts val="0"/>
                        </a:spcBef>
                        <a:spcAft>
                          <a:spcPts val="0"/>
                        </a:spcAft>
                        <a:buNone/>
                      </a:pPr>
                      <a:r>
                        <a:rPr b="0" lang="en-US" sz="1400">
                          <a:solidFill>
                            <a:schemeClr val="dk1"/>
                          </a:solidFill>
                          <a:latin typeface="Geo"/>
                          <a:ea typeface="Geo"/>
                          <a:cs typeface="Geo"/>
                          <a:sym typeface="Geo"/>
                        </a:rPr>
                        <a:t>Driver Safety Feedback Hypothesis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Users feel safer and are more likely to reuse the service when they can rate drivers.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Monitor how often users rate driver safety.</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80% of users rate driver safety; 10% increase in repeat bookings</a:t>
                      </a:r>
                      <a:endParaRPr/>
                    </a:p>
                  </a:txBody>
                  <a:tcPr marT="12600" marB="1260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24825">
                <a:tc>
                  <a:txBody>
                    <a:bodyPr/>
                    <a:lstStyle/>
                    <a:p>
                      <a:pPr indent="0" lvl="0" marL="0" marR="0" rtl="0" algn="l">
                        <a:spcBef>
                          <a:spcPts val="0"/>
                        </a:spcBef>
                        <a:spcAft>
                          <a:spcPts val="0"/>
                        </a:spcAft>
                        <a:buNone/>
                      </a:pPr>
                      <a:r>
                        <a:rPr lang="en-US" sz="1400">
                          <a:latin typeface="Geo"/>
                          <a:ea typeface="Geo"/>
                          <a:cs typeface="Geo"/>
                          <a:sym typeface="Geo"/>
                        </a:rPr>
                        <a:t>Enhanced Customer Support Hypothesis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Real-time in-app support will improve complaint resolution and user satisfaction.</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Measure response time and resolution efficiency.</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50% faster resolution; satisfaction score ≥ 4.5/5</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5075">
                <a:tc>
                  <a:txBody>
                    <a:bodyPr/>
                    <a:lstStyle/>
                    <a:p>
                      <a:pPr indent="0" lvl="0" marL="0" marR="0" rtl="0" algn="l">
                        <a:spcBef>
                          <a:spcPts val="0"/>
                        </a:spcBef>
                        <a:spcAft>
                          <a:spcPts val="0"/>
                        </a:spcAft>
                        <a:buNone/>
                      </a:pPr>
                      <a:r>
                        <a:rPr lang="en-US" sz="1400">
                          <a:latin typeface="Geo"/>
                          <a:ea typeface="Geo"/>
                          <a:cs typeface="Geo"/>
                          <a:sym typeface="Geo"/>
                        </a:rPr>
                        <a:t>SmartCommute Notifications Hypothesis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Personalized ride suggestions will increase user engagement and bookings.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Count how many users interact with notifications.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60% engage with notifications; 15% increase in ride bookings</a:t>
                      </a:r>
                      <a:endParaRPr/>
                    </a:p>
                  </a:txBody>
                  <a:tcPr marT="12600" marB="1260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45525">
                <a:tc>
                  <a:txBody>
                    <a:bodyPr/>
                    <a:lstStyle/>
                    <a:p>
                      <a:pPr indent="0" lvl="0" marL="0" marR="0" rtl="0" algn="l">
                        <a:spcBef>
                          <a:spcPts val="0"/>
                        </a:spcBef>
                        <a:spcAft>
                          <a:spcPts val="0"/>
                        </a:spcAft>
                        <a:buNone/>
                      </a:pPr>
                      <a:r>
                        <a:rPr lang="en-US" sz="1400">
                          <a:latin typeface="Geo"/>
                          <a:ea typeface="Geo"/>
                          <a:cs typeface="Geo"/>
                          <a:sym typeface="Geo"/>
                        </a:rPr>
                        <a:t>Flexible Ride Options Hypothesis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Offering quick and affordable rides will boost bookings and satisfaction.</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Track user choices between quick and affordable rides.</a:t>
                      </a:r>
                      <a:endParaRPr/>
                    </a:p>
                  </a:txBody>
                  <a:tcPr marT="12600" marB="12600" marR="18900" marL="189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400">
                          <a:latin typeface="Geo"/>
                          <a:ea typeface="Geo"/>
                          <a:cs typeface="Geo"/>
                          <a:sym typeface="Geo"/>
                        </a:rPr>
                        <a:t>30% choose quick rides; 50% choose affordable rides; satisfaction ≥ 4.2/5</a:t>
                      </a:r>
                      <a:endParaRPr/>
                    </a:p>
                  </a:txBody>
                  <a:tcPr marT="12600" marB="1260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6"/>
          <p:cNvSpPr txBox="1"/>
          <p:nvPr>
            <p:ph type="title"/>
          </p:nvPr>
        </p:nvSpPr>
        <p:spPr>
          <a:xfrm>
            <a:off x="0" y="1"/>
            <a:ext cx="12192000" cy="959370"/>
          </a:xfrm>
          <a:prstGeom prst="rect">
            <a:avLst/>
          </a:prstGeom>
          <a:solidFill>
            <a:srgbClr val="FFC000"/>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DLaM Display"/>
              <a:buNone/>
            </a:pPr>
            <a:br>
              <a:rPr lang="en-US"/>
            </a:br>
            <a:r>
              <a:rPr lang="en-US"/>
              <a:t>Key Success Metrics</a:t>
            </a:r>
            <a:br>
              <a:rPr lang="en-US"/>
            </a:br>
            <a:endParaRPr/>
          </a:p>
        </p:txBody>
      </p:sp>
      <p:sp>
        <p:nvSpPr>
          <p:cNvPr id="459" name="Google Shape;459;p36"/>
          <p:cNvSpPr txBox="1"/>
          <p:nvPr>
            <p:ph idx="1" type="body"/>
          </p:nvPr>
        </p:nvSpPr>
        <p:spPr>
          <a:xfrm>
            <a:off x="0" y="1259174"/>
            <a:ext cx="12192000" cy="5321507"/>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rPr b="1" lang="en-US"/>
              <a:t>Quick Ride Bookings</a:t>
            </a:r>
            <a:endParaRPr/>
          </a:p>
          <a:p>
            <a:pPr indent="-228631" lvl="1" marL="685800" rtl="0" algn="l">
              <a:lnSpc>
                <a:spcPct val="90000"/>
              </a:lnSpc>
              <a:spcBef>
                <a:spcPts val="500"/>
              </a:spcBef>
              <a:spcAft>
                <a:spcPts val="0"/>
              </a:spcAft>
              <a:buClr>
                <a:schemeClr val="dk1"/>
              </a:buClr>
              <a:buSzPct val="100000"/>
              <a:buChar char="•"/>
            </a:pPr>
            <a:r>
              <a:rPr b="1" lang="en-US" sz="2300"/>
              <a:t>Metric:</a:t>
            </a:r>
            <a:r>
              <a:rPr lang="en-US" sz="2300"/>
              <a:t> Percentage of users booking quick rides</a:t>
            </a:r>
            <a:endParaRPr/>
          </a:p>
          <a:p>
            <a:pPr indent="-228631" lvl="1" marL="685800" rtl="0" algn="l">
              <a:lnSpc>
                <a:spcPct val="90000"/>
              </a:lnSpc>
              <a:spcBef>
                <a:spcPts val="500"/>
              </a:spcBef>
              <a:spcAft>
                <a:spcPts val="0"/>
              </a:spcAft>
              <a:buClr>
                <a:schemeClr val="dk1"/>
              </a:buClr>
              <a:buSzPct val="100000"/>
              <a:buChar char="•"/>
            </a:pPr>
            <a:r>
              <a:rPr b="1" lang="en-US" sz="2300"/>
              <a:t>Target:</a:t>
            </a:r>
            <a:r>
              <a:rPr lang="en-US" sz="2300"/>
              <a:t> Achieve 70% selection during peak hours</a:t>
            </a:r>
            <a:endParaRPr/>
          </a:p>
          <a:p>
            <a:pPr indent="0" lvl="0" marL="0" rtl="0" algn="l">
              <a:lnSpc>
                <a:spcPct val="90000"/>
              </a:lnSpc>
              <a:spcBef>
                <a:spcPts val="1000"/>
              </a:spcBef>
              <a:spcAft>
                <a:spcPts val="0"/>
              </a:spcAft>
              <a:buClr>
                <a:schemeClr val="dk1"/>
              </a:buClr>
              <a:buSzPct val="100000"/>
              <a:buNone/>
            </a:pPr>
            <a:r>
              <a:rPr b="1" lang="en-US"/>
              <a:t> Driver Safety Ratings</a:t>
            </a:r>
            <a:endParaRPr/>
          </a:p>
          <a:p>
            <a:pPr indent="-228631" lvl="1" marL="685800" rtl="0" algn="l">
              <a:lnSpc>
                <a:spcPct val="90000"/>
              </a:lnSpc>
              <a:spcBef>
                <a:spcPts val="500"/>
              </a:spcBef>
              <a:spcAft>
                <a:spcPts val="0"/>
              </a:spcAft>
              <a:buClr>
                <a:schemeClr val="dk1"/>
              </a:buClr>
              <a:buSzPct val="100000"/>
              <a:buChar char="•"/>
            </a:pPr>
            <a:r>
              <a:rPr b="1" lang="en-US" sz="2300"/>
              <a:t>Metric:</a:t>
            </a:r>
            <a:r>
              <a:rPr lang="en-US" sz="2300"/>
              <a:t> Percentage of trips with safety ratings</a:t>
            </a:r>
            <a:endParaRPr/>
          </a:p>
          <a:p>
            <a:pPr indent="-228631" lvl="1" marL="685800" rtl="0" algn="l">
              <a:lnSpc>
                <a:spcPct val="90000"/>
              </a:lnSpc>
              <a:spcBef>
                <a:spcPts val="500"/>
              </a:spcBef>
              <a:spcAft>
                <a:spcPts val="0"/>
              </a:spcAft>
              <a:buClr>
                <a:schemeClr val="dk1"/>
              </a:buClr>
              <a:buSzPct val="100000"/>
              <a:buChar char="•"/>
            </a:pPr>
            <a:r>
              <a:rPr b="1" lang="en-US" sz="2300"/>
              <a:t>Target:</a:t>
            </a:r>
            <a:r>
              <a:rPr lang="en-US" sz="2300"/>
              <a:t> Secure 80% rating submission, leading to increased loyalty</a:t>
            </a:r>
            <a:endParaRPr/>
          </a:p>
          <a:p>
            <a:pPr indent="0" lvl="0" marL="0" rtl="0" algn="l">
              <a:lnSpc>
                <a:spcPct val="90000"/>
              </a:lnSpc>
              <a:spcBef>
                <a:spcPts val="1000"/>
              </a:spcBef>
              <a:spcAft>
                <a:spcPts val="0"/>
              </a:spcAft>
              <a:buClr>
                <a:schemeClr val="dk1"/>
              </a:buClr>
              <a:buSzPct val="100000"/>
              <a:buNone/>
            </a:pPr>
            <a:r>
              <a:rPr b="1" lang="en-US"/>
              <a:t>Support Response Time</a:t>
            </a:r>
            <a:endParaRPr/>
          </a:p>
          <a:p>
            <a:pPr indent="-228631" lvl="1" marL="685800" rtl="0" algn="l">
              <a:lnSpc>
                <a:spcPct val="90000"/>
              </a:lnSpc>
              <a:spcBef>
                <a:spcPts val="500"/>
              </a:spcBef>
              <a:spcAft>
                <a:spcPts val="0"/>
              </a:spcAft>
              <a:buClr>
                <a:schemeClr val="dk1"/>
              </a:buClr>
              <a:buSzPct val="100000"/>
              <a:buChar char="•"/>
            </a:pPr>
            <a:r>
              <a:rPr lang="en-US" sz="2300"/>
              <a:t> </a:t>
            </a:r>
            <a:r>
              <a:rPr b="1" lang="en-US" sz="2300"/>
              <a:t>Metric:</a:t>
            </a:r>
            <a:r>
              <a:rPr lang="en-US" sz="2300"/>
              <a:t> Average time to resolve support queries</a:t>
            </a:r>
            <a:endParaRPr/>
          </a:p>
          <a:p>
            <a:pPr indent="-228631" lvl="1" marL="685800" rtl="0" algn="l">
              <a:lnSpc>
                <a:spcPct val="90000"/>
              </a:lnSpc>
              <a:spcBef>
                <a:spcPts val="500"/>
              </a:spcBef>
              <a:spcAft>
                <a:spcPts val="0"/>
              </a:spcAft>
              <a:buClr>
                <a:schemeClr val="dk1"/>
              </a:buClr>
              <a:buSzPct val="100000"/>
              <a:buChar char="•"/>
            </a:pPr>
            <a:r>
              <a:rPr b="1" lang="en-US" sz="2300"/>
              <a:t>Target:</a:t>
            </a:r>
            <a:r>
              <a:rPr lang="en-US" sz="2300"/>
              <a:t> Shorten the current resolution time by 50%, boosting user satisfaction</a:t>
            </a:r>
            <a:endParaRPr/>
          </a:p>
          <a:p>
            <a:pPr indent="0" lvl="0" marL="0" rtl="0" algn="l">
              <a:lnSpc>
                <a:spcPct val="90000"/>
              </a:lnSpc>
              <a:spcBef>
                <a:spcPts val="1000"/>
              </a:spcBef>
              <a:spcAft>
                <a:spcPts val="0"/>
              </a:spcAft>
              <a:buClr>
                <a:schemeClr val="dk1"/>
              </a:buClr>
              <a:buSzPct val="100000"/>
              <a:buNone/>
            </a:pPr>
            <a:r>
              <a:rPr b="1" lang="en-US"/>
              <a:t>Notification Engagement</a:t>
            </a:r>
            <a:endParaRPr/>
          </a:p>
          <a:p>
            <a:pPr indent="-228631" lvl="1" marL="685800" rtl="0" algn="l">
              <a:lnSpc>
                <a:spcPct val="90000"/>
              </a:lnSpc>
              <a:spcBef>
                <a:spcPts val="500"/>
              </a:spcBef>
              <a:spcAft>
                <a:spcPts val="0"/>
              </a:spcAft>
              <a:buClr>
                <a:schemeClr val="dk1"/>
              </a:buClr>
              <a:buSzPct val="100000"/>
              <a:buChar char="•"/>
            </a:pPr>
            <a:r>
              <a:rPr b="1" lang="en-US" sz="2300"/>
              <a:t>Metric:</a:t>
            </a:r>
            <a:r>
              <a:rPr lang="en-US" sz="2300"/>
              <a:t> Percentage of users interacting with ride alerts</a:t>
            </a:r>
            <a:endParaRPr/>
          </a:p>
          <a:p>
            <a:pPr indent="-228631" lvl="1" marL="685800" rtl="0" algn="l">
              <a:lnSpc>
                <a:spcPct val="90000"/>
              </a:lnSpc>
              <a:spcBef>
                <a:spcPts val="500"/>
              </a:spcBef>
              <a:spcAft>
                <a:spcPts val="0"/>
              </a:spcAft>
              <a:buClr>
                <a:schemeClr val="dk1"/>
              </a:buClr>
              <a:buSzPct val="100000"/>
              <a:buChar char="•"/>
            </a:pPr>
            <a:r>
              <a:rPr b="1" lang="en-US" sz="2300"/>
              <a:t>Target:</a:t>
            </a:r>
            <a:r>
              <a:rPr lang="en-US" sz="2300"/>
              <a:t> Reach 60% engagement, driving higher booking rates</a:t>
            </a:r>
            <a:endParaRPr/>
          </a:p>
          <a:p>
            <a:pPr indent="0" lvl="0" marL="0" rtl="0" algn="l">
              <a:lnSpc>
                <a:spcPct val="90000"/>
              </a:lnSpc>
              <a:spcBef>
                <a:spcPts val="1000"/>
              </a:spcBef>
              <a:spcAft>
                <a:spcPts val="0"/>
              </a:spcAft>
              <a:buClr>
                <a:schemeClr val="dk1"/>
              </a:buClr>
              <a:buSzPct val="100000"/>
              <a:buNone/>
            </a:pPr>
            <a:r>
              <a:rPr b="1" lang="en-US"/>
              <a:t>Ride Option Selection</a:t>
            </a:r>
            <a:endParaRPr/>
          </a:p>
          <a:p>
            <a:pPr indent="-228631" lvl="1" marL="685800" rtl="0" algn="l">
              <a:lnSpc>
                <a:spcPct val="90000"/>
              </a:lnSpc>
              <a:spcBef>
                <a:spcPts val="500"/>
              </a:spcBef>
              <a:spcAft>
                <a:spcPts val="0"/>
              </a:spcAft>
              <a:buClr>
                <a:schemeClr val="dk1"/>
              </a:buClr>
              <a:buSzPct val="100000"/>
              <a:buChar char="•"/>
            </a:pPr>
            <a:r>
              <a:rPr b="1" lang="en-US" sz="2300"/>
              <a:t>Metric:</a:t>
            </a:r>
            <a:r>
              <a:rPr lang="en-US" sz="2300"/>
              <a:t> Distribution of quick vs. cost-effective ride choices</a:t>
            </a:r>
            <a:endParaRPr/>
          </a:p>
          <a:p>
            <a:pPr indent="-228631" lvl="1" marL="685800" rtl="0" algn="l">
              <a:lnSpc>
                <a:spcPct val="90000"/>
              </a:lnSpc>
              <a:spcBef>
                <a:spcPts val="500"/>
              </a:spcBef>
              <a:spcAft>
                <a:spcPts val="0"/>
              </a:spcAft>
              <a:buClr>
                <a:schemeClr val="dk1"/>
              </a:buClr>
              <a:buSzPct val="100000"/>
              <a:buChar char="•"/>
            </a:pPr>
            <a:r>
              <a:rPr b="1" lang="en-US" sz="2300"/>
              <a:t>Target:</a:t>
            </a:r>
            <a:r>
              <a:rPr lang="en-US" sz="2300"/>
              <a:t> 30% quick rides, 50% cost-effective, both maintaining high satisfaction levels</a:t>
            </a:r>
            <a:endParaRPr/>
          </a:p>
          <a:p>
            <a:pPr indent="0" lvl="0" marL="0" rtl="0" algn="l">
              <a:lnSpc>
                <a:spcPct val="90000"/>
              </a:lnSpc>
              <a:spcBef>
                <a:spcPts val="1000"/>
              </a:spcBef>
              <a:spcAft>
                <a:spcPts val="0"/>
              </a:spcAft>
              <a:buClr>
                <a:schemeClr val="dk1"/>
              </a:buClr>
              <a:buSzPct val="100000"/>
              <a:buNone/>
            </a:pPr>
            <a:r>
              <a:rPr b="1" lang="en-US"/>
              <a:t>Safety Issue Reduction</a:t>
            </a:r>
            <a:endParaRPr/>
          </a:p>
          <a:p>
            <a:pPr indent="-228631" lvl="1" marL="685800" rtl="0" algn="l">
              <a:lnSpc>
                <a:spcPct val="90000"/>
              </a:lnSpc>
              <a:spcBef>
                <a:spcPts val="500"/>
              </a:spcBef>
              <a:spcAft>
                <a:spcPts val="0"/>
              </a:spcAft>
              <a:buClr>
                <a:schemeClr val="dk1"/>
              </a:buClr>
              <a:buSzPct val="100000"/>
              <a:buChar char="•"/>
            </a:pPr>
            <a:r>
              <a:rPr b="1" lang="en-US" sz="2300"/>
              <a:t>Metric:</a:t>
            </a:r>
            <a:r>
              <a:rPr lang="en-US" sz="2300"/>
              <a:t> Reduction in reported safety issues</a:t>
            </a:r>
            <a:endParaRPr/>
          </a:p>
          <a:p>
            <a:pPr indent="-228631" lvl="1" marL="685800" rtl="0" algn="l">
              <a:lnSpc>
                <a:spcPct val="90000"/>
              </a:lnSpc>
              <a:spcBef>
                <a:spcPts val="500"/>
              </a:spcBef>
              <a:spcAft>
                <a:spcPts val="0"/>
              </a:spcAft>
              <a:buClr>
                <a:schemeClr val="dk1"/>
              </a:buClr>
              <a:buSzPct val="100000"/>
              <a:buChar char="•"/>
            </a:pPr>
            <a:r>
              <a:rPr b="1" lang="en-US" sz="2300"/>
              <a:t>Target:</a:t>
            </a:r>
            <a:r>
              <a:rPr lang="en-US" sz="2300"/>
              <a:t> 80% decrease in incidents, with a corresponding increase in user trust</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4" name="Shape 464"/>
        <p:cNvGrpSpPr/>
        <p:nvPr/>
      </p:nvGrpSpPr>
      <p:grpSpPr>
        <a:xfrm>
          <a:off x="0" y="0"/>
          <a:ext cx="0" cy="0"/>
          <a:chOff x="0" y="0"/>
          <a:chExt cx="0" cy="0"/>
        </a:xfrm>
      </p:grpSpPr>
      <p:sp>
        <p:nvSpPr>
          <p:cNvPr id="465" name="Google Shape;465;p37"/>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close-up of triangles&#10;&#10;Description automatically generated" id="466" name="Google Shape;466;p37"/>
          <p:cNvPicPr preferRelativeResize="0"/>
          <p:nvPr/>
        </p:nvPicPr>
        <p:blipFill rotWithShape="1">
          <a:blip r:embed="rId3">
            <a:alphaModFix amt="50000"/>
          </a:blip>
          <a:srcRect b="7455" l="0" r="0" t="8275"/>
          <a:stretch/>
        </p:blipFill>
        <p:spPr>
          <a:xfrm>
            <a:off x="0" y="1"/>
            <a:ext cx="12191980" cy="6857999"/>
          </a:xfrm>
          <a:prstGeom prst="rect">
            <a:avLst/>
          </a:prstGeom>
          <a:solidFill>
            <a:srgbClr val="FFC000"/>
          </a:solidFill>
          <a:ln>
            <a:noFill/>
          </a:ln>
        </p:spPr>
      </p:pic>
      <p:sp>
        <p:nvSpPr>
          <p:cNvPr id="467" name="Google Shape;467;p37"/>
          <p:cNvSpPr txBox="1"/>
          <p:nvPr>
            <p:ph type="title"/>
          </p:nvPr>
        </p:nvSpPr>
        <p:spPr>
          <a:xfrm>
            <a:off x="1523990" y="1843790"/>
            <a:ext cx="9144000" cy="188122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GO-TO-MARKET STRATEGY</a:t>
            </a: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67"/>
                                        </p:tgtEl>
                                        <p:attrNameLst>
                                          <p:attrName>style.visibility</p:attrName>
                                        </p:attrNameLst>
                                      </p:cBhvr>
                                      <p:to>
                                        <p:strVal val="visible"/>
                                      </p:to>
                                    </p:set>
                                    <p:animEffect filter="fade" transition="in">
                                      <p:cBhvr>
                                        <p:cTn dur="4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8"/>
          <p:cNvSpPr txBox="1"/>
          <p:nvPr>
            <p:ph type="title"/>
          </p:nvPr>
        </p:nvSpPr>
        <p:spPr>
          <a:xfrm>
            <a:off x="0" y="1"/>
            <a:ext cx="12192000" cy="85443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Go-To-Market Strategy</a:t>
            </a:r>
            <a:endParaRPr/>
          </a:p>
        </p:txBody>
      </p:sp>
      <p:sp>
        <p:nvSpPr>
          <p:cNvPr id="473" name="Google Shape;473;p38"/>
          <p:cNvSpPr txBox="1"/>
          <p:nvPr>
            <p:ph idx="1" type="body"/>
          </p:nvPr>
        </p:nvSpPr>
        <p:spPr>
          <a:xfrm>
            <a:off x="118672" y="1079292"/>
            <a:ext cx="11963400" cy="53664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highlight>
                  <a:srgbClr val="FFFF00"/>
                </a:highlight>
              </a:rPr>
              <a:t>Business Model and Revenue Streams</a:t>
            </a:r>
            <a:endParaRPr/>
          </a:p>
          <a:p>
            <a:pPr indent="-228600" lvl="1" marL="685800" rtl="0" algn="l">
              <a:lnSpc>
                <a:spcPct val="90000"/>
              </a:lnSpc>
              <a:spcBef>
                <a:spcPts val="500"/>
              </a:spcBef>
              <a:spcAft>
                <a:spcPts val="0"/>
              </a:spcAft>
              <a:buClr>
                <a:schemeClr val="dk1"/>
              </a:buClr>
              <a:buSzPts val="2400"/>
              <a:buChar char="•"/>
            </a:pPr>
            <a:r>
              <a:rPr b="1" lang="en-US"/>
              <a:t>Revenue Streams:</a:t>
            </a:r>
            <a:endParaRPr/>
          </a:p>
          <a:p>
            <a:pPr indent="-285750" lvl="2" marL="1200150" rtl="0" algn="l">
              <a:lnSpc>
                <a:spcPct val="90000"/>
              </a:lnSpc>
              <a:spcBef>
                <a:spcPts val="500"/>
              </a:spcBef>
              <a:spcAft>
                <a:spcPts val="0"/>
              </a:spcAft>
              <a:buClr>
                <a:schemeClr val="dk1"/>
              </a:buClr>
              <a:buSzPts val="2000"/>
              <a:buChar char="•"/>
            </a:pPr>
            <a:r>
              <a:rPr lang="en-US"/>
              <a:t>Ride Commissions: Earned on each ride booked through the platform.</a:t>
            </a:r>
            <a:endParaRPr/>
          </a:p>
          <a:p>
            <a:pPr indent="-285750" lvl="2" marL="1200150" rtl="0" algn="l">
              <a:lnSpc>
                <a:spcPct val="90000"/>
              </a:lnSpc>
              <a:spcBef>
                <a:spcPts val="500"/>
              </a:spcBef>
              <a:spcAft>
                <a:spcPts val="0"/>
              </a:spcAft>
              <a:buClr>
                <a:schemeClr val="dk1"/>
              </a:buClr>
              <a:buSzPts val="2000"/>
              <a:buChar char="•"/>
            </a:pPr>
            <a:r>
              <a:rPr lang="en-US"/>
              <a:t>Monthly Pass Subscriptions: Paid subscriptions for frequent users offering discounts and exclusive benefits.</a:t>
            </a:r>
            <a:endParaRPr/>
          </a:p>
          <a:p>
            <a:pPr indent="-285750" lvl="2" marL="1200150" rtl="0" algn="l">
              <a:lnSpc>
                <a:spcPct val="90000"/>
              </a:lnSpc>
              <a:spcBef>
                <a:spcPts val="500"/>
              </a:spcBef>
              <a:spcAft>
                <a:spcPts val="0"/>
              </a:spcAft>
              <a:buClr>
                <a:schemeClr val="dk1"/>
              </a:buClr>
              <a:buSzPts val="2000"/>
              <a:buChar char="•"/>
            </a:pPr>
            <a:r>
              <a:rPr lang="en-US"/>
              <a:t>Guaranteed Ride Premium: Users pay an additional fee for priority ride booking, ensuring a faster pickup time</a:t>
            </a:r>
            <a:endParaRPr/>
          </a:p>
          <a:p>
            <a:pPr indent="-285750" lvl="2" marL="1200150" rtl="0" algn="l">
              <a:lnSpc>
                <a:spcPct val="90000"/>
              </a:lnSpc>
              <a:spcBef>
                <a:spcPts val="500"/>
              </a:spcBef>
              <a:spcAft>
                <a:spcPts val="0"/>
              </a:spcAft>
              <a:buClr>
                <a:schemeClr val="dk1"/>
              </a:buClr>
              <a:buSzPts val="2000"/>
              <a:buChar char="•"/>
            </a:pPr>
            <a:r>
              <a:rPr lang="en-US"/>
              <a:t>Advertising: Revenue generated from in-app advertisements and partnerships.</a:t>
            </a:r>
            <a:endParaRPr/>
          </a:p>
          <a:p>
            <a:pPr indent="-285750" lvl="1" marL="742950" rtl="0" algn="l">
              <a:lnSpc>
                <a:spcPct val="90000"/>
              </a:lnSpc>
              <a:spcBef>
                <a:spcPts val="500"/>
              </a:spcBef>
              <a:spcAft>
                <a:spcPts val="0"/>
              </a:spcAft>
              <a:buClr>
                <a:schemeClr val="dk1"/>
              </a:buClr>
              <a:buSzPts val="2400"/>
              <a:buChar char="•"/>
            </a:pPr>
            <a:r>
              <a:rPr b="1" lang="en-US"/>
              <a:t>Business Model:</a:t>
            </a:r>
            <a:endParaRPr/>
          </a:p>
          <a:p>
            <a:pPr indent="-285750" lvl="2" marL="1200150" rtl="0" algn="l">
              <a:lnSpc>
                <a:spcPct val="90000"/>
              </a:lnSpc>
              <a:spcBef>
                <a:spcPts val="500"/>
              </a:spcBef>
              <a:spcAft>
                <a:spcPts val="0"/>
              </a:spcAft>
              <a:buClr>
                <a:schemeClr val="dk1"/>
              </a:buClr>
              <a:buSzPts val="2000"/>
              <a:buChar char="•"/>
            </a:pPr>
            <a:r>
              <a:rPr b="1" lang="en-US"/>
              <a:t>Subscription-Based Model: </a:t>
            </a:r>
            <a:r>
              <a:rPr lang="en-US"/>
              <a:t>Offer monthly passes to frequent users with benefits such as discounted rides and exclusive features.</a:t>
            </a:r>
            <a:endParaRPr/>
          </a:p>
          <a:p>
            <a:pPr indent="-285750" lvl="2" marL="1200150" rtl="0" algn="l">
              <a:lnSpc>
                <a:spcPct val="90000"/>
              </a:lnSpc>
              <a:spcBef>
                <a:spcPts val="500"/>
              </a:spcBef>
              <a:spcAft>
                <a:spcPts val="0"/>
              </a:spcAft>
              <a:buClr>
                <a:schemeClr val="dk1"/>
              </a:buClr>
              <a:buSzPts val="2000"/>
              <a:buChar char="•"/>
            </a:pPr>
            <a:r>
              <a:rPr b="1" lang="en-US"/>
              <a:t>On-Demand Premium Service: </a:t>
            </a:r>
            <a:r>
              <a:rPr lang="en-US"/>
              <a:t>Introduce a guaranteed ride booking feature that allows users to pay extra for immediate or priority pickups, bypassing the need for tipping for faster service</a:t>
            </a:r>
            <a:r>
              <a:rPr b="1" lang="en-US"/>
              <a:t>.</a:t>
            </a:r>
            <a:endParaRPr sz="2200"/>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9"/>
          <p:cNvSpPr txBox="1"/>
          <p:nvPr>
            <p:ph type="title"/>
          </p:nvPr>
        </p:nvSpPr>
        <p:spPr>
          <a:xfrm>
            <a:off x="0" y="1"/>
            <a:ext cx="12192000" cy="85443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Go-To-Market Strategy</a:t>
            </a:r>
            <a:endParaRPr/>
          </a:p>
        </p:txBody>
      </p:sp>
      <p:sp>
        <p:nvSpPr>
          <p:cNvPr id="479" name="Google Shape;479;p39"/>
          <p:cNvSpPr txBox="1"/>
          <p:nvPr>
            <p:ph idx="1" type="body"/>
          </p:nvPr>
        </p:nvSpPr>
        <p:spPr>
          <a:xfrm>
            <a:off x="118672" y="1079292"/>
            <a:ext cx="11963400" cy="53664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b="1" lang="en-US" sz="2200">
                <a:highlight>
                  <a:srgbClr val="FFFF00"/>
                </a:highlight>
              </a:rPr>
              <a:t>Market Research and Analysis</a:t>
            </a:r>
            <a:endParaRPr/>
          </a:p>
          <a:p>
            <a:pPr indent="-228600" lvl="1" marL="685800" rtl="0" algn="l">
              <a:lnSpc>
                <a:spcPct val="90000"/>
              </a:lnSpc>
              <a:spcBef>
                <a:spcPts val="500"/>
              </a:spcBef>
              <a:spcAft>
                <a:spcPts val="0"/>
              </a:spcAft>
              <a:buClr>
                <a:schemeClr val="dk1"/>
              </a:buClr>
              <a:buSzPts val="2200"/>
              <a:buChar char="•"/>
            </a:pPr>
            <a:r>
              <a:rPr b="1" lang="en-US" sz="2200"/>
              <a:t>Identify Target Audience:</a:t>
            </a:r>
            <a:r>
              <a:rPr lang="en-US" sz="2200"/>
              <a:t> Focus on urban commuters, particularly working professionals aged 20-40 who value quick, affordable, and reliable transportation.</a:t>
            </a:r>
            <a:endParaRPr/>
          </a:p>
          <a:p>
            <a:pPr indent="-228600" lvl="1" marL="685800" rtl="0" algn="l">
              <a:lnSpc>
                <a:spcPct val="90000"/>
              </a:lnSpc>
              <a:spcBef>
                <a:spcPts val="500"/>
              </a:spcBef>
              <a:spcAft>
                <a:spcPts val="0"/>
              </a:spcAft>
              <a:buClr>
                <a:schemeClr val="dk1"/>
              </a:buClr>
              <a:buSzPts val="2200"/>
              <a:buChar char="•"/>
            </a:pPr>
            <a:r>
              <a:rPr b="1" lang="en-US" sz="2200"/>
              <a:t>Competitor Analysis:</a:t>
            </a:r>
            <a:r>
              <a:rPr lang="en-US" sz="2200"/>
              <a:t> Assess competitors like Ola, Uber, and Namma Yatri to understand their strengths, weaknesses, and market positioning.</a:t>
            </a:r>
            <a:endParaRPr/>
          </a:p>
          <a:p>
            <a:pPr indent="-228600" lvl="1" marL="685800" rtl="0" algn="l">
              <a:lnSpc>
                <a:spcPct val="90000"/>
              </a:lnSpc>
              <a:spcBef>
                <a:spcPts val="500"/>
              </a:spcBef>
              <a:spcAft>
                <a:spcPts val="0"/>
              </a:spcAft>
              <a:buClr>
                <a:schemeClr val="dk1"/>
              </a:buClr>
              <a:buSzPts val="2200"/>
              <a:buChar char="•"/>
            </a:pPr>
            <a:r>
              <a:rPr b="1" lang="en-US" sz="2200"/>
              <a:t>User Needs Assessment:</a:t>
            </a:r>
            <a:r>
              <a:rPr lang="en-US" sz="2200"/>
              <a:t> Gather insights through surveys and interviews to understand what users value most in ride-sharing services, such as safety, convenience, and affordability.</a:t>
            </a:r>
            <a:endParaRPr/>
          </a:p>
          <a:p>
            <a:pPr indent="0" lvl="0" marL="0" rtl="0" algn="l">
              <a:lnSpc>
                <a:spcPct val="90000"/>
              </a:lnSpc>
              <a:spcBef>
                <a:spcPts val="1000"/>
              </a:spcBef>
              <a:spcAft>
                <a:spcPts val="0"/>
              </a:spcAft>
              <a:buClr>
                <a:schemeClr val="dk1"/>
              </a:buClr>
              <a:buSzPts val="2200"/>
              <a:buNone/>
            </a:pPr>
            <a:r>
              <a:rPr b="1" lang="en-US" sz="2200">
                <a:highlight>
                  <a:srgbClr val="FFFF00"/>
                </a:highlight>
              </a:rPr>
              <a:t>Value Proposition and USP</a:t>
            </a:r>
            <a:endParaRPr/>
          </a:p>
          <a:p>
            <a:pPr indent="-228600" lvl="1" marL="685800" rtl="0" algn="l">
              <a:lnSpc>
                <a:spcPct val="90000"/>
              </a:lnSpc>
              <a:spcBef>
                <a:spcPts val="500"/>
              </a:spcBef>
              <a:spcAft>
                <a:spcPts val="0"/>
              </a:spcAft>
              <a:buClr>
                <a:schemeClr val="dk1"/>
              </a:buClr>
              <a:buSzPts val="2200"/>
              <a:buChar char="•"/>
            </a:pPr>
            <a:r>
              <a:rPr b="1" lang="en-US" sz="2200"/>
              <a:t>Core Value Proposition:</a:t>
            </a:r>
            <a:r>
              <a:rPr lang="en-US" sz="2200"/>
              <a:t> Emphasize Rapido's commitment to quick, safe, and affordable rides, with unique features like driver safety ratings and guaranteed ride bookings.</a:t>
            </a:r>
            <a:endParaRPr/>
          </a:p>
          <a:p>
            <a:pPr indent="-228600" lvl="1" marL="685800" rtl="0" algn="l">
              <a:lnSpc>
                <a:spcPct val="90000"/>
              </a:lnSpc>
              <a:spcBef>
                <a:spcPts val="500"/>
              </a:spcBef>
              <a:spcAft>
                <a:spcPts val="0"/>
              </a:spcAft>
              <a:buClr>
                <a:schemeClr val="dk1"/>
              </a:buClr>
              <a:buSzPts val="2200"/>
              <a:buChar char="•"/>
            </a:pPr>
            <a:r>
              <a:rPr b="1" lang="en-US" sz="2200"/>
              <a:t>USP:</a:t>
            </a:r>
            <a:r>
              <a:rPr lang="en-US" sz="2200"/>
              <a:t> Focus on the benefits of using Rapido, such as reliable service, enhanced safety features, and cost-effective transportation options.</a:t>
            </a:r>
            <a:endParaRPr/>
          </a:p>
          <a:p>
            <a:pPr indent="-228600" lvl="1" marL="685800" rtl="0" algn="l">
              <a:lnSpc>
                <a:spcPct val="90000"/>
              </a:lnSpc>
              <a:spcBef>
                <a:spcPts val="500"/>
              </a:spcBef>
              <a:spcAft>
                <a:spcPts val="0"/>
              </a:spcAft>
              <a:buClr>
                <a:schemeClr val="dk1"/>
              </a:buClr>
              <a:buSzPts val="2200"/>
              <a:buChar char="•"/>
            </a:pPr>
            <a:r>
              <a:rPr b="1" lang="en-US" sz="2200"/>
              <a:t>Brand Identity:</a:t>
            </a:r>
            <a:r>
              <a:rPr lang="en-US" sz="2200"/>
              <a:t> Develop a brand image that resonates with professionalism, trust, and innovation in the urban transportation sector.</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0"/>
          <p:cNvSpPr txBox="1"/>
          <p:nvPr>
            <p:ph type="title"/>
          </p:nvPr>
        </p:nvSpPr>
        <p:spPr>
          <a:xfrm>
            <a:off x="0" y="1"/>
            <a:ext cx="12192000" cy="85443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Go-To-Market Strategy</a:t>
            </a:r>
            <a:endParaRPr/>
          </a:p>
        </p:txBody>
      </p:sp>
      <p:sp>
        <p:nvSpPr>
          <p:cNvPr id="485" name="Google Shape;485;p40"/>
          <p:cNvSpPr txBox="1"/>
          <p:nvPr>
            <p:ph idx="1" type="body"/>
          </p:nvPr>
        </p:nvSpPr>
        <p:spPr>
          <a:xfrm>
            <a:off x="0" y="1079292"/>
            <a:ext cx="12082072" cy="53664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highlight>
                  <a:srgbClr val="FFFF00"/>
                </a:highlight>
              </a:rPr>
              <a:t>Product Development and Launch</a:t>
            </a:r>
            <a:endParaRPr/>
          </a:p>
          <a:p>
            <a:pPr indent="0" lvl="0" marL="0" rtl="0" algn="l">
              <a:lnSpc>
                <a:spcPct val="90000"/>
              </a:lnSpc>
              <a:spcBef>
                <a:spcPts val="1000"/>
              </a:spcBef>
              <a:spcAft>
                <a:spcPts val="0"/>
              </a:spcAft>
              <a:buClr>
                <a:schemeClr val="dk1"/>
              </a:buClr>
              <a:buSzPts val="2800"/>
              <a:buNone/>
            </a:pPr>
            <a:r>
              <a:t/>
            </a:r>
            <a:endParaRPr b="1">
              <a:highlight>
                <a:srgbClr val="FFFF00"/>
              </a:highlight>
            </a:endParaRPr>
          </a:p>
          <a:p>
            <a:pPr indent="-228600" lvl="1" marL="685800" rtl="0" algn="l">
              <a:lnSpc>
                <a:spcPct val="90000"/>
              </a:lnSpc>
              <a:spcBef>
                <a:spcPts val="500"/>
              </a:spcBef>
              <a:spcAft>
                <a:spcPts val="0"/>
              </a:spcAft>
              <a:buClr>
                <a:schemeClr val="dk1"/>
              </a:buClr>
              <a:buSzPts val="2400"/>
              <a:buChar char="•"/>
            </a:pPr>
            <a:r>
              <a:rPr b="1" lang="en-US"/>
              <a:t>MVP Development:</a:t>
            </a:r>
            <a:r>
              <a:rPr lang="en-US"/>
              <a:t> Prioritize essential features like guaranteed ride bookings, driver safety feedback, and enhanced customer support for the initial launch.</a:t>
            </a:r>
            <a:endParaRPr/>
          </a:p>
          <a:p>
            <a:pPr indent="-228600" lvl="1" marL="685800" rtl="0" algn="l">
              <a:lnSpc>
                <a:spcPct val="90000"/>
              </a:lnSpc>
              <a:spcBef>
                <a:spcPts val="500"/>
              </a:spcBef>
              <a:spcAft>
                <a:spcPts val="0"/>
              </a:spcAft>
              <a:buClr>
                <a:schemeClr val="dk1"/>
              </a:buClr>
              <a:buSzPts val="2400"/>
              <a:buChar char="•"/>
            </a:pPr>
            <a:r>
              <a:rPr b="1" lang="en-US"/>
              <a:t>Beta Testing:</a:t>
            </a:r>
            <a:r>
              <a:rPr lang="en-US"/>
              <a:t> Conduct a beta test with a select group of users to gather feedback and make necessary adjustments before the full launch.</a:t>
            </a:r>
            <a:endParaRPr/>
          </a:p>
          <a:p>
            <a:pPr indent="-228600" lvl="1" marL="685800" rtl="0" algn="l">
              <a:lnSpc>
                <a:spcPct val="90000"/>
              </a:lnSpc>
              <a:spcBef>
                <a:spcPts val="500"/>
              </a:spcBef>
              <a:spcAft>
                <a:spcPts val="0"/>
              </a:spcAft>
              <a:buClr>
                <a:schemeClr val="dk1"/>
              </a:buClr>
              <a:buSzPts val="2400"/>
              <a:buChar char="•"/>
            </a:pPr>
            <a:r>
              <a:rPr b="1" lang="en-US"/>
              <a:t>Launch Readiness:</a:t>
            </a:r>
            <a:r>
              <a:rPr lang="en-US"/>
              <a:t> Ensure the app is fully functional, secure, and user-friendly, with all key features thoroughly tested and optimized.</a:t>
            </a:r>
            <a:endParaRPr/>
          </a:p>
          <a:p>
            <a:pPr indent="0" lvl="0" marL="0" rtl="0" algn="l">
              <a:lnSpc>
                <a:spcPct val="90000"/>
              </a:lnSpc>
              <a:spcBef>
                <a:spcPts val="1000"/>
              </a:spcBef>
              <a:spcAft>
                <a:spcPts val="0"/>
              </a:spcAft>
              <a:buClr>
                <a:schemeClr val="dk1"/>
              </a:buClr>
              <a:buSzPts val="2400"/>
              <a:buNone/>
            </a:pPr>
            <a:r>
              <a:t/>
            </a:r>
            <a:endParaRPr sz="2400"/>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1"/>
          <p:cNvSpPr txBox="1"/>
          <p:nvPr>
            <p:ph type="title"/>
          </p:nvPr>
        </p:nvSpPr>
        <p:spPr>
          <a:xfrm>
            <a:off x="0" y="1"/>
            <a:ext cx="12192000" cy="85443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Go-To-Market Strategy</a:t>
            </a:r>
            <a:endParaRPr/>
          </a:p>
        </p:txBody>
      </p:sp>
      <p:sp>
        <p:nvSpPr>
          <p:cNvPr id="491" name="Google Shape;491;p41"/>
          <p:cNvSpPr txBox="1"/>
          <p:nvPr>
            <p:ph idx="1" type="body"/>
          </p:nvPr>
        </p:nvSpPr>
        <p:spPr>
          <a:xfrm>
            <a:off x="118672" y="1079292"/>
            <a:ext cx="11963400" cy="53664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highlight>
                  <a:srgbClr val="FFFF00"/>
                </a:highlight>
              </a:rPr>
              <a:t>Distribution, Sales Channels, and Marketing</a:t>
            </a:r>
            <a:endParaRPr/>
          </a:p>
          <a:p>
            <a:pPr indent="0" lvl="0" marL="0" rtl="0" algn="l">
              <a:lnSpc>
                <a:spcPct val="90000"/>
              </a:lnSpc>
              <a:spcBef>
                <a:spcPts val="1000"/>
              </a:spcBef>
              <a:spcAft>
                <a:spcPts val="0"/>
              </a:spcAft>
              <a:buClr>
                <a:schemeClr val="dk1"/>
              </a:buClr>
              <a:buSzPts val="2400"/>
              <a:buNone/>
            </a:pPr>
            <a:r>
              <a:rPr b="1" lang="en-US" sz="2400"/>
              <a:t>Channels:</a:t>
            </a:r>
            <a:endParaRPr sz="2400"/>
          </a:p>
          <a:p>
            <a:pPr indent="-285750" lvl="2" marL="1200150" rtl="0" algn="l">
              <a:lnSpc>
                <a:spcPct val="90000"/>
              </a:lnSpc>
              <a:spcBef>
                <a:spcPts val="500"/>
              </a:spcBef>
              <a:spcAft>
                <a:spcPts val="0"/>
              </a:spcAft>
              <a:buClr>
                <a:schemeClr val="dk1"/>
              </a:buClr>
              <a:buSzPts val="2000"/>
              <a:buChar char="•"/>
            </a:pPr>
            <a:r>
              <a:rPr b="1" lang="en-US"/>
              <a:t>Mobile App:</a:t>
            </a:r>
            <a:r>
              <a:rPr lang="en-US"/>
              <a:t> The primary platform for user interaction, including booking rides, making payments, and accessing customer support.</a:t>
            </a:r>
            <a:endParaRPr/>
          </a:p>
          <a:p>
            <a:pPr indent="-285750" lvl="2" marL="1200150" rtl="0" algn="l">
              <a:lnSpc>
                <a:spcPct val="90000"/>
              </a:lnSpc>
              <a:spcBef>
                <a:spcPts val="500"/>
              </a:spcBef>
              <a:spcAft>
                <a:spcPts val="0"/>
              </a:spcAft>
              <a:buClr>
                <a:schemeClr val="dk1"/>
              </a:buClr>
              <a:buSzPts val="2000"/>
              <a:buChar char="•"/>
            </a:pPr>
            <a:r>
              <a:rPr b="1" lang="en-US"/>
              <a:t>Partnerships with Local Businesses:</a:t>
            </a:r>
            <a:r>
              <a:rPr lang="en-US"/>
              <a:t> Collaborate with local businesses to offer discounts, subscription packages, and other promotions.</a:t>
            </a:r>
            <a:endParaRPr/>
          </a:p>
          <a:p>
            <a:pPr indent="-285750" lvl="2" marL="1200150" rtl="0" algn="l">
              <a:lnSpc>
                <a:spcPct val="90000"/>
              </a:lnSpc>
              <a:spcBef>
                <a:spcPts val="500"/>
              </a:spcBef>
              <a:spcAft>
                <a:spcPts val="0"/>
              </a:spcAft>
              <a:buClr>
                <a:schemeClr val="dk1"/>
              </a:buClr>
              <a:buSzPts val="2000"/>
              <a:buChar char="•"/>
            </a:pPr>
            <a:r>
              <a:rPr b="1" lang="en-US"/>
              <a:t>Digital Marketing:</a:t>
            </a:r>
            <a:r>
              <a:rPr lang="en-US"/>
              <a:t> Utilize SEO, content marketing, social media, and influencer partnerships to drive user acquisition.</a:t>
            </a:r>
            <a:endParaRPr/>
          </a:p>
          <a:p>
            <a:pPr indent="0" lvl="0" marL="0" rtl="0" algn="l">
              <a:lnSpc>
                <a:spcPct val="90000"/>
              </a:lnSpc>
              <a:spcBef>
                <a:spcPts val="1000"/>
              </a:spcBef>
              <a:spcAft>
                <a:spcPts val="0"/>
              </a:spcAft>
              <a:buClr>
                <a:schemeClr val="dk1"/>
              </a:buClr>
              <a:buSzPts val="2400"/>
              <a:buNone/>
            </a:pPr>
            <a:r>
              <a:rPr b="1" lang="en-US" sz="2400"/>
              <a:t>Marketing Campaigns:</a:t>
            </a:r>
            <a:endParaRPr sz="2400"/>
          </a:p>
          <a:p>
            <a:pPr indent="-285750" lvl="2" marL="1200150" rtl="0" algn="l">
              <a:lnSpc>
                <a:spcPct val="90000"/>
              </a:lnSpc>
              <a:spcBef>
                <a:spcPts val="500"/>
              </a:spcBef>
              <a:spcAft>
                <a:spcPts val="0"/>
              </a:spcAft>
              <a:buClr>
                <a:schemeClr val="dk1"/>
              </a:buClr>
              <a:buSzPts val="2000"/>
              <a:buChar char="•"/>
            </a:pPr>
            <a:r>
              <a:rPr b="1" lang="en-US"/>
              <a:t>Targeted Campaigns:</a:t>
            </a:r>
            <a:r>
              <a:rPr lang="en-US"/>
              <a:t> Highlight unique features, safety measures, and affordability to attract specific user segments.</a:t>
            </a:r>
            <a:endParaRPr/>
          </a:p>
          <a:p>
            <a:pPr indent="-285750" lvl="2" marL="1200150" rtl="0" algn="l">
              <a:lnSpc>
                <a:spcPct val="90000"/>
              </a:lnSpc>
              <a:spcBef>
                <a:spcPts val="500"/>
              </a:spcBef>
              <a:spcAft>
                <a:spcPts val="0"/>
              </a:spcAft>
              <a:buClr>
                <a:schemeClr val="dk1"/>
              </a:buClr>
              <a:buSzPts val="2000"/>
              <a:buChar char="•"/>
            </a:pPr>
            <a:r>
              <a:rPr b="1" lang="en-US"/>
              <a:t>Public Relations:</a:t>
            </a:r>
            <a:r>
              <a:rPr lang="en-US"/>
              <a:t> Issue press releases and seek media coverage to build brand visibility.</a:t>
            </a:r>
            <a:endParaRPr/>
          </a:p>
          <a:p>
            <a:pPr indent="0" lvl="0" marL="0" rtl="0" algn="l">
              <a:lnSpc>
                <a:spcPct val="90000"/>
              </a:lnSpc>
              <a:spcBef>
                <a:spcPts val="1000"/>
              </a:spcBef>
              <a:spcAft>
                <a:spcPts val="0"/>
              </a:spcAft>
              <a:buClr>
                <a:schemeClr val="dk1"/>
              </a:buClr>
              <a:buSzPts val="2400"/>
              <a:buNone/>
            </a:pPr>
            <a:r>
              <a:rPr b="1" lang="en-US" sz="2400"/>
              <a:t>Corporate Partnerships:</a:t>
            </a:r>
            <a:endParaRPr sz="2400"/>
          </a:p>
          <a:p>
            <a:pPr indent="-285750" lvl="2" marL="1200150" rtl="0" algn="l">
              <a:lnSpc>
                <a:spcPct val="90000"/>
              </a:lnSpc>
              <a:spcBef>
                <a:spcPts val="500"/>
              </a:spcBef>
              <a:spcAft>
                <a:spcPts val="0"/>
              </a:spcAft>
              <a:buClr>
                <a:schemeClr val="dk1"/>
              </a:buClr>
              <a:buSzPts val="2000"/>
              <a:buChar char="•"/>
            </a:pPr>
            <a:r>
              <a:rPr lang="en-US"/>
              <a:t>Partner with companies to offer the app as part of their employee transportation programs.</a:t>
            </a:r>
            <a:endParaRPr/>
          </a:p>
          <a:p>
            <a:pPr indent="-285750" lvl="2" marL="1200150" rtl="0" algn="l">
              <a:lnSpc>
                <a:spcPct val="90000"/>
              </a:lnSpc>
              <a:spcBef>
                <a:spcPts val="500"/>
              </a:spcBef>
              <a:spcAft>
                <a:spcPts val="0"/>
              </a:spcAft>
              <a:buClr>
                <a:schemeClr val="dk1"/>
              </a:buClr>
              <a:buSzPts val="2000"/>
              <a:buChar char="•"/>
            </a:pPr>
            <a:r>
              <a:rPr lang="en-US"/>
              <a:t>Provide bulk subscription packages and special discounts for corporate clients.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2"/>
          <p:cNvSpPr txBox="1"/>
          <p:nvPr>
            <p:ph type="title"/>
          </p:nvPr>
        </p:nvSpPr>
        <p:spPr>
          <a:xfrm>
            <a:off x="0" y="1"/>
            <a:ext cx="12192000" cy="85443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Go-To-Market Strategy</a:t>
            </a:r>
            <a:endParaRPr/>
          </a:p>
        </p:txBody>
      </p:sp>
      <p:sp>
        <p:nvSpPr>
          <p:cNvPr id="497" name="Google Shape;497;p42"/>
          <p:cNvSpPr txBox="1"/>
          <p:nvPr>
            <p:ph idx="1" type="body"/>
          </p:nvPr>
        </p:nvSpPr>
        <p:spPr>
          <a:xfrm>
            <a:off x="0" y="1079291"/>
            <a:ext cx="11992131" cy="60035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highlight>
                  <a:srgbClr val="FFFF00"/>
                </a:highlight>
              </a:rPr>
              <a:t>Customer Engagement and Retention</a:t>
            </a:r>
            <a:endParaRPr/>
          </a:p>
          <a:p>
            <a:pPr indent="-228600" lvl="1" marL="685800" rtl="0" algn="l">
              <a:lnSpc>
                <a:spcPct val="90000"/>
              </a:lnSpc>
              <a:spcBef>
                <a:spcPts val="500"/>
              </a:spcBef>
              <a:spcAft>
                <a:spcPts val="0"/>
              </a:spcAft>
              <a:buClr>
                <a:schemeClr val="dk1"/>
              </a:buClr>
              <a:buSzPts val="2400"/>
              <a:buChar char="•"/>
            </a:pPr>
            <a:r>
              <a:rPr b="1" lang="en-US"/>
              <a:t>Onboarding Process:</a:t>
            </a:r>
            <a:r>
              <a:rPr lang="en-US"/>
              <a:t> </a:t>
            </a:r>
            <a:endParaRPr/>
          </a:p>
          <a:p>
            <a:pPr indent="-228600" lvl="2" marL="1143000" rtl="0" algn="l">
              <a:lnSpc>
                <a:spcPct val="90000"/>
              </a:lnSpc>
              <a:spcBef>
                <a:spcPts val="500"/>
              </a:spcBef>
              <a:spcAft>
                <a:spcPts val="0"/>
              </a:spcAft>
              <a:buClr>
                <a:schemeClr val="dk1"/>
              </a:buClr>
              <a:buSzPts val="2000"/>
              <a:buChar char="•"/>
            </a:pPr>
            <a:r>
              <a:rPr lang="en-US"/>
              <a:t>Create a seamless and informative onboarding experience to help new users quickly navigate the app and access its features.</a:t>
            </a:r>
            <a:endParaRPr/>
          </a:p>
          <a:p>
            <a:pPr indent="-228600" lvl="2" marL="1143000" rtl="0" algn="l">
              <a:lnSpc>
                <a:spcPct val="90000"/>
              </a:lnSpc>
              <a:spcBef>
                <a:spcPts val="500"/>
              </a:spcBef>
              <a:spcAft>
                <a:spcPts val="0"/>
              </a:spcAft>
              <a:buClr>
                <a:schemeClr val="dk1"/>
              </a:buClr>
              <a:buSzPts val="2000"/>
              <a:buChar char="•"/>
            </a:pPr>
            <a:r>
              <a:rPr lang="en-US"/>
              <a:t>Provide a welcome package that includes tips for getting started and making the most of the app’s features.</a:t>
            </a:r>
            <a:endParaRPr/>
          </a:p>
          <a:p>
            <a:pPr indent="-228600" lvl="1" marL="685800" rtl="0" algn="l">
              <a:lnSpc>
                <a:spcPct val="90000"/>
              </a:lnSpc>
              <a:spcBef>
                <a:spcPts val="500"/>
              </a:spcBef>
              <a:spcAft>
                <a:spcPts val="0"/>
              </a:spcAft>
              <a:buClr>
                <a:schemeClr val="dk1"/>
              </a:buClr>
              <a:buSzPts val="2400"/>
              <a:buChar char="•"/>
            </a:pPr>
            <a:r>
              <a:rPr b="1" lang="en-US"/>
              <a:t>Continuous Improvement:</a:t>
            </a:r>
            <a:r>
              <a:rPr lang="en-US"/>
              <a:t> </a:t>
            </a:r>
            <a:endParaRPr/>
          </a:p>
          <a:p>
            <a:pPr indent="-228600" lvl="2" marL="1143000" rtl="0" algn="l">
              <a:lnSpc>
                <a:spcPct val="90000"/>
              </a:lnSpc>
              <a:spcBef>
                <a:spcPts val="500"/>
              </a:spcBef>
              <a:spcAft>
                <a:spcPts val="0"/>
              </a:spcAft>
              <a:buClr>
                <a:schemeClr val="dk1"/>
              </a:buClr>
              <a:buSzPts val="2000"/>
              <a:buChar char="•"/>
            </a:pPr>
            <a:r>
              <a:rPr lang="en-US"/>
              <a:t>Regularly update the app based on user feedback and technological advancements</a:t>
            </a:r>
            <a:endParaRPr/>
          </a:p>
          <a:p>
            <a:pPr indent="-228600" lvl="2" marL="1143000" rtl="0" algn="l">
              <a:lnSpc>
                <a:spcPct val="90000"/>
              </a:lnSpc>
              <a:spcBef>
                <a:spcPts val="500"/>
              </a:spcBef>
              <a:spcAft>
                <a:spcPts val="0"/>
              </a:spcAft>
              <a:buClr>
                <a:schemeClr val="dk1"/>
              </a:buClr>
              <a:buSzPts val="2000"/>
              <a:buChar char="•"/>
            </a:pPr>
            <a:r>
              <a:rPr lang="en-US"/>
              <a:t>Introduce new features to keep users engaged.</a:t>
            </a:r>
            <a:endParaRPr/>
          </a:p>
          <a:p>
            <a:pPr indent="-228600" lvl="1" marL="685800" rtl="0" algn="l">
              <a:lnSpc>
                <a:spcPct val="90000"/>
              </a:lnSpc>
              <a:spcBef>
                <a:spcPts val="500"/>
              </a:spcBef>
              <a:spcAft>
                <a:spcPts val="0"/>
              </a:spcAft>
              <a:buClr>
                <a:schemeClr val="dk1"/>
              </a:buClr>
              <a:buSzPts val="2400"/>
              <a:buChar char="•"/>
            </a:pPr>
            <a:r>
              <a:rPr b="1" lang="en-US"/>
              <a:t>Customer Support:</a:t>
            </a:r>
            <a:endParaRPr/>
          </a:p>
          <a:p>
            <a:pPr indent="-228600" lvl="2" marL="1143000" rtl="0" algn="l">
              <a:lnSpc>
                <a:spcPct val="90000"/>
              </a:lnSpc>
              <a:spcBef>
                <a:spcPts val="500"/>
              </a:spcBef>
              <a:spcAft>
                <a:spcPts val="0"/>
              </a:spcAft>
              <a:buClr>
                <a:schemeClr val="dk1"/>
              </a:buClr>
              <a:buSzPts val="2000"/>
              <a:buChar char="•"/>
            </a:pPr>
            <a:r>
              <a:rPr lang="en-US"/>
              <a:t> Provide robust customer support with in-app chat, call options, and a dedicated SOS feature for emergencies.</a:t>
            </a:r>
            <a:endParaRPr/>
          </a:p>
          <a:p>
            <a:pPr indent="-228600" lvl="1" marL="685800" rtl="0" algn="l">
              <a:lnSpc>
                <a:spcPct val="90000"/>
              </a:lnSpc>
              <a:spcBef>
                <a:spcPts val="500"/>
              </a:spcBef>
              <a:spcAft>
                <a:spcPts val="0"/>
              </a:spcAft>
              <a:buClr>
                <a:schemeClr val="dk1"/>
              </a:buClr>
              <a:buSzPts val="2400"/>
              <a:buChar char="•"/>
            </a:pPr>
            <a:r>
              <a:rPr b="1" lang="en-US"/>
              <a:t>Community Building:</a:t>
            </a:r>
            <a:r>
              <a:rPr lang="en-US"/>
              <a:t> </a:t>
            </a:r>
            <a:endParaRPr/>
          </a:p>
          <a:p>
            <a:pPr indent="-228600" lvl="2" marL="1143000" rtl="0" algn="l">
              <a:lnSpc>
                <a:spcPct val="90000"/>
              </a:lnSpc>
              <a:spcBef>
                <a:spcPts val="500"/>
              </a:spcBef>
              <a:spcAft>
                <a:spcPts val="0"/>
              </a:spcAft>
              <a:buClr>
                <a:schemeClr val="dk1"/>
              </a:buClr>
              <a:buSzPts val="2000"/>
              <a:buChar char="•"/>
            </a:pPr>
            <a:r>
              <a:rPr lang="en-US"/>
              <a:t>Foster a sense of community among users through features like ride-sharing forums and driver appreciation programs</a:t>
            </a:r>
            <a:r>
              <a:rPr lang="en-US" sz="1600"/>
              <a:t>.</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3"/>
          <p:cNvSpPr txBox="1"/>
          <p:nvPr>
            <p:ph type="title"/>
          </p:nvPr>
        </p:nvSpPr>
        <p:spPr>
          <a:xfrm>
            <a:off x="0" y="1"/>
            <a:ext cx="12192000" cy="854438"/>
          </a:xfrm>
          <a:prstGeom prst="rect">
            <a:avLst/>
          </a:prstGeom>
          <a:solidFill>
            <a:srgbClr val="FFC000"/>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Go-To-Market Strategy</a:t>
            </a:r>
            <a:endParaRPr/>
          </a:p>
        </p:txBody>
      </p:sp>
      <p:sp>
        <p:nvSpPr>
          <p:cNvPr id="503" name="Google Shape;503;p43"/>
          <p:cNvSpPr txBox="1"/>
          <p:nvPr>
            <p:ph idx="1" type="body"/>
          </p:nvPr>
        </p:nvSpPr>
        <p:spPr>
          <a:xfrm>
            <a:off x="0" y="1079291"/>
            <a:ext cx="11992131" cy="6003560"/>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Clr>
                <a:schemeClr val="dk1"/>
              </a:buClr>
              <a:buSzPts val="1900"/>
              <a:buNone/>
            </a:pPr>
            <a:r>
              <a:t/>
            </a:r>
            <a:endParaRPr sz="1900"/>
          </a:p>
          <a:p>
            <a:pPr indent="0" lvl="0" marL="0" rtl="0" algn="l">
              <a:lnSpc>
                <a:spcPct val="90000"/>
              </a:lnSpc>
              <a:spcBef>
                <a:spcPts val="1000"/>
              </a:spcBef>
              <a:spcAft>
                <a:spcPts val="0"/>
              </a:spcAft>
              <a:buClr>
                <a:schemeClr val="dk1"/>
              </a:buClr>
              <a:buSzPts val="2800"/>
              <a:buNone/>
            </a:pPr>
            <a:r>
              <a:rPr b="1" lang="en-US">
                <a:highlight>
                  <a:srgbClr val="FFFF00"/>
                </a:highlight>
              </a:rPr>
              <a:t>Metrics and Analytics</a:t>
            </a:r>
            <a:endParaRPr/>
          </a:p>
          <a:p>
            <a:pPr indent="-228600" lvl="1" marL="685800" rtl="0" algn="l">
              <a:lnSpc>
                <a:spcPct val="90000"/>
              </a:lnSpc>
              <a:spcBef>
                <a:spcPts val="500"/>
              </a:spcBef>
              <a:spcAft>
                <a:spcPts val="0"/>
              </a:spcAft>
              <a:buClr>
                <a:schemeClr val="dk1"/>
              </a:buClr>
              <a:buSzPts val="2400"/>
              <a:buChar char="•"/>
            </a:pPr>
            <a:r>
              <a:rPr b="1" lang="en-US"/>
              <a:t>KPIs:</a:t>
            </a:r>
            <a:r>
              <a:rPr lang="en-US"/>
              <a:t> </a:t>
            </a:r>
            <a:endParaRPr/>
          </a:p>
          <a:p>
            <a:pPr indent="-228600" lvl="2" marL="1143000" rtl="0" algn="l">
              <a:lnSpc>
                <a:spcPct val="90000"/>
              </a:lnSpc>
              <a:spcBef>
                <a:spcPts val="500"/>
              </a:spcBef>
              <a:spcAft>
                <a:spcPts val="0"/>
              </a:spcAft>
              <a:buClr>
                <a:schemeClr val="dk1"/>
              </a:buClr>
              <a:buSzPts val="2400"/>
              <a:buChar char="•"/>
            </a:pPr>
            <a:r>
              <a:rPr lang="en-US" sz="2400"/>
              <a:t>Track key performance indicators like user acquisition, retention rates, and session frequency to measure the success of your GTM strategy.</a:t>
            </a:r>
            <a:endParaRPr/>
          </a:p>
          <a:p>
            <a:pPr indent="-228600" lvl="2" marL="1143000" rtl="0" algn="l">
              <a:lnSpc>
                <a:spcPct val="90000"/>
              </a:lnSpc>
              <a:spcBef>
                <a:spcPts val="500"/>
              </a:spcBef>
              <a:spcAft>
                <a:spcPts val="0"/>
              </a:spcAft>
              <a:buClr>
                <a:schemeClr val="dk1"/>
              </a:buClr>
              <a:buSzPts val="2400"/>
              <a:buChar char="•"/>
            </a:pPr>
            <a:r>
              <a:rPr lang="en-US" sz="2400"/>
              <a:t>Monitor latest app store rankings, reviews, and ratings after launch</a:t>
            </a:r>
            <a:endParaRPr/>
          </a:p>
          <a:p>
            <a:pPr indent="-228600" lvl="1" marL="685800" rtl="0" algn="l">
              <a:lnSpc>
                <a:spcPct val="90000"/>
              </a:lnSpc>
              <a:spcBef>
                <a:spcPts val="500"/>
              </a:spcBef>
              <a:spcAft>
                <a:spcPts val="0"/>
              </a:spcAft>
              <a:buClr>
                <a:schemeClr val="dk1"/>
              </a:buClr>
              <a:buSzPts val="2400"/>
              <a:buChar char="•"/>
            </a:pPr>
            <a:r>
              <a:rPr b="1" lang="en-US"/>
              <a:t>User Feedback:</a:t>
            </a:r>
            <a:r>
              <a:rPr lang="en-US"/>
              <a:t> Regularly collect user feedback through surveys, in-app prompts, and focus groups to understand user needs and improve the app.</a:t>
            </a:r>
            <a:endParaRPr/>
          </a:p>
          <a:p>
            <a:pPr indent="-228600" lvl="1" marL="685800" rtl="0" algn="l">
              <a:lnSpc>
                <a:spcPct val="90000"/>
              </a:lnSpc>
              <a:spcBef>
                <a:spcPts val="500"/>
              </a:spcBef>
              <a:spcAft>
                <a:spcPts val="0"/>
              </a:spcAft>
              <a:buClr>
                <a:schemeClr val="dk1"/>
              </a:buClr>
              <a:buSzPts val="2400"/>
              <a:buChar char="•"/>
            </a:pPr>
            <a:r>
              <a:rPr b="1" lang="en-US"/>
              <a:t>Data-Driven Decisions:</a:t>
            </a:r>
            <a:r>
              <a:rPr lang="en-US"/>
              <a:t> </a:t>
            </a:r>
            <a:endParaRPr/>
          </a:p>
          <a:p>
            <a:pPr indent="-228600" lvl="2" marL="1143000" rtl="0" algn="l">
              <a:lnSpc>
                <a:spcPct val="90000"/>
              </a:lnSpc>
              <a:spcBef>
                <a:spcPts val="500"/>
              </a:spcBef>
              <a:spcAft>
                <a:spcPts val="0"/>
              </a:spcAft>
              <a:buClr>
                <a:schemeClr val="dk1"/>
              </a:buClr>
              <a:buSzPts val="2400"/>
              <a:buChar char="•"/>
            </a:pPr>
            <a:r>
              <a:rPr lang="en-US" sz="2400"/>
              <a:t>Use analytics tools to gather insights on user behavior and engagement.</a:t>
            </a:r>
            <a:endParaRPr/>
          </a:p>
          <a:p>
            <a:pPr indent="-228600" lvl="2" marL="1143000" rtl="0" algn="l">
              <a:lnSpc>
                <a:spcPct val="90000"/>
              </a:lnSpc>
              <a:spcBef>
                <a:spcPts val="500"/>
              </a:spcBef>
              <a:spcAft>
                <a:spcPts val="0"/>
              </a:spcAft>
              <a:buClr>
                <a:schemeClr val="dk1"/>
              </a:buClr>
              <a:buSzPts val="2400"/>
              <a:buChar char="•"/>
            </a:pPr>
            <a:r>
              <a:rPr lang="en-US" sz="2400"/>
              <a:t>Make data-driven decisions to enhance user experience and optimize marketing strategies.</a:t>
            </a:r>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08" name="Shape 508"/>
        <p:cNvGrpSpPr/>
        <p:nvPr/>
      </p:nvGrpSpPr>
      <p:grpSpPr>
        <a:xfrm>
          <a:off x="0" y="0"/>
          <a:ext cx="0" cy="0"/>
          <a:chOff x="0" y="0"/>
          <a:chExt cx="0" cy="0"/>
        </a:xfrm>
      </p:grpSpPr>
      <p:sp>
        <p:nvSpPr>
          <p:cNvPr id="509" name="Google Shape;509;p44"/>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eo"/>
              <a:ea typeface="Geo"/>
              <a:cs typeface="Geo"/>
              <a:sym typeface="Geo"/>
            </a:endParaRPr>
          </a:p>
        </p:txBody>
      </p:sp>
      <p:pic>
        <p:nvPicPr>
          <p:cNvPr descr="A close-up of triangles&#10;&#10;Description automatically generated" id="510" name="Google Shape;510;p44"/>
          <p:cNvPicPr preferRelativeResize="0"/>
          <p:nvPr/>
        </p:nvPicPr>
        <p:blipFill rotWithShape="1">
          <a:blip r:embed="rId3">
            <a:alphaModFix amt="50000"/>
          </a:blip>
          <a:srcRect b="7455" l="0" r="0" t="8275"/>
          <a:stretch/>
        </p:blipFill>
        <p:spPr>
          <a:xfrm>
            <a:off x="0" y="1"/>
            <a:ext cx="12191980" cy="6857999"/>
          </a:xfrm>
          <a:prstGeom prst="rect">
            <a:avLst/>
          </a:prstGeom>
          <a:solidFill>
            <a:srgbClr val="FFC000"/>
          </a:solidFill>
          <a:ln>
            <a:noFill/>
          </a:ln>
        </p:spPr>
      </p:pic>
      <p:sp>
        <p:nvSpPr>
          <p:cNvPr id="511" name="Google Shape;511;p44"/>
          <p:cNvSpPr txBox="1"/>
          <p:nvPr>
            <p:ph type="title"/>
          </p:nvPr>
        </p:nvSpPr>
        <p:spPr>
          <a:xfrm>
            <a:off x="1006764" y="1579418"/>
            <a:ext cx="9809018" cy="31126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ADLaM Display"/>
              <a:buNone/>
            </a:pPr>
            <a:r>
              <a:rPr lang="en-US" sz="6000"/>
              <a:t>HIGH-LEVEL GOALS AND MEASURABLE TARGETS</a:t>
            </a:r>
            <a:br>
              <a:rPr lang="en-US" sz="6000"/>
            </a:br>
            <a:endParaRPr sz="60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511"/>
                                        </p:tgtEl>
                                        <p:attrNameLst>
                                          <p:attrName>style.visibility</p:attrName>
                                        </p:attrNameLst>
                                      </p:cBhvr>
                                      <p:to>
                                        <p:strVal val="visible"/>
                                      </p:to>
                                    </p:set>
                                    <p:animEffect filter="fade" transition="in">
                                      <p:cBhvr>
                                        <p:cTn dur="4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5" name="Shape 515"/>
        <p:cNvGrpSpPr/>
        <p:nvPr/>
      </p:nvGrpSpPr>
      <p:grpSpPr>
        <a:xfrm>
          <a:off x="0" y="0"/>
          <a:ext cx="0" cy="0"/>
          <a:chOff x="0" y="0"/>
          <a:chExt cx="0" cy="0"/>
        </a:xfrm>
      </p:grpSpPr>
      <p:sp>
        <p:nvSpPr>
          <p:cNvPr id="516" name="Google Shape;516;p45"/>
          <p:cNvSpPr txBox="1"/>
          <p:nvPr>
            <p:ph type="title"/>
          </p:nvPr>
        </p:nvSpPr>
        <p:spPr>
          <a:xfrm>
            <a:off x="0" y="0"/>
            <a:ext cx="12192000" cy="1034474"/>
          </a:xfrm>
          <a:prstGeom prst="rect">
            <a:avLst/>
          </a:prstGeom>
          <a:solidFill>
            <a:srgbClr val="FFC000"/>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DLaM Display"/>
              <a:buNone/>
            </a:pPr>
            <a:r>
              <a:rPr lang="en-US" sz="4000"/>
              <a:t>Objectives: High-Level Goals and Measurable Targets</a:t>
            </a:r>
            <a:endParaRPr sz="4000"/>
          </a:p>
        </p:txBody>
      </p:sp>
      <p:sp>
        <p:nvSpPr>
          <p:cNvPr id="517" name="Google Shape;517;p45"/>
          <p:cNvSpPr txBox="1"/>
          <p:nvPr>
            <p:ph idx="1" type="body"/>
          </p:nvPr>
        </p:nvSpPr>
        <p:spPr>
          <a:xfrm>
            <a:off x="103098" y="1619270"/>
            <a:ext cx="11482633" cy="412420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Geo"/>
              <a:buNone/>
            </a:pPr>
            <a:r>
              <a:rPr b="1" i="0" lang="en-US" sz="3200" u="none" cap="none" strike="noStrike">
                <a:solidFill>
                  <a:schemeClr val="dk1"/>
                </a:solidFill>
              </a:rPr>
              <a:t>High-Level Goals</a:t>
            </a:r>
            <a:endParaRPr/>
          </a:p>
          <a:p>
            <a:pPr indent="0" lvl="0" marL="0" marR="0" rtl="0" algn="l">
              <a:lnSpc>
                <a:spcPct val="100000"/>
              </a:lnSpc>
              <a:spcBef>
                <a:spcPts val="0"/>
              </a:spcBef>
              <a:spcAft>
                <a:spcPts val="0"/>
              </a:spcAft>
              <a:buClr>
                <a:schemeClr val="dk1"/>
              </a:buClr>
              <a:buSzPts val="2800"/>
              <a:buFont typeface="Geo"/>
              <a:buNone/>
            </a:pPr>
            <a:r>
              <a:t/>
            </a:r>
            <a:endParaRPr b="1" i="0" u="none" cap="none" strike="noStrike">
              <a:solidFill>
                <a:schemeClr val="dk1"/>
              </a:solidFill>
            </a:endParaRPr>
          </a:p>
          <a:p>
            <a:pPr indent="0" lvl="0" marL="0" marR="0" rtl="0" algn="l">
              <a:lnSpc>
                <a:spcPct val="100000"/>
              </a:lnSpc>
              <a:spcBef>
                <a:spcPts val="0"/>
              </a:spcBef>
              <a:spcAft>
                <a:spcPts val="0"/>
              </a:spcAft>
              <a:buClr>
                <a:schemeClr val="dk1"/>
              </a:buClr>
              <a:buSzPts val="1800"/>
              <a:buFont typeface="Geo"/>
              <a:buNone/>
            </a:pPr>
            <a:r>
              <a:rPr b="0" i="0" lang="en-US" sz="1800" u="none" cap="none" strike="noStrike">
                <a:solidFill>
                  <a:schemeClr val="dk1"/>
                </a:solidFill>
              </a:rPr>
              <a:t>Regulatory Adaptation</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Target: Achieve 100% compliance with local and state regulations across all operational regions.</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Measure: No service interruptions due to regulatory issues within the next year.</a:t>
            </a:r>
            <a:endParaRPr/>
          </a:p>
          <a:p>
            <a:pPr indent="0" lvl="0" marL="0" rtl="0" algn="l">
              <a:lnSpc>
                <a:spcPct val="100000"/>
              </a:lnSpc>
              <a:spcBef>
                <a:spcPts val="0"/>
              </a:spcBef>
              <a:spcAft>
                <a:spcPts val="0"/>
              </a:spcAft>
              <a:buClr>
                <a:schemeClr val="dk1"/>
              </a:buClr>
              <a:buSzPts val="1800"/>
              <a:buNone/>
            </a:pPr>
            <a:r>
              <a:rPr b="0" i="0" lang="en-US" sz="1800" u="none" cap="none" strike="noStrike">
                <a:solidFill>
                  <a:schemeClr val="dk1"/>
                </a:solidFill>
              </a:rPr>
              <a:t>Market Differentiation</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Target: Increase market share by 15% in Tier 2 and Tier 3 cities within the next 12 months.</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Measure: Introduction of 2-3 unique features that competitors don’t offer, driving user preference.</a:t>
            </a:r>
            <a:endParaRPr/>
          </a:p>
          <a:p>
            <a:pPr indent="0" lvl="0" marL="0" rtl="0" algn="l">
              <a:lnSpc>
                <a:spcPct val="100000"/>
              </a:lnSpc>
              <a:spcBef>
                <a:spcPts val="0"/>
              </a:spcBef>
              <a:spcAft>
                <a:spcPts val="0"/>
              </a:spcAft>
              <a:buClr>
                <a:schemeClr val="dk1"/>
              </a:buClr>
              <a:buSzPts val="1800"/>
              <a:buNone/>
            </a:pPr>
            <a:r>
              <a:rPr b="0" i="0" lang="en-US" sz="1800" u="none" cap="none" strike="noStrike">
                <a:solidFill>
                  <a:schemeClr val="dk1"/>
                </a:solidFill>
              </a:rPr>
              <a:t>Enhanced User Experience</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Target: Boost user satisfaction scores to 4.5/5 or higher on all major app stores.</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Measure: Implement and track the adoption of new safety and customer support features.</a:t>
            </a:r>
            <a:endParaRPr/>
          </a:p>
          <a:p>
            <a:pPr indent="0" lvl="0" marL="0" rtl="0" algn="l">
              <a:lnSpc>
                <a:spcPct val="100000"/>
              </a:lnSpc>
              <a:spcBef>
                <a:spcPts val="0"/>
              </a:spcBef>
              <a:spcAft>
                <a:spcPts val="0"/>
              </a:spcAft>
              <a:buClr>
                <a:schemeClr val="dk1"/>
              </a:buClr>
              <a:buSzPts val="1800"/>
              <a:buNone/>
            </a:pPr>
            <a:r>
              <a:rPr b="0" i="0" lang="en-US" sz="1800" u="none" cap="none" strike="noStrike">
                <a:solidFill>
                  <a:schemeClr val="dk1"/>
                </a:solidFill>
              </a:rPr>
              <a:t>Service Expansion</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Target: Expand into 50 new cities, focusing on Tier 2 and Tier 3 markets, within the next year.</a:t>
            </a:r>
            <a:endParaRPr/>
          </a:p>
          <a:p>
            <a:pPr indent="-228600" lvl="1" marL="685800" rtl="0" algn="l">
              <a:lnSpc>
                <a:spcPct val="100000"/>
              </a:lnSpc>
              <a:spcBef>
                <a:spcPts val="0"/>
              </a:spcBef>
              <a:spcAft>
                <a:spcPts val="0"/>
              </a:spcAft>
              <a:buClr>
                <a:schemeClr val="dk1"/>
              </a:buClr>
              <a:buSzPts val="1400"/>
              <a:buChar char="•"/>
            </a:pPr>
            <a:r>
              <a:rPr b="0" i="0" lang="en-US" sz="1400" u="none" cap="none" strike="noStrike">
                <a:solidFill>
                  <a:schemeClr val="dk1"/>
                </a:solidFill>
              </a:rPr>
              <a:t>Measure: Successfully launch intercity travel and third-party services, achieving 20% of revenue from these new offerings.</a:t>
            </a:r>
            <a:endParaRPr/>
          </a:p>
          <a:p>
            <a:pPr indent="0" lvl="0" marL="0" marR="0" rtl="0" algn="l">
              <a:lnSpc>
                <a:spcPct val="100000"/>
              </a:lnSpc>
              <a:spcBef>
                <a:spcPts val="0"/>
              </a:spcBef>
              <a:spcAft>
                <a:spcPts val="0"/>
              </a:spcAft>
              <a:buClr>
                <a:schemeClr val="dk1"/>
              </a:buClr>
              <a:buSzPts val="1800"/>
              <a:buFont typeface="Geo"/>
              <a:buNone/>
            </a:pPr>
            <a:r>
              <a:t/>
            </a:r>
            <a:endParaRPr b="0" i="0" sz="1800" u="none" cap="none" strike="noStrike">
              <a:solidFill>
                <a:schemeClr val="dk1"/>
              </a:solidFill>
            </a:endParaRPr>
          </a:p>
        </p:txBody>
      </p:sp>
      <p:pic>
        <p:nvPicPr>
          <p:cNvPr descr="Target with solid fill" id="518" name="Google Shape;518;p45"/>
          <p:cNvPicPr preferRelativeResize="0"/>
          <p:nvPr/>
        </p:nvPicPr>
        <p:blipFill rotWithShape="1">
          <a:blip r:embed="rId3">
            <a:alphaModFix/>
          </a:blip>
          <a:srcRect b="0" l="0" r="0" t="0"/>
          <a:stretch/>
        </p:blipFill>
        <p:spPr>
          <a:xfrm>
            <a:off x="3512913" y="1500647"/>
            <a:ext cx="914400" cy="914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6"/>
          <p:cNvSpPr txBox="1"/>
          <p:nvPr>
            <p:ph type="title"/>
          </p:nvPr>
        </p:nvSpPr>
        <p:spPr>
          <a:xfrm>
            <a:off x="0" y="1"/>
            <a:ext cx="12192000" cy="1055802"/>
          </a:xfrm>
          <a:prstGeom prst="rect">
            <a:avLst/>
          </a:prstGeom>
          <a:solidFill>
            <a:srgbClr val="FFC000"/>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DLaM Display"/>
              <a:buNone/>
            </a:pPr>
            <a:r>
              <a:rPr lang="en-US" sz="4000"/>
              <a:t>Objectives: High-Level Goals and Measurable Targets</a:t>
            </a:r>
            <a:endParaRPr sz="4000"/>
          </a:p>
        </p:txBody>
      </p:sp>
      <p:sp>
        <p:nvSpPr>
          <p:cNvPr id="524" name="Google Shape;524;p46"/>
          <p:cNvSpPr txBox="1"/>
          <p:nvPr>
            <p:ph idx="1" type="body"/>
          </p:nvPr>
        </p:nvSpPr>
        <p:spPr>
          <a:xfrm>
            <a:off x="7695" y="1473490"/>
            <a:ext cx="11728675" cy="495520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Geo"/>
              <a:buNone/>
            </a:pPr>
            <a:r>
              <a:rPr b="1" i="0" lang="en-US" sz="3200" u="none" cap="none" strike="noStrike">
                <a:solidFill>
                  <a:schemeClr val="dk1"/>
                </a:solidFill>
              </a:rPr>
              <a:t>Measurable Targets</a:t>
            </a:r>
            <a:endParaRPr/>
          </a:p>
          <a:p>
            <a:pPr indent="0" lvl="0" marL="0" marR="0" rtl="0" algn="l">
              <a:lnSpc>
                <a:spcPct val="100000"/>
              </a:lnSpc>
              <a:spcBef>
                <a:spcPts val="0"/>
              </a:spcBef>
              <a:spcAft>
                <a:spcPts val="0"/>
              </a:spcAft>
              <a:buClr>
                <a:schemeClr val="dk1"/>
              </a:buClr>
              <a:buSzPts val="3200"/>
              <a:buFont typeface="Geo"/>
              <a:buNone/>
            </a:pPr>
            <a:r>
              <a:t/>
            </a:r>
            <a:endParaRPr b="0" i="0" sz="3200" u="none" cap="none" strike="noStrike">
              <a:solidFill>
                <a:schemeClr val="dk1"/>
              </a:solidFill>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Regulatory Compliance</a:t>
            </a:r>
            <a:r>
              <a:rPr b="0" i="0" lang="en-US" sz="1800" u="none" cap="none" strike="noStrike">
                <a:solidFill>
                  <a:schemeClr val="dk1"/>
                </a:solidFill>
              </a:rPr>
              <a:t>: No operational downtimes due to regulatory non-compliance, with proactive adaptations based on regulatory trend analysis.</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Market Growth</a:t>
            </a:r>
            <a:r>
              <a:rPr b="0" i="0" lang="en-US" sz="1800" u="none" cap="none" strike="noStrike">
                <a:solidFill>
                  <a:schemeClr val="dk1"/>
                </a:solidFill>
              </a:rPr>
              <a:t>: According to Statista, the ride-sharing market in India is expected to grow by X% annually, with Tier 2 and Tier 3 cities leading this growth. Rapido aims to capture 15% of this expanding market by introducing features tailored to these regions.</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User Preferences</a:t>
            </a:r>
            <a:r>
              <a:rPr b="0" i="0" lang="en-US" sz="1800" u="none" cap="none" strike="noStrike">
                <a:solidFill>
                  <a:schemeClr val="dk1"/>
                </a:solidFill>
              </a:rPr>
              <a:t>: Statista reports that 70% of ride-sharing users prioritize safety and cost-effectiveness. Rapido's focus on Driver Safety Ratings and Flexible Ride Options directly addresses these user demands.</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Competitor Analysis</a:t>
            </a:r>
            <a:r>
              <a:rPr b="0" i="0" lang="en-US" sz="1800" u="none" cap="none" strike="noStrike">
                <a:solidFill>
                  <a:schemeClr val="dk1"/>
                </a:solidFill>
              </a:rPr>
              <a:t>: Competitor analysis from Statista reveals a market gap in guaranteed ride bookings, which Rapido will fill with its Guaranteed Ride Booking feature, targeting an additional 15% market share</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User Satisfaction</a:t>
            </a:r>
            <a:r>
              <a:rPr b="0" i="0" lang="en-US" sz="1800" u="none" cap="none" strike="noStrike">
                <a:solidFill>
                  <a:schemeClr val="dk1"/>
                </a:solidFill>
              </a:rPr>
              <a:t>: Achieve a 4.5/5 rating on app stores, with improvements informed by user feedback and competitor analysis.</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Expansion Success</a:t>
            </a:r>
            <a:r>
              <a:rPr b="0" i="0" lang="en-US" sz="1800" u="none" cap="none" strike="noStrike">
                <a:solidFill>
                  <a:schemeClr val="dk1"/>
                </a:solidFill>
              </a:rPr>
              <a:t>: Generate 20% of total revenue from new intercity and third-party services, with targeted expansion based on Statista’s demographic and economic data. </a:t>
            </a:r>
            <a:endParaRPr/>
          </a:p>
          <a:p>
            <a:pPr indent="0" lvl="0" marL="0" marR="0" rtl="0" algn="l">
              <a:lnSpc>
                <a:spcPct val="100000"/>
              </a:lnSpc>
              <a:spcBef>
                <a:spcPts val="0"/>
              </a:spcBef>
              <a:spcAft>
                <a:spcPts val="0"/>
              </a:spcAft>
              <a:buClr>
                <a:schemeClr val="dk1"/>
              </a:buClr>
              <a:buSzPts val="1800"/>
              <a:buFont typeface="Geo"/>
              <a:buNone/>
            </a:pPr>
            <a:r>
              <a:t/>
            </a:r>
            <a:endParaRPr b="0" i="0" sz="1800" u="none" cap="none" strike="noStrike">
              <a:solidFill>
                <a:schemeClr val="dk1"/>
              </a:solidFill>
            </a:endParaRPr>
          </a:p>
        </p:txBody>
      </p:sp>
      <p:pic>
        <p:nvPicPr>
          <p:cNvPr descr="Bullseye with solid fill" id="525" name="Google Shape;525;p46"/>
          <p:cNvPicPr preferRelativeResize="0"/>
          <p:nvPr/>
        </p:nvPicPr>
        <p:blipFill rotWithShape="1">
          <a:blip r:embed="rId3">
            <a:alphaModFix/>
          </a:blip>
          <a:srcRect b="0" l="0" r="0" t="0"/>
          <a:stretch/>
        </p:blipFill>
        <p:spPr>
          <a:xfrm>
            <a:off x="3726968" y="1333181"/>
            <a:ext cx="914400" cy="9144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000"/>
        </a:solidFill>
      </p:bgPr>
    </p:bg>
    <p:spTree>
      <p:nvGrpSpPr>
        <p:cNvPr id="529" name="Shape 529"/>
        <p:cNvGrpSpPr/>
        <p:nvPr/>
      </p:nvGrpSpPr>
      <p:grpSpPr>
        <a:xfrm>
          <a:off x="0" y="0"/>
          <a:ext cx="0" cy="0"/>
          <a:chOff x="0" y="0"/>
          <a:chExt cx="0" cy="0"/>
        </a:xfrm>
      </p:grpSpPr>
      <p:sp>
        <p:nvSpPr>
          <p:cNvPr id="530" name="Google Shape;530;p47"/>
          <p:cNvSpPr txBox="1"/>
          <p:nvPr>
            <p:ph type="title"/>
          </p:nvPr>
        </p:nvSpPr>
        <p:spPr>
          <a:xfrm>
            <a:off x="-1" y="0"/>
            <a:ext cx="12113443" cy="121020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DLaM Display"/>
              <a:buNone/>
            </a:pPr>
            <a:r>
              <a:rPr lang="en-US"/>
              <a:t>Conclusion &amp; Next Steps</a:t>
            </a:r>
            <a:endParaRPr/>
          </a:p>
        </p:txBody>
      </p:sp>
      <p:sp>
        <p:nvSpPr>
          <p:cNvPr id="531" name="Google Shape;531;p47"/>
          <p:cNvSpPr txBox="1"/>
          <p:nvPr>
            <p:ph idx="1" type="body"/>
          </p:nvPr>
        </p:nvSpPr>
        <p:spPr>
          <a:xfrm>
            <a:off x="78558" y="996442"/>
            <a:ext cx="11199829" cy="535531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None/>
            </a:pPr>
            <a:r>
              <a:rPr b="1" i="0" lang="en-US" sz="2400" u="none" cap="none" strike="noStrike">
                <a:solidFill>
                  <a:schemeClr val="dk1"/>
                </a:solidFill>
              </a:rPr>
              <a:t>Key Insights:</a:t>
            </a:r>
            <a:endParaRPr b="0" i="0" sz="2400" u="none" cap="none" strike="noStrike">
              <a:solidFill>
                <a:schemeClr val="dk1"/>
              </a:solidFill>
            </a:endParaRPr>
          </a:p>
          <a:p>
            <a:pPr indent="-228600" lvl="0" marL="228600" rtl="0" algn="l">
              <a:lnSpc>
                <a:spcPct val="100000"/>
              </a:lnSpc>
              <a:spcBef>
                <a:spcPts val="0"/>
              </a:spcBef>
              <a:spcAft>
                <a:spcPts val="0"/>
              </a:spcAft>
              <a:buClr>
                <a:schemeClr val="dk1"/>
              </a:buClr>
              <a:buSzPts val="1800"/>
              <a:buChar char="•"/>
            </a:pPr>
            <a:r>
              <a:rPr b="0" i="0" lang="en-US" sz="1800" u="none" cap="none" strike="noStrike">
                <a:solidFill>
                  <a:schemeClr val="dk1"/>
                </a:solidFill>
              </a:rPr>
              <a:t>Comprehensive analysis of market trends and user needs has shaped our strategy.</a:t>
            </a:r>
            <a:endParaRPr/>
          </a:p>
          <a:p>
            <a:pPr indent="-228600" lvl="0" marL="228600" rtl="0" algn="l">
              <a:lnSpc>
                <a:spcPct val="100000"/>
              </a:lnSpc>
              <a:spcBef>
                <a:spcPts val="0"/>
              </a:spcBef>
              <a:spcAft>
                <a:spcPts val="0"/>
              </a:spcAft>
              <a:buClr>
                <a:schemeClr val="dk1"/>
              </a:buClr>
              <a:buSzPts val="1800"/>
              <a:buChar char="•"/>
            </a:pPr>
            <a:r>
              <a:rPr b="0" i="0" lang="en-US" sz="1800" u="none" cap="none" strike="noStrike">
                <a:solidFill>
                  <a:schemeClr val="dk1"/>
                </a:solidFill>
              </a:rPr>
              <a:t>Identification of critical pain points for our target audience ensures that our solutions are user-centric.</a:t>
            </a:r>
            <a:endParaRPr/>
          </a:p>
          <a:p>
            <a:pPr indent="-228600" lvl="0" marL="228600" rtl="0" algn="l">
              <a:lnSpc>
                <a:spcPct val="100000"/>
              </a:lnSpc>
              <a:spcBef>
                <a:spcPts val="0"/>
              </a:spcBef>
              <a:spcAft>
                <a:spcPts val="0"/>
              </a:spcAft>
              <a:buClr>
                <a:schemeClr val="dk1"/>
              </a:buClr>
              <a:buSzPts val="1800"/>
              <a:buChar char="•"/>
            </a:pPr>
            <a:r>
              <a:rPr b="0" i="0" lang="en-US" sz="1800" u="none" cap="none" strike="noStrike">
                <a:solidFill>
                  <a:schemeClr val="dk1"/>
                </a:solidFill>
              </a:rPr>
              <a:t>Competitive landscape review highlights opportunities for differentiation and innovation.</a:t>
            </a:r>
            <a:endParaRPr/>
          </a:p>
          <a:p>
            <a:pPr indent="0" lvl="0" marL="0" marR="0" rtl="0" algn="l">
              <a:lnSpc>
                <a:spcPct val="100000"/>
              </a:lnSpc>
              <a:spcBef>
                <a:spcPts val="0"/>
              </a:spcBef>
              <a:spcAft>
                <a:spcPts val="0"/>
              </a:spcAft>
              <a:buClr>
                <a:schemeClr val="dk1"/>
              </a:buClr>
              <a:buSzPts val="1800"/>
              <a:buNone/>
            </a:pPr>
            <a:r>
              <a:t/>
            </a:r>
            <a:endParaRPr b="0" i="0" sz="1800" u="none" cap="none" strike="noStrike">
              <a:solidFill>
                <a:schemeClr val="dk1"/>
              </a:solidFill>
            </a:endParaRPr>
          </a:p>
          <a:p>
            <a:pPr indent="0" lvl="0" marL="0" marR="0" rtl="0" algn="l">
              <a:lnSpc>
                <a:spcPct val="100000"/>
              </a:lnSpc>
              <a:spcBef>
                <a:spcPts val="0"/>
              </a:spcBef>
              <a:spcAft>
                <a:spcPts val="0"/>
              </a:spcAft>
              <a:buClr>
                <a:schemeClr val="dk1"/>
              </a:buClr>
              <a:buSzPts val="2400"/>
              <a:buNone/>
            </a:pPr>
            <a:r>
              <a:rPr b="1" i="0" lang="en-US" sz="2400" u="none" cap="none" strike="noStrike">
                <a:solidFill>
                  <a:schemeClr val="dk1"/>
                </a:solidFill>
              </a:rPr>
              <a:t>Strategic Decisions:</a:t>
            </a:r>
            <a:endParaRPr b="0" i="0" sz="2400" u="none" cap="none" strike="noStrike">
              <a:solidFill>
                <a:schemeClr val="dk1"/>
              </a:solidFill>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Safety First:</a:t>
            </a:r>
            <a:r>
              <a:rPr b="0" i="0" lang="en-US" sz="1800" u="none" cap="none" strike="noStrike">
                <a:solidFill>
                  <a:schemeClr val="dk1"/>
                </a:solidFill>
              </a:rPr>
              <a:t> Prioritize features like Driver Safety Ratings and Advanced SOS Alerts to enhance trust and user satisfaction.</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Flexibility &amp; Affordability:</a:t>
            </a:r>
            <a:r>
              <a:rPr b="0" i="0" lang="en-US" sz="1800" u="none" cap="none" strike="noStrike">
                <a:solidFill>
                  <a:schemeClr val="dk1"/>
                </a:solidFill>
              </a:rPr>
              <a:t> Focus on offering Flexible Ride Options to cater to diverse user needs.</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Tech-Driven Growth:</a:t>
            </a:r>
            <a:r>
              <a:rPr b="0" i="0" lang="en-US" sz="1800" u="none" cap="none" strike="noStrike">
                <a:solidFill>
                  <a:schemeClr val="dk1"/>
                </a:solidFill>
              </a:rPr>
              <a:t> Implement AI-driven SmartCommute Notifications and lightweight app design to improve user experience and engagement.</a:t>
            </a:r>
            <a:endParaRPr/>
          </a:p>
          <a:p>
            <a:pPr indent="0" lvl="0" marL="0" marR="0" rtl="0" algn="l">
              <a:lnSpc>
                <a:spcPct val="100000"/>
              </a:lnSpc>
              <a:spcBef>
                <a:spcPts val="0"/>
              </a:spcBef>
              <a:spcAft>
                <a:spcPts val="0"/>
              </a:spcAft>
              <a:buClr>
                <a:schemeClr val="dk1"/>
              </a:buClr>
              <a:buSzPts val="1800"/>
              <a:buNone/>
            </a:pPr>
            <a:r>
              <a:t/>
            </a:r>
            <a:endParaRPr b="1" i="0" sz="1800" u="none" cap="none" strike="noStrike">
              <a:solidFill>
                <a:schemeClr val="dk1"/>
              </a:solidFill>
            </a:endParaRPr>
          </a:p>
          <a:p>
            <a:pPr indent="0" lvl="0" marL="0" marR="0" rtl="0" algn="l">
              <a:lnSpc>
                <a:spcPct val="100000"/>
              </a:lnSpc>
              <a:spcBef>
                <a:spcPts val="0"/>
              </a:spcBef>
              <a:spcAft>
                <a:spcPts val="0"/>
              </a:spcAft>
              <a:buClr>
                <a:schemeClr val="dk1"/>
              </a:buClr>
              <a:buSzPts val="2400"/>
              <a:buNone/>
            </a:pPr>
            <a:r>
              <a:rPr b="1" i="0" lang="en-US" sz="2400" u="none" cap="none" strike="noStrike">
                <a:solidFill>
                  <a:schemeClr val="dk1"/>
                </a:solidFill>
              </a:rPr>
              <a:t>Next Steps:</a:t>
            </a:r>
            <a:endParaRPr b="0" i="0" sz="2400" u="none" cap="none" strike="noStrike">
              <a:solidFill>
                <a:schemeClr val="dk1"/>
              </a:solidFill>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MVP Rollout:</a:t>
            </a:r>
            <a:r>
              <a:rPr b="0" i="0" lang="en-US" sz="1800" u="none" cap="none" strike="noStrike">
                <a:solidFill>
                  <a:schemeClr val="dk1"/>
                </a:solidFill>
              </a:rPr>
              <a:t> Begin development and testing of MVP features, focusing on guaranteed ride booking and safety enhancements.</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Regulatory Alignment:</a:t>
            </a:r>
            <a:r>
              <a:rPr b="0" i="0" lang="en-US" sz="1800" u="none" cap="none" strike="noStrike">
                <a:solidFill>
                  <a:schemeClr val="dk1"/>
                </a:solidFill>
              </a:rPr>
              <a:t> Continue engaging with regulatory bodies to ensure compliance and sustainable growth.</a:t>
            </a:r>
            <a:endParaRPr/>
          </a:p>
          <a:p>
            <a:pPr indent="-228600" lvl="0" marL="228600" rtl="0" algn="l">
              <a:lnSpc>
                <a:spcPct val="100000"/>
              </a:lnSpc>
              <a:spcBef>
                <a:spcPts val="0"/>
              </a:spcBef>
              <a:spcAft>
                <a:spcPts val="0"/>
              </a:spcAft>
              <a:buClr>
                <a:schemeClr val="dk1"/>
              </a:buClr>
              <a:buSzPts val="1800"/>
              <a:buChar char="•"/>
            </a:pPr>
            <a:r>
              <a:rPr b="1" i="0" lang="en-US" sz="1800" u="none" cap="none" strike="noStrike">
                <a:solidFill>
                  <a:schemeClr val="dk1"/>
                </a:solidFill>
              </a:rPr>
              <a:t>Marketing Launch:</a:t>
            </a:r>
            <a:r>
              <a:rPr b="0" i="0" lang="en-US" sz="1800" u="none" cap="none" strike="noStrike">
                <a:solidFill>
                  <a:schemeClr val="dk1"/>
                </a:solidFill>
              </a:rPr>
              <a:t> Prepare for a targeted marketing campaign emphasizing safety, reliability, and affordability.</a:t>
            </a:r>
            <a:endParaRPr/>
          </a:p>
          <a:p>
            <a:pPr indent="0" lvl="0" marL="0" marR="0" rtl="0" algn="l">
              <a:lnSpc>
                <a:spcPct val="100000"/>
              </a:lnSpc>
              <a:spcBef>
                <a:spcPts val="0"/>
              </a:spcBef>
              <a:spcAft>
                <a:spcPts val="0"/>
              </a:spcAft>
              <a:buClr>
                <a:schemeClr val="dk1"/>
              </a:buClr>
              <a:buSzPts val="1800"/>
              <a:buFont typeface="Geo"/>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2024-07-29T12:23:55Z</dcterms:created>
  <dc:creator>Ananya C</dc:creator>
</cp:coreProperties>
</file>